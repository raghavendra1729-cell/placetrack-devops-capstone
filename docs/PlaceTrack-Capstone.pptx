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44abc205-e53a-585a-a3f2-254096845d77}">
          <p14:sldIdLst>
            <p14:sldId id="256"/>
            <p14:sldId id="257"/>
          </p14:sldIdLst>
        </p14:section>
        <p14:section name="App and tests" id="{a68aaf5d-2263-0c85-1808-42d18d5137dd}">
          <p14:sldIdLst>
            <p14:sldId id="258"/>
            <p14:sldId id="259"/>
            <p14:sldId id="260"/>
          </p14:sldIdLst>
        </p14:section>
        <p14:section name="Containers and CI" id="{f89c0f49-5fc4-1622-428b-beedd93d7bc6}">
          <p14:sldIdLst>
            <p14:sldId id="261"/>
            <p14:sldId id="262"/>
            <p14:sldId id="263"/>
          </p14:sldIdLst>
        </p14:section>
        <p14:section name="Infrastructure" id="{3ab6aa8e-006b-7acc-9ab3-238ae512bda8}">
          <p14:sldIdLst>
            <p14:sldId id="264"/>
            <p14:sldId id="265"/>
            <p14:sldId id="266"/>
          </p14:sldIdLst>
        </p14:section>
        <p14:section name="Operations" id="{9e244011-0170-d8a3-51a9-117f9e74ead4}">
          <p14:sldIdLst>
            <p14:sldId id="267"/>
            <p14:sldId id="268"/>
            <p14:sldId id="269"/>
          </p14:sldIdLst>
        </p14:section>
        <p14:section name="Close" id="{54842158-c551-5dce-e0d7-90fc3767e22c}">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I am Raghavendra. This is my DevOps capstone: PlaceTrack, a job application tracker. The app is small on purpose. The project is everything around it: testing, containers, CI/CD, security scanning, Terraform, Kubernetes with Helm, and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PlaceTrack lets me track every job application. Code goes through GitHub Actions for tests, builds and a security scan, images go to a registry tagged with the commit, Terraform builds the AWS network and cluster, Helm deploys, and Prometheus and Grafana watch it. Every screenshot in this deck is a real capture.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is FastAPI with SQLAlchemy and an Alembic migration that creates the jobs table in PostgreSQL. It has full create, read, update, delete endpoints plus a stats endpoint, and health, ready and metrics endpoints for Kubernetes and Prometheus. The React dashboard shows counts, filters and an add and edit form, and it reflows to phone width, as you can see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sixteen pytest tests. They never touch the real database: FastAPI's dependency override swaps in an in-memory SQLite database. They cover every endpoint, the 404 and validation errors, the metrics endpoint, and the readiness check returning 503 when the database is unavailable. This is the real pytest output from my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 control is small, descriptive commits. The gitignore keeps environment files, caches, node modules, virtual environments and Terraform state out of the repository, and Gitleaks confirms there are no secrets anywhere in the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and frontend images both run as non-root users. The frontend Dockerfile is multi-stage: Node builds the bundle, and an unprivileged nginx image serves it. One command, docker compose up with build, starts Postgres, the backend with its migrations, and the frontend. The screenshot shows all three services up and the user IDs inside the containers.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workflow runs on every push to main. It runs pytest, builds the frontend, builds both Docker images, scans them with Trivy, and only then pushes them to GitHub Container Registry, tagged with the commit SHA instead of latest. If a test fails or Trivy finds a fixable high or critical vulnerability, nothing is published. The actions are pinned to exact commits and only the image job can write packages. I have not pushed the repository yet, so I ran each of these steps locally; the live run link comes after the first push.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Trivy scans both images for fixable high and critical vulnerabilities and fails the pipeline if it finds any. My first scan failed: the backend had three high findings in Starlette, for example CVE-2025-62727, where crafted Range headers can cause denial of service, and the old nginx base image had forty-two high and critical findings in system libraries such as OpenSSL. I fixed them by upgrading FastAPI, which brings a patched Starlette, and moving to a current nginx image. Both scans now exit with zero. A clean scan means no fixable high or critical vulnerability exists in the image at scan time, which is why it runs on every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Terraform builds a VPC with two public subnets in two availability zones and an EKS cluster with a managed node group of two nodes. I restricted the cluster API to my own IP address, and gave the EBS storage driver its own narrowly scoped role instead of attaching a policy to every node. The plan shows fifty-three resources to add and nothing to change or destroy. Applying creates billable resources, so the apply, the console screenshots and the destroy are the remaining evidence for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single Helm chart deploys everything into the placetrack namespace: two replicas each of the backend and frontend, a Postgres StatefulSet, ClusterIP services, an Ingress that sends slash to the frontend and slash api to the backend, and a horizontal pod autoscaler. A Helm hook job runs the database migration after install. All pods are running with zero restarts.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application loaded in a browser through the Kubernetes Ingress controller. The page comes from the frontend service, and its calls to slash api are routed by the same Ingress to the backend, which talks to Postgres. The chart is the same for minikube and for EKS.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exposes Prometheus metrics. A ServiceMonitor tells Prometheus to scrape both backend pods, and the targets page shows both up. The Grafana dashboard I built shows request rate per endpoint, the ninety-fifth percentile latency, error responses and the number of healthy backend pods. These panels have live data from a load test, not mock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broke the cluster in two ways and fixed both. First, a deployment with an image tag that does not exist ends in ErrImagePull and ImagePullBackOff; describe pod showed the pull failure and the fix was a valid tag. Second, a service whose selector had a typo: the pod was Running but the service had no endpoints, so nothing was reachable. Comparing the selector with the pod labels revealed it. The full five-step write-ups are in the troubleshooting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live demo I change a visible string in the React app, commit and push. GitHub Actions runs the tests, builds, scans and pushes the images tagged with the new commit. Then I run the deploy script with that SHA, Helm rolls out the new pods, and refreshing the browser shows the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I will remember. A passing build is not a secure build: Trivy failed my first images and I had to fix real vulnerabilities. nginx resolves upstream names once at startup, which caused a crash loop until I used a runtime resolver, and a request through the frontend service then showed that the resolver ignores search domains, so I switched to the full service DNS name and the 502 became a 200. Running does not mean ready, and ready does not mean reachable. And secrets are generated at deploy time, never committed.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457200" y="4773168"/>
            <a:ext cx="4572000" cy="274320"/>
          </a:xfrm>
          <a:prstGeom prst="rect">
            <a:avLst/>
          </a:prstGeom>
          <a:noFill/>
          <a:ln/>
        </p:spPr>
        <p:txBody>
          <a:bodyPr wrap="square" lIns="0" tIns="0" rIns="0" bIns="0" rtlCol="0" anchor="ctr"/>
          <a:lstStyle/>
          <a:p>
            <a:pPr indent="0" marL="0">
              <a:buNone/>
            </a:pPr>
            <a:r>
              <a:rPr lang="en-US" sz="1000" dirty="0">
                <a:solidFill>
                  <a:schemeClr val="accent6"/>
                </a:solidFill>
              </a:rPr>
              <a:t>PlaceTrack  |  DevOps Capstone</a:t>
            </a:r>
            <a:endParaRPr lang="en-US" sz="1000" dirty="0"/>
          </a:p>
        </p:txBody>
      </p:sp>
      <p:sp>
        <p:nvSpPr>
          <p:cNvPr id="3" name="Text 1"/>
          <p:cNvSpPr/>
          <p:nvPr>
            <p:ph idx="101" type="title" hasCustomPrompt="1"/>
          </p:nvPr>
        </p:nvSpPr>
        <p:spPr>
          <a:xfrm>
            <a:off x="1280160" y="365760"/>
            <a:ext cx="7406640" cy="566928"/>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8046720" cy="8229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097280"/>
            <a:ext cx="8046720" cy="1005840"/>
          </a:xfrm>
          <a:prstGeom prst="rect">
            <a:avLst/>
          </a:prstGeom>
          <a:noFill/>
          <a:ln/>
        </p:spPr>
        <p:txBody>
          <a:bodyPr wrap="square" lIns="0" tIns="0" rIns="0" bIns="0" rtlCol="0" anchor="ctr"/>
          <a:lstStyle/>
          <a:p>
            <a:pPr indent="0" marL="0">
              <a:buNone/>
            </a:pPr>
            <a:r>
              <a:rPr lang="en-US" sz="6000" b="1" dirty="0">
                <a:solidFill>
                  <a:schemeClr val="bg1"/>
                </a:solidFill>
                <a:latin typeface="Cambria" pitchFamily="34" charset="0"/>
                <a:ea typeface="Cambria" pitchFamily="34" charset="-122"/>
                <a:cs typeface="Cambria" pitchFamily="34" charset="-120"/>
              </a:rPr>
              <a:t>PlaceTrack</a:t>
            </a:r>
            <a:endParaRPr lang="en-US" sz="6000" dirty="0"/>
          </a:p>
        </p:txBody>
      </p:sp>
      <p:sp>
        <p:nvSpPr>
          <p:cNvPr id="3" name="Text 1"/>
          <p:cNvSpPr txBox="1"/>
          <p:nvPr/>
        </p:nvSpPr>
        <p:spPr>
          <a:xfrm>
            <a:off x="548640" y="2103120"/>
            <a:ext cx="8046720" cy="548640"/>
          </a:xfrm>
          <a:prstGeom prst="rect">
            <a:avLst/>
          </a:prstGeom>
          <a:noFill/>
          <a:ln/>
        </p:spPr>
        <p:txBody>
          <a:bodyPr wrap="square" lIns="0" tIns="0" rIns="0" bIns="0" rtlCol="0" anchor="ctr"/>
          <a:lstStyle/>
          <a:p>
            <a:pPr indent="0" marL="0">
              <a:buNone/>
            </a:pPr>
            <a:r>
              <a:rPr lang="en-US" sz="2400" dirty="0">
                <a:solidFill>
                  <a:schemeClr val="accent1"/>
                </a:solidFill>
              </a:rPr>
              <a:t>From a laptop to a monitored Kubernetes cluster</a:t>
            </a:r>
            <a:endParaRPr lang="en-US" sz="2400" dirty="0"/>
          </a:p>
        </p:txBody>
      </p:sp>
      <p:sp>
        <p:nvSpPr>
          <p:cNvPr id="4" name="Text 2"/>
          <p:cNvSpPr txBox="1"/>
          <p:nvPr/>
        </p:nvSpPr>
        <p:spPr>
          <a:xfrm>
            <a:off x="548640" y="3017520"/>
            <a:ext cx="8046720" cy="365760"/>
          </a:xfrm>
          <a:prstGeom prst="rect">
            <a:avLst/>
          </a:prstGeom>
          <a:noFill/>
          <a:ln/>
        </p:spPr>
        <p:txBody>
          <a:bodyPr wrap="square" lIns="0" tIns="0" rIns="0" bIns="0" rtlCol="0" anchor="ctr"/>
          <a:lstStyle/>
          <a:p>
            <a:pPr indent="0" marL="0">
              <a:buNone/>
            </a:pPr>
            <a:r>
              <a:rPr lang="en-US" sz="1800" dirty="0">
                <a:solidFill>
                  <a:schemeClr val="bg1"/>
                </a:solidFill>
              </a:rPr>
              <a:t>DevOps Final Capstone</a:t>
            </a:r>
            <a:endParaRPr lang="en-US" sz="1800" dirty="0"/>
          </a:p>
        </p:txBody>
      </p:sp>
      <p:sp>
        <p:nvSpPr>
          <p:cNvPr id="5" name="Text 3"/>
          <p:cNvSpPr txBox="1"/>
          <p:nvPr/>
        </p:nvSpPr>
        <p:spPr>
          <a:xfrm>
            <a:off x="548640" y="3429000"/>
            <a:ext cx="8046720" cy="365760"/>
          </a:xfrm>
          <a:prstGeom prst="rect">
            <a:avLst/>
          </a:prstGeom>
          <a:noFill/>
          <a:ln/>
        </p:spPr>
        <p:txBody>
          <a:bodyPr wrap="square" lIns="0" tIns="0" rIns="0" bIns="0" rtlCol="0" anchor="ctr"/>
          <a:lstStyle/>
          <a:p>
            <a:pPr indent="0" marL="0">
              <a:buNone/>
            </a:pPr>
            <a:r>
              <a:rPr lang="en-US" sz="1600" dirty="0">
                <a:solidFill>
                  <a:schemeClr val="bg2"/>
                </a:solidFill>
              </a:rPr>
              <a:t>Raghavendra  |  Enrollment 24BCS10250</a:t>
            </a:r>
            <a:endParaRPr lang="en-US" sz="1600" dirty="0"/>
          </a:p>
        </p:txBody>
      </p:sp>
      <p:sp>
        <p:nvSpPr>
          <p:cNvPr id="7" name="Text 0"/>
          <p:cNvSpPr/>
          <p:nvPr>
            <p:ph idx="100" type="title" hasCustomPrompt="1"/>
          </p:nvPr>
        </p:nvSpPr>
        <p:spPr>
          <a:xfrm>
            <a:off x="548640" y="457200"/>
            <a:ext cx="8046720" cy="822960"/>
          </a:xfrm>
          <a:prstGeom prst="rect">
            <a:avLst/>
          </a:prstGeom>
          <a:noFill/>
          <a:ln/>
        </p:spPr>
        <p:txBody>
          <a:bodyPr wrap="square" lIns="0" tIns="0" rIns="0" bIns="0" rtlCol="0" anchor="ctr"/>
          <a:lstStyle/>
          <a:p>
            <a:pPr algn="l" indent="0" marL="0">
              <a:buNone/>
            </a:pPr>
            <a:endParaRPr lang="en-US" sz="4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1280160" y="365760"/>
            <a:ext cx="7406640" cy="566928"/>
          </a:xfrm>
          <a:prstGeom prst="rect">
            <a:avLst/>
          </a:prstGeom>
          <a:noFill/>
          <a:ln/>
        </p:spPr>
        <p:txBody>
          <a:bodyPr wrap="square" lIns="0" tIns="0" rIns="0" bIns="0" rtlCol="0" anchor="ctr"/>
          <a:lstStyle/>
          <a:p>
            <a:pPr algn="l" indent="0" marL="0">
              <a:buNone/>
            </a:pPr>
            <a:r>
              <a:rPr lang="en-US" sz="3200" b="1" dirty="0">
                <a:solidFill>
                  <a:schemeClr val="tx1"/>
                </a:solidFill>
              </a:rPr>
              <a:t>What I built</a:t>
            </a:r>
            <a:endParaRPr lang="en-US" sz="3200" dirty="0"/>
          </a:p>
        </p:txBody>
      </p:sp>
      <p:sp>
        <p:nvSpPr>
          <p:cNvPr id="3" name="Module chip"/>
          <p:cNvSpPr/>
          <p:nvPr/>
        </p:nvSpPr>
        <p:spPr>
          <a:xfrm>
            <a:off x="457200" y="420624"/>
            <a:ext cx="640080" cy="457200"/>
          </a:xfrm>
          <a:prstGeom prst="roundRect">
            <a:avLst>
              <a:gd name="adj" fmla="val 20000"/>
            </a:avLst>
          </a:prstGeom>
          <a:solidFill>
            <a:schemeClr val="accent1"/>
          </a:solidFill>
          <a:ln/>
        </p:spPr>
      </p:sp>
      <p:sp>
        <p:nvSpPr>
          <p:cNvPr id="4" name="Text 2"/>
          <p:cNvSpPr txBox="1"/>
          <p:nvPr/>
        </p:nvSpPr>
        <p:spPr>
          <a:xfrm>
            <a:off x="457200" y="420624"/>
            <a:ext cx="640080" cy="457200"/>
          </a:xfrm>
          <a:prstGeom prst="rect">
            <a:avLst/>
          </a:prstGeom>
          <a:noFill/>
          <a:ln/>
        </p:spPr>
        <p:txBody>
          <a:bodyPr wrap="square" lIns="0" tIns="0" rIns="0" bIns="0" rtlCol="0" anchor="ctr"/>
          <a:lstStyle/>
          <a:p>
            <a:pPr algn="ctr" indent="0" marL="0">
              <a:buNone/>
            </a:pPr>
            <a:r>
              <a:rPr lang="en-US" sz="1400" b="1" dirty="0">
                <a:solidFill>
                  <a:schemeClr val="bg1"/>
                </a:solidFill>
              </a:rPr>
              <a:t>APP</a:t>
            </a:r>
            <a:endParaRPr lang="en-US" sz="1400" dirty="0"/>
          </a:p>
        </p:txBody>
      </p:sp>
      <p:sp>
        <p:nvSpPr>
          <p:cNvPr id="5" name="Text 3"/>
          <p:cNvSpPr txBox="1"/>
          <p:nvPr/>
        </p:nvSpPr>
        <p:spPr>
          <a:xfrm>
            <a:off x="457200" y="1143000"/>
            <a:ext cx="8229600" cy="640080"/>
          </a:xfrm>
          <a:prstGeom prst="rect">
            <a:avLst/>
          </a:prstGeom>
          <a:noFill/>
          <a:ln/>
        </p:spPr>
        <p:txBody>
          <a:bodyPr wrap="square" lIns="0" tIns="0" rIns="0" bIns="0" rtlCol="0" anchor="t"/>
          <a:lstStyle/>
          <a:p>
            <a:pPr indent="0" marL="0">
              <a:buNone/>
            </a:pPr>
            <a:r>
              <a:rPr lang="en-US" sz="1600" dirty="0">
                <a:solidFill>
                  <a:schemeClr val="tx1"/>
                </a:solidFill>
              </a:rPr>
              <a:t>PlaceTrack tracks job applications through applied, interview, offer and rejected. Every change travels the same path:</a:t>
            </a:r>
            <a:endParaRPr lang="en-US" sz="1600" dirty="0"/>
          </a:p>
        </p:txBody>
      </p:sp>
      <p:sp>
        <p:nvSpPr>
          <p:cNvPr id="6" name="Pipeline step 1"/>
          <p:cNvSpPr/>
          <p:nvPr/>
        </p:nvSpPr>
        <p:spPr>
          <a:xfrm>
            <a:off x="457200" y="2103120"/>
            <a:ext cx="1261872" cy="1371600"/>
          </a:xfrm>
          <a:prstGeom prst="roundRect">
            <a:avLst>
              <a:gd name="adj" fmla="val 7246"/>
            </a:avLst>
          </a:prstGeom>
          <a:solidFill>
            <a:schemeClr val="accent1"/>
          </a:solidFill>
          <a:ln/>
        </p:spPr>
      </p:sp>
      <p:sp>
        <p:nvSpPr>
          <p:cNvPr id="7" name="Text 5"/>
          <p:cNvSpPr txBox="1"/>
          <p:nvPr/>
        </p:nvSpPr>
        <p:spPr>
          <a:xfrm>
            <a:off x="530352" y="2103120"/>
            <a:ext cx="1115568" cy="1371600"/>
          </a:xfrm>
          <a:prstGeom prst="rect">
            <a:avLst/>
          </a:prstGeom>
          <a:noFill/>
          <a:ln/>
        </p:spPr>
        <p:txBody>
          <a:bodyPr wrap="square" lIns="0" tIns="0" rIns="0" bIns="0" rtlCol="0" anchor="ctr"/>
          <a:lstStyle/>
          <a:p>
            <a:pPr algn="ctr" indent="0" marL="0">
              <a:buNone/>
            </a:pPr>
            <a:r>
              <a:rPr lang="en-US" sz="1400" b="1" dirty="0">
                <a:solidFill>
                  <a:schemeClr val="bg1"/>
                </a:solidFill>
              </a:rPr>
              <a:t>Code</a:t>
            </a:r>
            <a:endParaRPr lang="en-US" sz="1400" dirty="0"/>
          </a:p>
          <a:p>
            <a:pPr algn="ctr" indent="0" marL="0">
              <a:buNone/>
            </a:pPr>
            <a:r>
              <a:rPr lang="en-US" sz="1200" dirty="0">
                <a:solidFill>
                  <a:schemeClr val="bg1"/>
                </a:solidFill>
              </a:rPr>
              <a:t>React + FastAPI + Postgres</a:t>
            </a:r>
            <a:endParaRPr lang="en-US" sz="1400" dirty="0"/>
          </a:p>
        </p:txBody>
      </p:sp>
      <p:sp>
        <p:nvSpPr>
          <p:cNvPr id="8" name="Text 6"/>
          <p:cNvSpPr txBox="1"/>
          <p:nvPr/>
        </p:nvSpPr>
        <p:spPr>
          <a:xfrm>
            <a:off x="1700784" y="2606040"/>
            <a:ext cx="168250" cy="365760"/>
          </a:xfrm>
          <a:prstGeom prst="rect">
            <a:avLst/>
          </a:prstGeom>
          <a:noFill/>
          <a:ln/>
        </p:spPr>
        <p:txBody>
          <a:bodyPr wrap="square" lIns="0" tIns="0" rIns="0" bIns="0" rtlCol="0" anchor="ctr"/>
          <a:lstStyle/>
          <a:p>
            <a:pPr algn="ctr" indent="0" marL="0">
              <a:buNone/>
            </a:pPr>
            <a:r>
              <a:rPr lang="en-US" sz="1400" b="1" dirty="0">
                <a:solidFill>
                  <a:schemeClr val="accent6"/>
                </a:solidFill>
              </a:rPr>
              <a:t>→</a:t>
            </a:r>
            <a:endParaRPr lang="en-US" sz="1400" dirty="0"/>
          </a:p>
        </p:txBody>
      </p:sp>
      <p:sp>
        <p:nvSpPr>
          <p:cNvPr id="9" name="Pipeline step 2"/>
          <p:cNvSpPr/>
          <p:nvPr/>
        </p:nvSpPr>
        <p:spPr>
          <a:xfrm>
            <a:off x="1850746" y="2103120"/>
            <a:ext cx="1261872" cy="1371600"/>
          </a:xfrm>
          <a:prstGeom prst="roundRect">
            <a:avLst>
              <a:gd name="adj" fmla="val 7246"/>
            </a:avLst>
          </a:prstGeom>
          <a:solidFill>
            <a:schemeClr val="bg2"/>
          </a:solidFill>
          <a:ln/>
        </p:spPr>
      </p:sp>
      <p:sp>
        <p:nvSpPr>
          <p:cNvPr id="10" name="Text 8"/>
          <p:cNvSpPr txBox="1"/>
          <p:nvPr/>
        </p:nvSpPr>
        <p:spPr>
          <a:xfrm>
            <a:off x="1923898" y="2103120"/>
            <a:ext cx="1115568" cy="1371600"/>
          </a:xfrm>
          <a:prstGeom prst="rect">
            <a:avLst/>
          </a:prstGeom>
          <a:noFill/>
          <a:ln/>
        </p:spPr>
        <p:txBody>
          <a:bodyPr wrap="square" lIns="0" tIns="0" rIns="0" bIns="0" rtlCol="0" anchor="ctr"/>
          <a:lstStyle/>
          <a:p>
            <a:pPr algn="ctr" indent="0" marL="0">
              <a:buNone/>
            </a:pPr>
            <a:r>
              <a:rPr lang="en-US" sz="1400" b="1" dirty="0">
                <a:solidFill>
                  <a:schemeClr val="tx1"/>
                </a:solidFill>
              </a:rPr>
              <a:t>GitHub Actions</a:t>
            </a:r>
            <a:endParaRPr lang="en-US" sz="1400" dirty="0"/>
          </a:p>
          <a:p>
            <a:pPr algn="ctr" indent="0" marL="0">
              <a:buNone/>
            </a:pPr>
            <a:r>
              <a:rPr lang="en-US" sz="1200" dirty="0">
                <a:solidFill>
                  <a:schemeClr val="tx1"/>
                </a:solidFill>
              </a:rPr>
              <a:t>test, build, scan</a:t>
            </a:r>
            <a:endParaRPr lang="en-US" sz="1400" dirty="0"/>
          </a:p>
        </p:txBody>
      </p:sp>
      <p:sp>
        <p:nvSpPr>
          <p:cNvPr id="11" name="Text 9"/>
          <p:cNvSpPr txBox="1"/>
          <p:nvPr/>
        </p:nvSpPr>
        <p:spPr>
          <a:xfrm>
            <a:off x="3094330" y="2606040"/>
            <a:ext cx="168250" cy="365760"/>
          </a:xfrm>
          <a:prstGeom prst="rect">
            <a:avLst/>
          </a:prstGeom>
          <a:noFill/>
          <a:ln/>
        </p:spPr>
        <p:txBody>
          <a:bodyPr wrap="square" lIns="0" tIns="0" rIns="0" bIns="0" rtlCol="0" anchor="ctr"/>
          <a:lstStyle/>
          <a:p>
            <a:pPr algn="ctr" indent="0" marL="0">
              <a:buNone/>
            </a:pPr>
            <a:r>
              <a:rPr lang="en-US" sz="1400" b="1" dirty="0">
                <a:solidFill>
                  <a:schemeClr val="accent6"/>
                </a:solidFill>
              </a:rPr>
              <a:t>→</a:t>
            </a:r>
            <a:endParaRPr lang="en-US" sz="1400" dirty="0"/>
          </a:p>
        </p:txBody>
      </p:sp>
      <p:sp>
        <p:nvSpPr>
          <p:cNvPr id="12" name="Pipeline step 3"/>
          <p:cNvSpPr/>
          <p:nvPr/>
        </p:nvSpPr>
        <p:spPr>
          <a:xfrm>
            <a:off x="3244291" y="2103120"/>
            <a:ext cx="1261872" cy="1371600"/>
          </a:xfrm>
          <a:prstGeom prst="roundRect">
            <a:avLst>
              <a:gd name="adj" fmla="val 7246"/>
            </a:avLst>
          </a:prstGeom>
          <a:solidFill>
            <a:schemeClr val="bg2"/>
          </a:solidFill>
          <a:ln/>
        </p:spPr>
      </p:sp>
      <p:sp>
        <p:nvSpPr>
          <p:cNvPr id="13" name="Text 11"/>
          <p:cNvSpPr txBox="1"/>
          <p:nvPr/>
        </p:nvSpPr>
        <p:spPr>
          <a:xfrm>
            <a:off x="3317443" y="2103120"/>
            <a:ext cx="1115568" cy="1371600"/>
          </a:xfrm>
          <a:prstGeom prst="rect">
            <a:avLst/>
          </a:prstGeom>
          <a:noFill/>
          <a:ln/>
        </p:spPr>
        <p:txBody>
          <a:bodyPr wrap="square" lIns="0" tIns="0" rIns="0" bIns="0" rtlCol="0" anchor="ctr"/>
          <a:lstStyle/>
          <a:p>
            <a:pPr algn="ctr" indent="0" marL="0">
              <a:buNone/>
            </a:pPr>
            <a:r>
              <a:rPr lang="en-US" sz="1400" b="1" dirty="0">
                <a:solidFill>
                  <a:schemeClr val="tx1"/>
                </a:solidFill>
              </a:rPr>
              <a:t>GHCR</a:t>
            </a:r>
            <a:endParaRPr lang="en-US" sz="1400" dirty="0"/>
          </a:p>
          <a:p>
            <a:pPr algn="ctr" indent="0" marL="0">
              <a:buNone/>
            </a:pPr>
            <a:r>
              <a:rPr lang="en-US" sz="1200" dirty="0">
                <a:solidFill>
                  <a:schemeClr val="tx1"/>
                </a:solidFill>
              </a:rPr>
              <a:t>SHA-tagged images</a:t>
            </a:r>
            <a:endParaRPr lang="en-US" sz="1400" dirty="0"/>
          </a:p>
        </p:txBody>
      </p:sp>
      <p:sp>
        <p:nvSpPr>
          <p:cNvPr id="14" name="Text 12"/>
          <p:cNvSpPr txBox="1"/>
          <p:nvPr/>
        </p:nvSpPr>
        <p:spPr>
          <a:xfrm>
            <a:off x="4487875" y="2606040"/>
            <a:ext cx="168250" cy="365760"/>
          </a:xfrm>
          <a:prstGeom prst="rect">
            <a:avLst/>
          </a:prstGeom>
          <a:noFill/>
          <a:ln/>
        </p:spPr>
        <p:txBody>
          <a:bodyPr wrap="square" lIns="0" tIns="0" rIns="0" bIns="0" rtlCol="0" anchor="ctr"/>
          <a:lstStyle/>
          <a:p>
            <a:pPr algn="ctr" indent="0" marL="0">
              <a:buNone/>
            </a:pPr>
            <a:r>
              <a:rPr lang="en-US" sz="1400" b="1" dirty="0">
                <a:solidFill>
                  <a:schemeClr val="accent6"/>
                </a:solidFill>
              </a:rPr>
              <a:t>→</a:t>
            </a:r>
            <a:endParaRPr lang="en-US" sz="1400" dirty="0"/>
          </a:p>
        </p:txBody>
      </p:sp>
      <p:sp>
        <p:nvSpPr>
          <p:cNvPr id="15" name="Pipeline step 4"/>
          <p:cNvSpPr/>
          <p:nvPr/>
        </p:nvSpPr>
        <p:spPr>
          <a:xfrm>
            <a:off x="4637837" y="2103120"/>
            <a:ext cx="1261872" cy="1371600"/>
          </a:xfrm>
          <a:prstGeom prst="roundRect">
            <a:avLst>
              <a:gd name="adj" fmla="val 7246"/>
            </a:avLst>
          </a:prstGeom>
          <a:solidFill>
            <a:schemeClr val="bg2"/>
          </a:solidFill>
          <a:ln/>
        </p:spPr>
      </p:sp>
      <p:sp>
        <p:nvSpPr>
          <p:cNvPr id="16" name="Text 14"/>
          <p:cNvSpPr txBox="1"/>
          <p:nvPr/>
        </p:nvSpPr>
        <p:spPr>
          <a:xfrm>
            <a:off x="4710989" y="2103120"/>
            <a:ext cx="1115568" cy="1371600"/>
          </a:xfrm>
          <a:prstGeom prst="rect">
            <a:avLst/>
          </a:prstGeom>
          <a:noFill/>
          <a:ln/>
        </p:spPr>
        <p:txBody>
          <a:bodyPr wrap="square" lIns="0" tIns="0" rIns="0" bIns="0" rtlCol="0" anchor="ctr"/>
          <a:lstStyle/>
          <a:p>
            <a:pPr algn="ctr" indent="0" marL="0">
              <a:buNone/>
            </a:pPr>
            <a:r>
              <a:rPr lang="en-US" sz="1400" b="1" dirty="0">
                <a:solidFill>
                  <a:schemeClr val="tx1"/>
                </a:solidFill>
              </a:rPr>
              <a:t>Terraform</a:t>
            </a:r>
            <a:endParaRPr lang="en-US" sz="1400" dirty="0"/>
          </a:p>
          <a:p>
            <a:pPr algn="ctr" indent="0" marL="0">
              <a:buNone/>
            </a:pPr>
            <a:r>
              <a:rPr lang="en-US" sz="1200" dirty="0">
                <a:solidFill>
                  <a:schemeClr val="tx1"/>
                </a:solidFill>
              </a:rPr>
              <a:t>VPC + EKS</a:t>
            </a:r>
            <a:endParaRPr lang="en-US" sz="1400" dirty="0"/>
          </a:p>
        </p:txBody>
      </p:sp>
      <p:sp>
        <p:nvSpPr>
          <p:cNvPr id="17" name="Text 15"/>
          <p:cNvSpPr txBox="1"/>
          <p:nvPr/>
        </p:nvSpPr>
        <p:spPr>
          <a:xfrm>
            <a:off x="5881421" y="2606040"/>
            <a:ext cx="168250" cy="365760"/>
          </a:xfrm>
          <a:prstGeom prst="rect">
            <a:avLst/>
          </a:prstGeom>
          <a:noFill/>
          <a:ln/>
        </p:spPr>
        <p:txBody>
          <a:bodyPr wrap="square" lIns="0" tIns="0" rIns="0" bIns="0" rtlCol="0" anchor="ctr"/>
          <a:lstStyle/>
          <a:p>
            <a:pPr algn="ctr" indent="0" marL="0">
              <a:buNone/>
            </a:pPr>
            <a:r>
              <a:rPr lang="en-US" sz="1400" b="1" dirty="0">
                <a:solidFill>
                  <a:schemeClr val="accent6"/>
                </a:solidFill>
              </a:rPr>
              <a:t>→</a:t>
            </a:r>
            <a:endParaRPr lang="en-US" sz="1400" dirty="0"/>
          </a:p>
        </p:txBody>
      </p:sp>
      <p:sp>
        <p:nvSpPr>
          <p:cNvPr id="18" name="Pipeline step 5"/>
          <p:cNvSpPr/>
          <p:nvPr/>
        </p:nvSpPr>
        <p:spPr>
          <a:xfrm>
            <a:off x="6031382" y="2103120"/>
            <a:ext cx="1261872" cy="1371600"/>
          </a:xfrm>
          <a:prstGeom prst="roundRect">
            <a:avLst>
              <a:gd name="adj" fmla="val 7246"/>
            </a:avLst>
          </a:prstGeom>
          <a:solidFill>
            <a:schemeClr val="bg2"/>
          </a:solidFill>
          <a:ln/>
        </p:spPr>
      </p:sp>
      <p:sp>
        <p:nvSpPr>
          <p:cNvPr id="19" name="Text 17"/>
          <p:cNvSpPr txBox="1"/>
          <p:nvPr/>
        </p:nvSpPr>
        <p:spPr>
          <a:xfrm>
            <a:off x="6104534" y="2103120"/>
            <a:ext cx="1115568" cy="1371600"/>
          </a:xfrm>
          <a:prstGeom prst="rect">
            <a:avLst/>
          </a:prstGeom>
          <a:noFill/>
          <a:ln/>
        </p:spPr>
        <p:txBody>
          <a:bodyPr wrap="square" lIns="0" tIns="0" rIns="0" bIns="0" rtlCol="0" anchor="ctr"/>
          <a:lstStyle/>
          <a:p>
            <a:pPr algn="ctr" indent="0" marL="0">
              <a:buNone/>
            </a:pPr>
            <a:r>
              <a:rPr lang="en-US" sz="1400" b="1" dirty="0">
                <a:solidFill>
                  <a:schemeClr val="tx1"/>
                </a:solidFill>
              </a:rPr>
              <a:t>Helm</a:t>
            </a:r>
            <a:endParaRPr lang="en-US" sz="1400" dirty="0"/>
          </a:p>
          <a:p>
            <a:pPr algn="ctr" indent="0" marL="0">
              <a:buNone/>
            </a:pPr>
            <a:r>
              <a:rPr lang="en-US" sz="1200" dirty="0">
                <a:solidFill>
                  <a:schemeClr val="tx1"/>
                </a:solidFill>
              </a:rPr>
              <a:t>Kubernetes release</a:t>
            </a:r>
            <a:endParaRPr lang="en-US" sz="1400" dirty="0"/>
          </a:p>
        </p:txBody>
      </p:sp>
      <p:sp>
        <p:nvSpPr>
          <p:cNvPr id="20" name="Text 18"/>
          <p:cNvSpPr txBox="1"/>
          <p:nvPr/>
        </p:nvSpPr>
        <p:spPr>
          <a:xfrm>
            <a:off x="7274966" y="2606040"/>
            <a:ext cx="168250" cy="365760"/>
          </a:xfrm>
          <a:prstGeom prst="rect">
            <a:avLst/>
          </a:prstGeom>
          <a:noFill/>
          <a:ln/>
        </p:spPr>
        <p:txBody>
          <a:bodyPr wrap="square" lIns="0" tIns="0" rIns="0" bIns="0" rtlCol="0" anchor="ctr"/>
          <a:lstStyle/>
          <a:p>
            <a:pPr algn="ctr" indent="0" marL="0">
              <a:buNone/>
            </a:pPr>
            <a:r>
              <a:rPr lang="en-US" sz="1400" b="1" dirty="0">
                <a:solidFill>
                  <a:schemeClr val="accent6"/>
                </a:solidFill>
              </a:rPr>
              <a:t>→</a:t>
            </a:r>
            <a:endParaRPr lang="en-US" sz="1400" dirty="0"/>
          </a:p>
        </p:txBody>
      </p:sp>
      <p:sp>
        <p:nvSpPr>
          <p:cNvPr id="21" name="Pipeline step 6"/>
          <p:cNvSpPr/>
          <p:nvPr/>
        </p:nvSpPr>
        <p:spPr>
          <a:xfrm>
            <a:off x="7424928" y="2103120"/>
            <a:ext cx="1261872" cy="1371600"/>
          </a:xfrm>
          <a:prstGeom prst="roundRect">
            <a:avLst>
              <a:gd name="adj" fmla="val 7246"/>
            </a:avLst>
          </a:prstGeom>
          <a:solidFill>
            <a:schemeClr val="bg2"/>
          </a:solidFill>
          <a:ln/>
        </p:spPr>
      </p:sp>
      <p:sp>
        <p:nvSpPr>
          <p:cNvPr id="22" name="Text 20"/>
          <p:cNvSpPr txBox="1"/>
          <p:nvPr/>
        </p:nvSpPr>
        <p:spPr>
          <a:xfrm>
            <a:off x="7498080" y="2103120"/>
            <a:ext cx="1115568" cy="1371600"/>
          </a:xfrm>
          <a:prstGeom prst="rect">
            <a:avLst/>
          </a:prstGeom>
          <a:noFill/>
          <a:ln/>
        </p:spPr>
        <p:txBody>
          <a:bodyPr wrap="square" lIns="0" tIns="0" rIns="0" bIns="0" rtlCol="0" anchor="ctr"/>
          <a:lstStyle/>
          <a:p>
            <a:pPr algn="ctr" indent="0" marL="0">
              <a:buNone/>
            </a:pPr>
            <a:r>
              <a:rPr lang="en-US" sz="1400" b="1" dirty="0">
                <a:solidFill>
                  <a:schemeClr val="tx1"/>
                </a:solidFill>
              </a:rPr>
              <a:t>Prometheus + Grafana</a:t>
            </a:r>
            <a:endParaRPr lang="en-US" sz="1400" dirty="0"/>
          </a:p>
          <a:p>
            <a:pPr algn="ctr" indent="0" marL="0">
              <a:buNone/>
            </a:pPr>
            <a:r>
              <a:rPr lang="en-US" sz="1200" dirty="0">
                <a:solidFill>
                  <a:schemeClr val="tx1"/>
                </a:solidFill>
              </a:rPr>
              <a:t>live metrics</a:t>
            </a:r>
            <a:endParaRPr lang="en-US" sz="1400" dirty="0"/>
          </a:p>
        </p:txBody>
      </p:sp>
      <p:sp>
        <p:nvSpPr>
          <p:cNvPr id="23" name="Text 21"/>
          <p:cNvSpPr txBox="1"/>
          <p:nvPr/>
        </p:nvSpPr>
        <p:spPr>
          <a:xfrm>
            <a:off x="457200" y="3840480"/>
            <a:ext cx="8229600" cy="457200"/>
          </a:xfrm>
          <a:prstGeom prst="rect">
            <a:avLst/>
          </a:prstGeom>
          <a:noFill/>
          <a:ln/>
        </p:spPr>
        <p:txBody>
          <a:bodyPr wrap="square" lIns="0" tIns="0" rIns="0" bIns="0" rtlCol="0" anchor="ctr"/>
          <a:lstStyle/>
          <a:p>
            <a:pPr indent="0" marL="0">
              <a:buNone/>
            </a:pPr>
            <a:r>
              <a:rPr lang="en-US" sz="1600" i="1" dirty="0">
                <a:solidFill>
                  <a:schemeClr val="accent1"/>
                </a:solidFill>
              </a:rPr>
              <a:t>Ten graded modules, one repository. Every screenshot is a real capture; the GitHub run and AWS apply evidence are added once they are run.</a:t>
            </a:r>
            <a:endParaRPr lang="en-US" sz="16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1280160" y="365760"/>
            <a:ext cx="7406640" cy="566928"/>
          </a:xfrm>
          <a:prstGeom prst="rect">
            <a:avLst/>
          </a:prstGeom>
          <a:noFill/>
          <a:ln/>
        </p:spPr>
        <p:txBody>
          <a:bodyPr wrap="square" lIns="0" tIns="0" rIns="0" bIns="0" rtlCol="0" anchor="ctr"/>
          <a:lstStyle/>
          <a:p>
            <a:pPr algn="l" indent="0" marL="0">
              <a:buNone/>
            </a:pPr>
            <a:r>
              <a:rPr lang="en-US" sz="3200" b="1" dirty="0">
                <a:solidFill>
                  <a:schemeClr val="tx1"/>
                </a:solidFill>
              </a:rPr>
              <a:t>Application</a:t>
            </a:r>
            <a:endParaRPr lang="en-US" sz="3200" dirty="0"/>
          </a:p>
        </p:txBody>
      </p:sp>
      <p:sp>
        <p:nvSpPr>
          <p:cNvPr id="3" name="Module chip"/>
          <p:cNvSpPr/>
          <p:nvPr/>
        </p:nvSpPr>
        <p:spPr>
          <a:xfrm>
            <a:off x="457200" y="420624"/>
            <a:ext cx="640080" cy="457200"/>
          </a:xfrm>
          <a:prstGeom prst="roundRect">
            <a:avLst>
              <a:gd name="adj" fmla="val 20000"/>
            </a:avLst>
          </a:prstGeom>
          <a:solidFill>
            <a:schemeClr val="accent1"/>
          </a:solidFill>
          <a:ln/>
        </p:spPr>
      </p:sp>
      <p:sp>
        <p:nvSpPr>
          <p:cNvPr id="4" name="Text 2"/>
          <p:cNvSpPr txBox="1"/>
          <p:nvPr/>
        </p:nvSpPr>
        <p:spPr>
          <a:xfrm>
            <a:off x="457200" y="420624"/>
            <a:ext cx="640080" cy="457200"/>
          </a:xfrm>
          <a:prstGeom prst="rect">
            <a:avLst/>
          </a:prstGeom>
          <a:noFill/>
          <a:ln/>
        </p:spPr>
        <p:txBody>
          <a:bodyPr wrap="square" lIns="0" tIns="0" rIns="0" bIns="0" rtlCol="0" anchor="ctr"/>
          <a:lstStyle/>
          <a:p>
            <a:pPr algn="ctr" indent="0" marL="0">
              <a:buNone/>
            </a:pPr>
            <a:r>
              <a:rPr lang="en-US" sz="1400" b="1" dirty="0">
                <a:solidFill>
                  <a:schemeClr val="bg1"/>
                </a:solidFill>
              </a:rPr>
              <a:t>M1</a:t>
            </a:r>
            <a:endParaRPr lang="en-US" sz="1400" dirty="0"/>
          </a:p>
        </p:txBody>
      </p:sp>
      <p:sp>
        <p:nvSpPr>
          <p:cNvPr id="5" name="PlaceTrack dashboard in Docker Compose frame"/>
          <p:cNvSpPr/>
          <p:nvPr/>
        </p:nvSpPr>
        <p:spPr>
          <a:xfrm>
            <a:off x="420624" y="1060704"/>
            <a:ext cx="4828032" cy="3044952"/>
          </a:xfrm>
          <a:prstGeom prst="roundRect">
            <a:avLst>
              <a:gd name="adj" fmla="val 1502"/>
            </a:avLst>
          </a:prstGeom>
          <a:solidFill>
            <a:schemeClr val="bg1"/>
          </a:solidFill>
          <a:ln w="9525">
            <a:solidFill>
              <a:schemeClr val="accent6"/>
            </a:solidFill>
            <a:prstDash val="solid"/>
          </a:ln>
          <a:effectLst>
            <a:outerShdw sx="100000" sy="100000" kx="0" ky="0" algn="bl" rotWithShape="0" blurRad="76200" dist="25400" dir="5400000">
              <a:srgbClr val="000000">
                <a:alpha val="18000"/>
              </a:srgbClr>
            </a:outerShdw>
          </a:effectLst>
        </p:spPr>
      </p:sp>
      <p:pic>
        <p:nvPicPr>
          <p:cNvPr id="6" name="Image 0" descr="PlaceTrack dashboard in Docker Compose">    </p:cNvPr>
          <p:cNvPicPr>
            <a:picLocks noChangeAspect="1"/>
          </p:cNvPicPr>
          <p:nvPr/>
        </p:nvPicPr>
        <p:blipFill>
          <a:blip r:embed="rId1"/>
          <a:stretch>
            <a:fillRect/>
          </a:stretch>
        </p:blipFill>
        <p:spPr>
          <a:xfrm>
            <a:off x="457200" y="1097280"/>
            <a:ext cx="4754880" cy="2971800"/>
          </a:xfrm>
          <a:prstGeom prst="rect">
            <a:avLst/>
          </a:prstGeom>
        </p:spPr>
      </p:pic>
      <p:sp>
        <p:nvSpPr>
          <p:cNvPr id="7" name="PlaceTrack at phone width frame"/>
          <p:cNvSpPr/>
          <p:nvPr/>
        </p:nvSpPr>
        <p:spPr>
          <a:xfrm>
            <a:off x="5541264" y="1060704"/>
            <a:ext cx="1536192" cy="3074260"/>
          </a:xfrm>
          <a:prstGeom prst="roundRect">
            <a:avLst>
              <a:gd name="adj" fmla="val 2976"/>
            </a:avLst>
          </a:prstGeom>
          <a:solidFill>
            <a:schemeClr val="bg1"/>
          </a:solidFill>
          <a:ln w="9525">
            <a:solidFill>
              <a:schemeClr val="accent6"/>
            </a:solidFill>
            <a:prstDash val="solid"/>
          </a:ln>
          <a:effectLst>
            <a:outerShdw sx="100000" sy="100000" kx="0" ky="0" algn="bl" rotWithShape="0" blurRad="76200" dist="25400" dir="5400000">
              <a:srgbClr val="000000">
                <a:alpha val="18000"/>
              </a:srgbClr>
            </a:outerShdw>
          </a:effectLst>
        </p:spPr>
      </p:sp>
      <p:pic>
        <p:nvPicPr>
          <p:cNvPr id="8" name="Image 1" descr="PlaceTrack at phone width">    </p:cNvPr>
          <p:cNvPicPr>
            <a:picLocks noChangeAspect="1"/>
          </p:cNvPicPr>
          <p:nvPr/>
        </p:nvPicPr>
        <p:blipFill>
          <a:blip r:embed="rId2"/>
          <a:stretch>
            <a:fillRect/>
          </a:stretch>
        </p:blipFill>
        <p:spPr>
          <a:xfrm>
            <a:off x="5577840" y="1097280"/>
            <a:ext cx="1463040" cy="3001108"/>
          </a:xfrm>
          <a:prstGeom prst="rect">
            <a:avLst/>
          </a:prstGeom>
        </p:spPr>
      </p:pic>
      <p:sp>
        <p:nvSpPr>
          <p:cNvPr id="9" name="Text 5"/>
          <p:cNvSpPr txBox="1"/>
          <p:nvPr/>
        </p:nvSpPr>
        <p:spPr>
          <a:xfrm>
            <a:off x="7315200" y="1188720"/>
            <a:ext cx="1463040" cy="73152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6</a:t>
            </a:r>
            <a:endParaRPr lang="en-US" sz="4800" dirty="0"/>
          </a:p>
        </p:txBody>
      </p:sp>
      <p:sp>
        <p:nvSpPr>
          <p:cNvPr id="10" name="Text 6"/>
          <p:cNvSpPr txBox="1"/>
          <p:nvPr/>
        </p:nvSpPr>
        <p:spPr>
          <a:xfrm>
            <a:off x="7315200" y="1920240"/>
            <a:ext cx="1463040" cy="457200"/>
          </a:xfrm>
          <a:prstGeom prst="rect">
            <a:avLst/>
          </a:prstGeom>
          <a:noFill/>
          <a:ln/>
        </p:spPr>
        <p:txBody>
          <a:bodyPr wrap="square" lIns="0" tIns="0" rIns="0" bIns="0" rtlCol="0" anchor="t"/>
          <a:lstStyle/>
          <a:p>
            <a:pPr indent="0" marL="0">
              <a:buNone/>
            </a:pPr>
            <a:r>
              <a:rPr lang="en-US" sz="1400" dirty="0">
                <a:solidFill>
                  <a:schemeClr val="accent6"/>
                </a:solidFill>
              </a:rPr>
              <a:t>REST endpoints under /api, plus health, ready, metrics</a:t>
            </a:r>
            <a:endParaRPr lang="en-US" sz="1400" dirty="0"/>
          </a:p>
        </p:txBody>
      </p:sp>
      <p:sp>
        <p:nvSpPr>
          <p:cNvPr id="11" name="Text 7"/>
          <p:cNvSpPr txBox="1"/>
          <p:nvPr/>
        </p:nvSpPr>
        <p:spPr>
          <a:xfrm>
            <a:off x="7315200" y="2651760"/>
            <a:ext cx="1463040" cy="731520"/>
          </a:xfrm>
          <a:prstGeom prst="rect">
            <a:avLst/>
          </a:prstGeom>
          <a:noFill/>
          <a:ln/>
        </p:spPr>
        <p:txBody>
          <a:bodyPr wrap="square" lIns="0" tIns="0" rIns="0" bIns="0" rtlCol="0" anchor="ctr"/>
          <a:lstStyle/>
          <a:p>
            <a:pPr indent="0" marL="0">
              <a:buNone/>
            </a:pPr>
            <a:r>
              <a:rPr lang="en-US" sz="4800" b="1" dirty="0">
                <a:solidFill>
                  <a:schemeClr val="accent3"/>
                </a:solidFill>
                <a:latin typeface="Cambria" pitchFamily="34" charset="0"/>
                <a:ea typeface="Cambria" pitchFamily="34" charset="-122"/>
                <a:cs typeface="Cambria" pitchFamily="34" charset="-120"/>
              </a:rPr>
              <a:t>1</a:t>
            </a:r>
            <a:endParaRPr lang="en-US" sz="4800" dirty="0"/>
          </a:p>
        </p:txBody>
      </p:sp>
      <p:sp>
        <p:nvSpPr>
          <p:cNvPr id="12" name="Text 8"/>
          <p:cNvSpPr txBox="1"/>
          <p:nvPr/>
        </p:nvSpPr>
        <p:spPr>
          <a:xfrm>
            <a:off x="7315200" y="3383280"/>
            <a:ext cx="1463040" cy="457200"/>
          </a:xfrm>
          <a:prstGeom prst="rect">
            <a:avLst/>
          </a:prstGeom>
          <a:noFill/>
          <a:ln/>
        </p:spPr>
        <p:txBody>
          <a:bodyPr wrap="square" lIns="0" tIns="0" rIns="0" bIns="0" rtlCol="0" anchor="t"/>
          <a:lstStyle/>
          <a:p>
            <a:pPr indent="0" marL="0">
              <a:buNone/>
            </a:pPr>
            <a:r>
              <a:rPr lang="en-US" sz="1400" dirty="0">
                <a:solidFill>
                  <a:schemeClr val="accent6"/>
                </a:solidFill>
              </a:rPr>
              <a:t>Alembic migration (jobs table)</a:t>
            </a:r>
            <a:endParaRPr lang="en-US" sz="1400" dirty="0"/>
          </a:p>
        </p:txBody>
      </p:sp>
      <p:sp>
        <p:nvSpPr>
          <p:cNvPr id="13" name="Text 9"/>
          <p:cNvSpPr txBox="1"/>
          <p:nvPr/>
        </p:nvSpPr>
        <p:spPr>
          <a:xfrm>
            <a:off x="457200" y="4251960"/>
            <a:ext cx="8229600" cy="365760"/>
          </a:xfrm>
          <a:prstGeom prst="rect">
            <a:avLst/>
          </a:prstGeom>
          <a:noFill/>
          <a:ln/>
        </p:spPr>
        <p:txBody>
          <a:bodyPr wrap="square" lIns="0" tIns="0" rIns="0" bIns="0" rtlCol="0" anchor="ctr"/>
          <a:lstStyle/>
          <a:p>
            <a:pPr indent="0" marL="0">
              <a:buNone/>
            </a:pPr>
            <a:r>
              <a:rPr lang="en-US" sz="1400" dirty="0">
                <a:solidFill>
                  <a:schemeClr val="accent6"/>
                </a:solidFill>
              </a:rPr>
              <a:t>FastAPI + Postgres behind a responsive React dashboard</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1280160" y="365760"/>
            <a:ext cx="7406640" cy="566928"/>
          </a:xfrm>
          <a:prstGeom prst="rect">
            <a:avLst/>
          </a:prstGeom>
          <a:noFill/>
          <a:ln/>
        </p:spPr>
        <p:txBody>
          <a:bodyPr wrap="square" lIns="0" tIns="0" rIns="0" bIns="0" rtlCol="0" anchor="ctr"/>
          <a:lstStyle/>
          <a:p>
            <a:pPr algn="l" indent="0" marL="0">
              <a:buNone/>
            </a:pPr>
            <a:r>
              <a:rPr lang="en-US" sz="3200" b="1" dirty="0">
                <a:solidFill>
                  <a:schemeClr val="tx1"/>
                </a:solidFill>
              </a:rPr>
              <a:t>Tests</a:t>
            </a:r>
            <a:endParaRPr lang="en-US" sz="3200" dirty="0"/>
          </a:p>
        </p:txBody>
      </p:sp>
      <p:sp>
        <p:nvSpPr>
          <p:cNvPr id="3" name="Module chip"/>
          <p:cNvSpPr/>
          <p:nvPr/>
        </p:nvSpPr>
        <p:spPr>
          <a:xfrm>
            <a:off x="457200" y="420624"/>
            <a:ext cx="640080" cy="457200"/>
          </a:xfrm>
          <a:prstGeom prst="roundRect">
            <a:avLst>
              <a:gd name="adj" fmla="val 20000"/>
            </a:avLst>
          </a:prstGeom>
          <a:solidFill>
            <a:schemeClr val="accent1"/>
          </a:solidFill>
          <a:ln/>
        </p:spPr>
      </p:sp>
      <p:sp>
        <p:nvSpPr>
          <p:cNvPr id="4" name="Text 2"/>
          <p:cNvSpPr txBox="1"/>
          <p:nvPr/>
        </p:nvSpPr>
        <p:spPr>
          <a:xfrm>
            <a:off x="457200" y="420624"/>
            <a:ext cx="640080" cy="457200"/>
          </a:xfrm>
          <a:prstGeom prst="rect">
            <a:avLst/>
          </a:prstGeom>
          <a:noFill/>
          <a:ln/>
        </p:spPr>
        <p:txBody>
          <a:bodyPr wrap="square" lIns="0" tIns="0" rIns="0" bIns="0" rtlCol="0" anchor="ctr"/>
          <a:lstStyle/>
          <a:p>
            <a:pPr algn="ctr" indent="0" marL="0">
              <a:buNone/>
            </a:pPr>
            <a:r>
              <a:rPr lang="en-US" sz="1400" b="1" dirty="0">
                <a:solidFill>
                  <a:schemeClr val="bg1"/>
                </a:solidFill>
              </a:rPr>
              <a:t>M2</a:t>
            </a:r>
            <a:endParaRPr lang="en-US" sz="1400" dirty="0"/>
          </a:p>
        </p:txBody>
      </p:sp>
      <p:sp>
        <p:nvSpPr>
          <p:cNvPr id="5" name="Text 3"/>
          <p:cNvSpPr txBox="1"/>
          <p:nvPr/>
        </p:nvSpPr>
        <p:spPr>
          <a:xfrm>
            <a:off x="457200" y="1143000"/>
            <a:ext cx="2743200" cy="73152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16</a:t>
            </a:r>
            <a:endParaRPr lang="en-US" sz="4800" dirty="0"/>
          </a:p>
        </p:txBody>
      </p:sp>
      <p:sp>
        <p:nvSpPr>
          <p:cNvPr id="6" name="Text 4"/>
          <p:cNvSpPr txBox="1"/>
          <p:nvPr/>
        </p:nvSpPr>
        <p:spPr>
          <a:xfrm>
            <a:off x="457200" y="1874520"/>
            <a:ext cx="2743200" cy="457200"/>
          </a:xfrm>
          <a:prstGeom prst="rect">
            <a:avLst/>
          </a:prstGeom>
          <a:noFill/>
          <a:ln/>
        </p:spPr>
        <p:txBody>
          <a:bodyPr wrap="square" lIns="0" tIns="0" rIns="0" bIns="0" rtlCol="0" anchor="t"/>
          <a:lstStyle/>
          <a:p>
            <a:pPr indent="0" marL="0">
              <a:buNone/>
            </a:pPr>
            <a:r>
              <a:rPr lang="en-US" sz="1400" dirty="0">
                <a:solidFill>
                  <a:schemeClr val="accent6"/>
                </a:solidFill>
              </a:rPr>
              <a:t>pytest cases, all passing</a:t>
            </a:r>
            <a:endParaRPr lang="en-US" sz="1400" dirty="0"/>
          </a:p>
        </p:txBody>
      </p:sp>
      <p:sp>
        <p:nvSpPr>
          <p:cNvPr id="7" name="Text 5"/>
          <p:cNvSpPr txBox="1"/>
          <p:nvPr/>
        </p:nvSpPr>
        <p:spPr>
          <a:xfrm>
            <a:off x="457200" y="2468880"/>
            <a:ext cx="3383280" cy="21031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Test database: in-memory SQLite via dependency override</a:t>
            </a:r>
            <a:endParaRPr lang="en-US" sz="1400" dirty="0"/>
          </a:p>
          <a:p>
            <a:pPr marL="342900" indent="-342900">
              <a:spcAft>
                <a:spcPts val="800"/>
              </a:spcAft>
              <a:buSzPct val="100000"/>
              <a:buChar char="•"/>
            </a:pPr>
            <a:r>
              <a:rPr lang="en-US" sz="1400" dirty="0">
                <a:solidFill>
                  <a:schemeClr val="tx1"/>
                </a:solidFill>
              </a:rPr>
              <a:t>Covers CRUD, 404, 422 and /metrics</a:t>
            </a:r>
            <a:endParaRPr lang="en-US" sz="1400" dirty="0"/>
          </a:p>
          <a:p>
            <a:pPr marL="342900" indent="-342900">
              <a:spcAft>
                <a:spcPts val="800"/>
              </a:spcAft>
              <a:buSzPct val="100000"/>
              <a:buChar char="•"/>
            </a:pPr>
            <a:r>
              <a:rPr lang="en-US" sz="1400" dirty="0">
                <a:solidFill>
                  <a:schemeClr val="tx1"/>
                </a:solidFill>
              </a:rPr>
              <a:t>/ready returns 503 when the database is down</a:t>
            </a:r>
            <a:endParaRPr lang="en-US" sz="1400" dirty="0"/>
          </a:p>
          <a:p>
            <a:pPr marL="342900" indent="-342900">
              <a:spcAft>
                <a:spcPts val="800"/>
              </a:spcAft>
              <a:buSzPct val="100000"/>
              <a:buChar char="•"/>
            </a:pPr>
            <a:r>
              <a:rPr lang="en-US" sz="1400" dirty="0">
                <a:solidFill>
                  <a:schemeClr val="tx1"/>
                </a:solidFill>
              </a:rPr>
              <a:t>pytest.ini in backend/</a:t>
            </a:r>
            <a:endParaRPr lang="en-US" sz="1400" dirty="0"/>
          </a:p>
        </p:txBody>
      </p:sp>
      <p:sp>
        <p:nvSpPr>
          <p:cNvPr id="8" name="pytest -v output, 16 passed frame"/>
          <p:cNvSpPr/>
          <p:nvPr/>
        </p:nvSpPr>
        <p:spPr>
          <a:xfrm>
            <a:off x="4078224" y="1060704"/>
            <a:ext cx="4645152" cy="2583812"/>
          </a:xfrm>
          <a:prstGeom prst="roundRect">
            <a:avLst>
              <a:gd name="adj" fmla="val 1769"/>
            </a:avLst>
          </a:prstGeom>
          <a:solidFill>
            <a:schemeClr val="bg1"/>
          </a:solidFill>
          <a:ln w="9525">
            <a:solidFill>
              <a:schemeClr val="accent6"/>
            </a:solidFill>
            <a:prstDash val="solid"/>
          </a:ln>
          <a:effectLst>
            <a:outerShdw sx="100000" sy="100000" kx="0" ky="0" algn="bl" rotWithShape="0" blurRad="76200" dist="25400" dir="5400000">
              <a:srgbClr val="000000">
                <a:alpha val="18000"/>
              </a:srgbClr>
            </a:outerShdw>
          </a:effectLst>
        </p:spPr>
      </p:sp>
      <p:pic>
        <p:nvPicPr>
          <p:cNvPr id="9" name="Image 0" descr="pytest -v output, 16 passed">    </p:cNvPr>
          <p:cNvPicPr>
            <a:picLocks noChangeAspect="1"/>
          </p:cNvPicPr>
          <p:nvPr/>
        </p:nvPicPr>
        <p:blipFill>
          <a:blip r:embed="rId1"/>
          <a:stretch>
            <a:fillRect/>
          </a:stretch>
        </p:blipFill>
        <p:spPr>
          <a:xfrm>
            <a:off x="4114800" y="1097280"/>
            <a:ext cx="4572000" cy="2510660"/>
          </a:xfrm>
          <a:prstGeom prst="rect">
            <a:avLst/>
          </a:prstGeom>
        </p:spPr>
      </p:pic>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1280160" y="365760"/>
            <a:ext cx="7406640" cy="566928"/>
          </a:xfrm>
          <a:prstGeom prst="rect">
            <a:avLst/>
          </a:prstGeom>
          <a:noFill/>
          <a:ln/>
        </p:spPr>
        <p:txBody>
          <a:bodyPr wrap="square" lIns="0" tIns="0" rIns="0" bIns="0" rtlCol="0" anchor="ctr"/>
          <a:lstStyle/>
          <a:p>
            <a:pPr algn="l" indent="0" marL="0">
              <a:buNone/>
            </a:pPr>
            <a:r>
              <a:rPr lang="en-US" sz="3200" b="1" dirty="0">
                <a:solidFill>
                  <a:schemeClr val="tx1"/>
                </a:solidFill>
              </a:rPr>
              <a:t>Git and GitHub</a:t>
            </a:r>
            <a:endParaRPr lang="en-US" sz="3200" dirty="0"/>
          </a:p>
        </p:txBody>
      </p:sp>
      <p:sp>
        <p:nvSpPr>
          <p:cNvPr id="3" name="Module chip"/>
          <p:cNvSpPr/>
          <p:nvPr/>
        </p:nvSpPr>
        <p:spPr>
          <a:xfrm>
            <a:off x="457200" y="420624"/>
            <a:ext cx="640080" cy="457200"/>
          </a:xfrm>
          <a:prstGeom prst="roundRect">
            <a:avLst>
              <a:gd name="adj" fmla="val 20000"/>
            </a:avLst>
          </a:prstGeom>
          <a:solidFill>
            <a:schemeClr val="accent1"/>
          </a:solidFill>
          <a:ln/>
        </p:spPr>
      </p:sp>
      <p:sp>
        <p:nvSpPr>
          <p:cNvPr id="4" name="Text 2"/>
          <p:cNvSpPr txBox="1"/>
          <p:nvPr/>
        </p:nvSpPr>
        <p:spPr>
          <a:xfrm>
            <a:off x="457200" y="420624"/>
            <a:ext cx="640080" cy="457200"/>
          </a:xfrm>
          <a:prstGeom prst="rect">
            <a:avLst/>
          </a:prstGeom>
          <a:noFill/>
          <a:ln/>
        </p:spPr>
        <p:txBody>
          <a:bodyPr wrap="square" lIns="0" tIns="0" rIns="0" bIns="0" rtlCol="0" anchor="ctr"/>
          <a:lstStyle/>
          <a:p>
            <a:pPr algn="ctr" indent="0" marL="0">
              <a:buNone/>
            </a:pPr>
            <a:r>
              <a:rPr lang="en-US" sz="1400" b="1" dirty="0">
                <a:solidFill>
                  <a:schemeClr val="bg1"/>
                </a:solidFill>
              </a:rPr>
              <a:t>M3</a:t>
            </a:r>
            <a:endParaRPr lang="en-US" sz="1400" dirty="0"/>
          </a:p>
        </p:txBody>
      </p:sp>
      <p:sp>
        <p:nvSpPr>
          <p:cNvPr id="5" name="Text 3"/>
          <p:cNvSpPr txBox="1"/>
          <p:nvPr/>
        </p:nvSpPr>
        <p:spPr>
          <a:xfrm>
            <a:off x="457200" y="1051560"/>
            <a:ext cx="2194560" cy="731520"/>
          </a:xfrm>
          <a:prstGeom prst="rect">
            <a:avLst/>
          </a:prstGeom>
          <a:noFill/>
          <a:ln/>
        </p:spPr>
        <p:txBody>
          <a:bodyPr wrap="square" lIns="0" tIns="0" rIns="0" bIns="0" rtlCol="0" anchor="ctr"/>
          <a:lstStyle/>
          <a:p>
            <a:pPr indent="0" marL="0">
              <a:buNone/>
            </a:pPr>
            <a:r>
              <a:rPr lang="en-US" sz="4800" b="1" dirty="0">
                <a:solidFill>
                  <a:schemeClr val="accent3"/>
                </a:solidFill>
                <a:latin typeface="Cambria" pitchFamily="34" charset="0"/>
                <a:ea typeface="Cambria" pitchFamily="34" charset="-122"/>
                <a:cs typeface="Cambria" pitchFamily="34" charset="-120"/>
              </a:rPr>
              <a:t>23</a:t>
            </a:r>
            <a:endParaRPr lang="en-US" sz="4800" dirty="0"/>
          </a:p>
        </p:txBody>
      </p:sp>
      <p:sp>
        <p:nvSpPr>
          <p:cNvPr id="6" name="Text 4"/>
          <p:cNvSpPr txBox="1"/>
          <p:nvPr/>
        </p:nvSpPr>
        <p:spPr>
          <a:xfrm>
            <a:off x="457200" y="1783080"/>
            <a:ext cx="2194560" cy="457200"/>
          </a:xfrm>
          <a:prstGeom prst="rect">
            <a:avLst/>
          </a:prstGeom>
          <a:noFill/>
          <a:ln/>
        </p:spPr>
        <p:txBody>
          <a:bodyPr wrap="square" lIns="0" tIns="0" rIns="0" bIns="0" rtlCol="0" anchor="t"/>
          <a:lstStyle/>
          <a:p>
            <a:pPr indent="0" marL="0">
              <a:buNone/>
            </a:pPr>
            <a:r>
              <a:rPr lang="en-US" sz="1400" dirty="0">
                <a:solidFill>
                  <a:schemeClr val="accent6"/>
                </a:solidFill>
              </a:rPr>
              <a:t>meaningful commits so far</a:t>
            </a:r>
            <a:endParaRPr lang="en-US" sz="1400" dirty="0"/>
          </a:p>
        </p:txBody>
      </p:sp>
      <p:sp>
        <p:nvSpPr>
          <p:cNvPr id="7" name="Text 5"/>
          <p:cNvSpPr txBox="1"/>
          <p:nvPr/>
        </p:nvSpPr>
        <p:spPr>
          <a:xfrm>
            <a:off x="2926080" y="1188720"/>
            <a:ext cx="5760720" cy="10972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Imperative, descriptive messages</a:t>
            </a:r>
            <a:endParaRPr lang="en-US" sz="1400" dirty="0"/>
          </a:p>
          <a:p>
            <a:pPr marL="342900" indent="-342900">
              <a:spcAft>
                <a:spcPts val="800"/>
              </a:spcAft>
              <a:buSzPct val="100000"/>
              <a:buChar char="•"/>
            </a:pPr>
            <a:r>
              <a:rPr lang="en-US" sz="1400" dirty="0">
                <a:solidFill>
                  <a:schemeClr val="tx1"/>
                </a:solidFill>
              </a:rPr>
              <a:t>.gitignore: .env, __pycache__, node_modules, .venv, tfstate, tfvars</a:t>
            </a:r>
            <a:endParaRPr lang="en-US" sz="1400" dirty="0"/>
          </a:p>
          <a:p>
            <a:pPr marL="342900" indent="-342900">
              <a:spcAft>
                <a:spcPts val="800"/>
              </a:spcAft>
              <a:buSzPct val="100000"/>
              <a:buChar char="•"/>
            </a:pPr>
            <a:r>
              <a:rPr lang="en-US" sz="1400" dirty="0">
                <a:solidFill>
                  <a:schemeClr val="tx1"/>
                </a:solidFill>
              </a:rPr>
              <a:t>Gitleaks: no secrets in history</a:t>
            </a:r>
            <a:endParaRPr lang="en-US" sz="1400" dirty="0"/>
          </a:p>
        </p:txBody>
      </p:sp>
      <p:sp>
        <p:nvSpPr>
          <p:cNvPr id="8" name="git log output frame"/>
          <p:cNvSpPr/>
          <p:nvPr/>
        </p:nvSpPr>
        <p:spPr>
          <a:xfrm>
            <a:off x="420624" y="2386584"/>
            <a:ext cx="4633722" cy="2313432"/>
          </a:xfrm>
          <a:prstGeom prst="roundRect">
            <a:avLst>
              <a:gd name="adj" fmla="val 1976"/>
            </a:avLst>
          </a:prstGeom>
          <a:solidFill>
            <a:schemeClr val="bg1"/>
          </a:solidFill>
          <a:ln w="9525">
            <a:solidFill>
              <a:schemeClr val="accent6"/>
            </a:solidFill>
            <a:prstDash val="solid"/>
          </a:ln>
          <a:effectLst>
            <a:outerShdw sx="100000" sy="100000" kx="0" ky="0" algn="bl" rotWithShape="0" blurRad="76200" dist="25400" dir="5400000">
              <a:srgbClr val="000000">
                <a:alpha val="18000"/>
              </a:srgbClr>
            </a:outerShdw>
          </a:effectLst>
        </p:spPr>
      </p:sp>
      <p:pic>
        <p:nvPicPr>
          <p:cNvPr id="9" name="Image 0" descr="git log output">    </p:cNvPr>
          <p:cNvPicPr>
            <a:picLocks noChangeAspect="1"/>
          </p:cNvPicPr>
          <p:nvPr/>
        </p:nvPicPr>
        <p:blipFill>
          <a:blip r:embed="rId1"/>
          <a:stretch>
            <a:fillRect/>
          </a:stretch>
        </p:blipFill>
        <p:spPr>
          <a:xfrm>
            <a:off x="457200" y="2423160"/>
            <a:ext cx="4560570" cy="2240280"/>
          </a:xfrm>
          <a:prstGeom prst="rect">
            <a:avLst/>
          </a:prstGeom>
        </p:spPr>
      </p:pic>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1280160" y="365760"/>
            <a:ext cx="7406640" cy="566928"/>
          </a:xfrm>
          <a:prstGeom prst="rect">
            <a:avLst/>
          </a:prstGeom>
          <a:noFill/>
          <a:ln/>
        </p:spPr>
        <p:txBody>
          <a:bodyPr wrap="square" lIns="0" tIns="0" rIns="0" bIns="0" rtlCol="0" anchor="ctr"/>
          <a:lstStyle/>
          <a:p>
            <a:pPr algn="l" indent="0" marL="0">
              <a:buNone/>
            </a:pPr>
            <a:r>
              <a:rPr lang="en-US" sz="3200" b="1" dirty="0">
                <a:solidFill>
                  <a:schemeClr val="tx1"/>
                </a:solidFill>
              </a:rPr>
              <a:t>Docker</a:t>
            </a:r>
            <a:endParaRPr lang="en-US" sz="3200" dirty="0"/>
          </a:p>
        </p:txBody>
      </p:sp>
      <p:sp>
        <p:nvSpPr>
          <p:cNvPr id="3" name="Module chip"/>
          <p:cNvSpPr/>
          <p:nvPr/>
        </p:nvSpPr>
        <p:spPr>
          <a:xfrm>
            <a:off x="457200" y="420624"/>
            <a:ext cx="640080" cy="457200"/>
          </a:xfrm>
          <a:prstGeom prst="roundRect">
            <a:avLst>
              <a:gd name="adj" fmla="val 20000"/>
            </a:avLst>
          </a:prstGeom>
          <a:solidFill>
            <a:schemeClr val="accent1"/>
          </a:solidFill>
          <a:ln/>
        </p:spPr>
      </p:sp>
      <p:sp>
        <p:nvSpPr>
          <p:cNvPr id="4" name="Text 2"/>
          <p:cNvSpPr txBox="1"/>
          <p:nvPr/>
        </p:nvSpPr>
        <p:spPr>
          <a:xfrm>
            <a:off x="457200" y="420624"/>
            <a:ext cx="640080" cy="457200"/>
          </a:xfrm>
          <a:prstGeom prst="rect">
            <a:avLst/>
          </a:prstGeom>
          <a:noFill/>
          <a:ln/>
        </p:spPr>
        <p:txBody>
          <a:bodyPr wrap="square" lIns="0" tIns="0" rIns="0" bIns="0" rtlCol="0" anchor="ctr"/>
          <a:lstStyle/>
          <a:p>
            <a:pPr algn="ctr" indent="0" marL="0">
              <a:buNone/>
            </a:pPr>
            <a:r>
              <a:rPr lang="en-US" sz="1400" b="1" dirty="0">
                <a:solidFill>
                  <a:schemeClr val="bg1"/>
                </a:solidFill>
              </a:rPr>
              <a:t>M4</a:t>
            </a:r>
            <a:endParaRPr lang="en-US" sz="1400" dirty="0"/>
          </a:p>
        </p:txBody>
      </p:sp>
      <p:sp>
        <p:nvSpPr>
          <p:cNvPr id="5" name="Text 3"/>
          <p:cNvSpPr txBox="1"/>
          <p:nvPr/>
        </p:nvSpPr>
        <p:spPr>
          <a:xfrm>
            <a:off x="457200" y="1097280"/>
            <a:ext cx="4023360" cy="12801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Backend image: python:3.12-slim, user 10001</a:t>
            </a:r>
            <a:endParaRPr lang="en-US" sz="1400" dirty="0"/>
          </a:p>
          <a:p>
            <a:pPr marL="342900" indent="-342900">
              <a:spcAft>
                <a:spcPts val="800"/>
              </a:spcAft>
              <a:buSzPct val="100000"/>
              <a:buChar char="•"/>
            </a:pPr>
            <a:r>
              <a:rPr lang="en-US" sz="1400" dirty="0">
                <a:solidFill>
                  <a:schemeClr val="tx1"/>
                </a:solidFill>
              </a:rPr>
              <a:t>Frontend: multi-stage, Node builds, nginx-unprivileged serves, user 101</a:t>
            </a:r>
            <a:endParaRPr lang="en-US" sz="1400" dirty="0"/>
          </a:p>
        </p:txBody>
      </p:sp>
      <p:sp>
        <p:nvSpPr>
          <p:cNvPr id="6" name="Text 4"/>
          <p:cNvSpPr txBox="1"/>
          <p:nvPr/>
        </p:nvSpPr>
        <p:spPr>
          <a:xfrm>
            <a:off x="4663440" y="1097280"/>
            <a:ext cx="4023360" cy="12801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docker compose up --build starts postgres, backend, frontend</a:t>
            </a:r>
            <a:endParaRPr lang="en-US" sz="1400" dirty="0"/>
          </a:p>
          <a:p>
            <a:pPr marL="342900" indent="-342900">
              <a:spcAft>
                <a:spcPts val="800"/>
              </a:spcAft>
              <a:buSzPct val="100000"/>
              <a:buChar char="•"/>
            </a:pPr>
            <a:r>
              <a:rPr lang="en-US" sz="1400" dirty="0">
                <a:solidFill>
                  <a:schemeClr val="tx1"/>
                </a:solidFill>
              </a:rPr>
              <a:t>Migrations run before the API starts</a:t>
            </a:r>
            <a:endParaRPr lang="en-US" sz="1400" dirty="0"/>
          </a:p>
        </p:txBody>
      </p:sp>
      <p:sp>
        <p:nvSpPr>
          <p:cNvPr id="7" name="docker compose up and ps frame"/>
          <p:cNvSpPr/>
          <p:nvPr/>
        </p:nvSpPr>
        <p:spPr>
          <a:xfrm>
            <a:off x="420624" y="2432304"/>
            <a:ext cx="7826905" cy="2267712"/>
          </a:xfrm>
          <a:prstGeom prst="roundRect">
            <a:avLst>
              <a:gd name="adj" fmla="val 2016"/>
            </a:avLst>
          </a:prstGeom>
          <a:solidFill>
            <a:schemeClr val="bg1"/>
          </a:solidFill>
          <a:ln w="9525">
            <a:solidFill>
              <a:schemeClr val="accent6"/>
            </a:solidFill>
            <a:prstDash val="solid"/>
          </a:ln>
          <a:effectLst>
            <a:outerShdw sx="100000" sy="100000" kx="0" ky="0" algn="bl" rotWithShape="0" blurRad="76200" dist="25400" dir="5400000">
              <a:srgbClr val="000000">
                <a:alpha val="18000"/>
              </a:srgbClr>
            </a:outerShdw>
          </a:effectLst>
        </p:spPr>
      </p:sp>
      <p:pic>
        <p:nvPicPr>
          <p:cNvPr id="8" name="Image 0" descr="docker compose up and ps">    </p:cNvPr>
          <p:cNvPicPr>
            <a:picLocks noChangeAspect="1"/>
          </p:cNvPicPr>
          <p:nvPr/>
        </p:nvPicPr>
        <p:blipFill>
          <a:blip r:embed="rId1"/>
          <a:stretch>
            <a:fillRect/>
          </a:stretch>
        </p:blipFill>
        <p:spPr>
          <a:xfrm>
            <a:off x="457200" y="2468880"/>
            <a:ext cx="7753753" cy="2194560"/>
          </a:xfrm>
          <a:prstGeom prst="rect">
            <a:avLst/>
          </a:prstGeom>
        </p:spPr>
      </p:pic>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1280160" y="365760"/>
            <a:ext cx="7406640" cy="566928"/>
          </a:xfrm>
          <a:prstGeom prst="rect">
            <a:avLst/>
          </a:prstGeom>
          <a:noFill/>
          <a:ln/>
        </p:spPr>
        <p:txBody>
          <a:bodyPr wrap="square" lIns="0" tIns="0" rIns="0" bIns="0" rtlCol="0" anchor="ctr"/>
          <a:lstStyle/>
          <a:p>
            <a:pPr algn="l" indent="0" marL="0">
              <a:buNone/>
            </a:pPr>
            <a:r>
              <a:rPr lang="en-US" sz="3200" b="1" dirty="0">
                <a:solidFill>
                  <a:schemeClr val="tx1"/>
                </a:solidFill>
              </a:rPr>
              <a:t>CI/CD pipeline</a:t>
            </a:r>
            <a:endParaRPr lang="en-US" sz="3200" dirty="0"/>
          </a:p>
        </p:txBody>
      </p:sp>
      <p:sp>
        <p:nvSpPr>
          <p:cNvPr id="3" name="Module chip"/>
          <p:cNvSpPr/>
          <p:nvPr/>
        </p:nvSpPr>
        <p:spPr>
          <a:xfrm>
            <a:off x="457200" y="420624"/>
            <a:ext cx="640080" cy="457200"/>
          </a:xfrm>
          <a:prstGeom prst="roundRect">
            <a:avLst>
              <a:gd name="adj" fmla="val 20000"/>
            </a:avLst>
          </a:prstGeom>
          <a:solidFill>
            <a:schemeClr val="accent1"/>
          </a:solidFill>
          <a:ln/>
        </p:spPr>
      </p:sp>
      <p:sp>
        <p:nvSpPr>
          <p:cNvPr id="4" name="Text 2"/>
          <p:cNvSpPr txBox="1"/>
          <p:nvPr/>
        </p:nvSpPr>
        <p:spPr>
          <a:xfrm>
            <a:off x="457200" y="420624"/>
            <a:ext cx="640080" cy="457200"/>
          </a:xfrm>
          <a:prstGeom prst="rect">
            <a:avLst/>
          </a:prstGeom>
          <a:noFill/>
          <a:ln/>
        </p:spPr>
        <p:txBody>
          <a:bodyPr wrap="square" lIns="0" tIns="0" rIns="0" bIns="0" rtlCol="0" anchor="ctr"/>
          <a:lstStyle/>
          <a:p>
            <a:pPr algn="ctr" indent="0" marL="0">
              <a:buNone/>
            </a:pPr>
            <a:r>
              <a:rPr lang="en-US" sz="1400" b="1" dirty="0">
                <a:solidFill>
                  <a:schemeClr val="bg1"/>
                </a:solidFill>
              </a:rPr>
              <a:t>M5</a:t>
            </a:r>
            <a:endParaRPr lang="en-US" sz="1400" dirty="0"/>
          </a:p>
        </p:txBody>
      </p:sp>
      <p:sp>
        <p:nvSpPr>
          <p:cNvPr id="5" name="CI step 1"/>
          <p:cNvSpPr/>
          <p:nvPr/>
        </p:nvSpPr>
        <p:spPr>
          <a:xfrm>
            <a:off x="457200" y="1234440"/>
            <a:ext cx="1463040" cy="822960"/>
          </a:xfrm>
          <a:prstGeom prst="roundRect">
            <a:avLst>
              <a:gd name="adj" fmla="val 11111"/>
            </a:avLst>
          </a:prstGeom>
          <a:solidFill>
            <a:schemeClr val="bg2"/>
          </a:solidFill>
          <a:ln/>
        </p:spPr>
      </p:sp>
      <p:sp>
        <p:nvSpPr>
          <p:cNvPr id="6" name="Text 4"/>
          <p:cNvSpPr txBox="1"/>
          <p:nvPr/>
        </p:nvSpPr>
        <p:spPr>
          <a:xfrm>
            <a:off x="457200" y="1234440"/>
            <a:ext cx="1463040" cy="822960"/>
          </a:xfrm>
          <a:prstGeom prst="rect">
            <a:avLst/>
          </a:prstGeom>
          <a:noFill/>
          <a:ln/>
        </p:spPr>
        <p:txBody>
          <a:bodyPr wrap="square" lIns="0" tIns="0" rIns="0" bIns="0" rtlCol="0" anchor="ctr"/>
          <a:lstStyle/>
          <a:p>
            <a:pPr algn="ctr" indent="0" marL="0">
              <a:buNone/>
            </a:pPr>
            <a:r>
              <a:rPr lang="en-US" sz="1400" b="1" dirty="0">
                <a:solidFill>
                  <a:schemeClr val="tx1"/>
                </a:solidFill>
              </a:rPr>
              <a:t>pytest</a:t>
            </a:r>
            <a:endParaRPr lang="en-US" sz="1400" dirty="0"/>
          </a:p>
        </p:txBody>
      </p:sp>
      <p:sp>
        <p:nvSpPr>
          <p:cNvPr id="7" name="Text 5"/>
          <p:cNvSpPr txBox="1"/>
          <p:nvPr/>
        </p:nvSpPr>
        <p:spPr>
          <a:xfrm>
            <a:off x="1920240" y="1463040"/>
            <a:ext cx="228600" cy="365760"/>
          </a:xfrm>
          <a:prstGeom prst="rect">
            <a:avLst/>
          </a:prstGeom>
          <a:noFill/>
          <a:ln/>
        </p:spPr>
        <p:txBody>
          <a:bodyPr wrap="square" lIns="0" tIns="0" rIns="0" bIns="0" rtlCol="0" anchor="ctr"/>
          <a:lstStyle/>
          <a:p>
            <a:pPr algn="ctr" indent="0" marL="0">
              <a:buNone/>
            </a:pPr>
            <a:r>
              <a:rPr lang="en-US" sz="1600" b="1" dirty="0">
                <a:solidFill>
                  <a:schemeClr val="accent6"/>
                </a:solidFill>
              </a:rPr>
              <a:t>→</a:t>
            </a:r>
            <a:endParaRPr lang="en-US" sz="1600" dirty="0"/>
          </a:p>
        </p:txBody>
      </p:sp>
      <p:sp>
        <p:nvSpPr>
          <p:cNvPr id="8" name="CI step 2"/>
          <p:cNvSpPr/>
          <p:nvPr/>
        </p:nvSpPr>
        <p:spPr>
          <a:xfrm>
            <a:off x="2148840" y="1234440"/>
            <a:ext cx="1463040" cy="822960"/>
          </a:xfrm>
          <a:prstGeom prst="roundRect">
            <a:avLst>
              <a:gd name="adj" fmla="val 11111"/>
            </a:avLst>
          </a:prstGeom>
          <a:solidFill>
            <a:schemeClr val="bg2"/>
          </a:solidFill>
          <a:ln/>
        </p:spPr>
      </p:sp>
      <p:sp>
        <p:nvSpPr>
          <p:cNvPr id="9" name="Text 7"/>
          <p:cNvSpPr txBox="1"/>
          <p:nvPr/>
        </p:nvSpPr>
        <p:spPr>
          <a:xfrm>
            <a:off x="2148840" y="1234440"/>
            <a:ext cx="1463040" cy="822960"/>
          </a:xfrm>
          <a:prstGeom prst="rect">
            <a:avLst/>
          </a:prstGeom>
          <a:noFill/>
          <a:ln/>
        </p:spPr>
        <p:txBody>
          <a:bodyPr wrap="square" lIns="0" tIns="0" rIns="0" bIns="0" rtlCol="0" anchor="ctr"/>
          <a:lstStyle/>
          <a:p>
            <a:pPr algn="ctr" indent="0" marL="0">
              <a:buNone/>
            </a:pPr>
            <a:r>
              <a:rPr lang="en-US" sz="1400" b="1" dirty="0">
                <a:solidFill>
                  <a:schemeClr val="tx1"/>
                </a:solidFill>
              </a:rPr>
              <a:t>frontend build</a:t>
            </a:r>
            <a:endParaRPr lang="en-US" sz="1400" dirty="0"/>
          </a:p>
        </p:txBody>
      </p:sp>
      <p:sp>
        <p:nvSpPr>
          <p:cNvPr id="10" name="Text 8"/>
          <p:cNvSpPr txBox="1"/>
          <p:nvPr/>
        </p:nvSpPr>
        <p:spPr>
          <a:xfrm>
            <a:off x="3611880" y="1463040"/>
            <a:ext cx="228600" cy="365760"/>
          </a:xfrm>
          <a:prstGeom prst="rect">
            <a:avLst/>
          </a:prstGeom>
          <a:noFill/>
          <a:ln/>
        </p:spPr>
        <p:txBody>
          <a:bodyPr wrap="square" lIns="0" tIns="0" rIns="0" bIns="0" rtlCol="0" anchor="ctr"/>
          <a:lstStyle/>
          <a:p>
            <a:pPr algn="ctr" indent="0" marL="0">
              <a:buNone/>
            </a:pPr>
            <a:r>
              <a:rPr lang="en-US" sz="1600" b="1" dirty="0">
                <a:solidFill>
                  <a:schemeClr val="accent6"/>
                </a:solidFill>
              </a:rPr>
              <a:t>→</a:t>
            </a:r>
            <a:endParaRPr lang="en-US" sz="1600" dirty="0"/>
          </a:p>
        </p:txBody>
      </p:sp>
      <p:sp>
        <p:nvSpPr>
          <p:cNvPr id="11" name="CI step 3"/>
          <p:cNvSpPr/>
          <p:nvPr/>
        </p:nvSpPr>
        <p:spPr>
          <a:xfrm>
            <a:off x="3840480" y="1234440"/>
            <a:ext cx="1463040" cy="822960"/>
          </a:xfrm>
          <a:prstGeom prst="roundRect">
            <a:avLst>
              <a:gd name="adj" fmla="val 11111"/>
            </a:avLst>
          </a:prstGeom>
          <a:solidFill>
            <a:schemeClr val="bg2"/>
          </a:solidFill>
          <a:ln/>
        </p:spPr>
      </p:sp>
      <p:sp>
        <p:nvSpPr>
          <p:cNvPr id="12" name="Text 10"/>
          <p:cNvSpPr txBox="1"/>
          <p:nvPr/>
        </p:nvSpPr>
        <p:spPr>
          <a:xfrm>
            <a:off x="3840480" y="1234440"/>
            <a:ext cx="1463040" cy="822960"/>
          </a:xfrm>
          <a:prstGeom prst="rect">
            <a:avLst/>
          </a:prstGeom>
          <a:noFill/>
          <a:ln/>
        </p:spPr>
        <p:txBody>
          <a:bodyPr wrap="square" lIns="0" tIns="0" rIns="0" bIns="0" rtlCol="0" anchor="ctr"/>
          <a:lstStyle/>
          <a:p>
            <a:pPr algn="ctr" indent="0" marL="0">
              <a:buNone/>
            </a:pPr>
            <a:r>
              <a:rPr lang="en-US" sz="1400" b="1" dirty="0">
                <a:solidFill>
                  <a:schemeClr val="tx1"/>
                </a:solidFill>
              </a:rPr>
              <a:t>docker build x2</a:t>
            </a:r>
            <a:endParaRPr lang="en-US" sz="1400" dirty="0"/>
          </a:p>
        </p:txBody>
      </p:sp>
      <p:sp>
        <p:nvSpPr>
          <p:cNvPr id="13" name="Text 11"/>
          <p:cNvSpPr txBox="1"/>
          <p:nvPr/>
        </p:nvSpPr>
        <p:spPr>
          <a:xfrm>
            <a:off x="5303520" y="1463040"/>
            <a:ext cx="228600" cy="365760"/>
          </a:xfrm>
          <a:prstGeom prst="rect">
            <a:avLst/>
          </a:prstGeom>
          <a:noFill/>
          <a:ln/>
        </p:spPr>
        <p:txBody>
          <a:bodyPr wrap="square" lIns="0" tIns="0" rIns="0" bIns="0" rtlCol="0" anchor="ctr"/>
          <a:lstStyle/>
          <a:p>
            <a:pPr algn="ctr" indent="0" marL="0">
              <a:buNone/>
            </a:pPr>
            <a:r>
              <a:rPr lang="en-US" sz="1600" b="1" dirty="0">
                <a:solidFill>
                  <a:schemeClr val="accent6"/>
                </a:solidFill>
              </a:rPr>
              <a:t>→</a:t>
            </a:r>
            <a:endParaRPr lang="en-US" sz="1600" dirty="0"/>
          </a:p>
        </p:txBody>
      </p:sp>
      <p:sp>
        <p:nvSpPr>
          <p:cNvPr id="14" name="CI step 4"/>
          <p:cNvSpPr/>
          <p:nvPr/>
        </p:nvSpPr>
        <p:spPr>
          <a:xfrm>
            <a:off x="5532120" y="1234440"/>
            <a:ext cx="1463040" cy="822960"/>
          </a:xfrm>
          <a:prstGeom prst="roundRect">
            <a:avLst>
              <a:gd name="adj" fmla="val 11111"/>
            </a:avLst>
          </a:prstGeom>
          <a:solidFill>
            <a:schemeClr val="accent2"/>
          </a:solidFill>
          <a:ln/>
        </p:spPr>
      </p:sp>
      <p:sp>
        <p:nvSpPr>
          <p:cNvPr id="15" name="Text 13"/>
          <p:cNvSpPr txBox="1"/>
          <p:nvPr/>
        </p:nvSpPr>
        <p:spPr>
          <a:xfrm>
            <a:off x="5532120" y="1234440"/>
            <a:ext cx="1463040" cy="822960"/>
          </a:xfrm>
          <a:prstGeom prst="rect">
            <a:avLst/>
          </a:prstGeom>
          <a:noFill/>
          <a:ln/>
        </p:spPr>
        <p:txBody>
          <a:bodyPr wrap="square" lIns="0" tIns="0" rIns="0" bIns="0" rtlCol="0" anchor="ctr"/>
          <a:lstStyle/>
          <a:p>
            <a:pPr algn="ctr" indent="0" marL="0">
              <a:buNone/>
            </a:pPr>
            <a:r>
              <a:rPr lang="en-US" sz="1400" b="1" dirty="0">
                <a:solidFill>
                  <a:schemeClr val="tx1"/>
                </a:solidFill>
              </a:rPr>
              <a:t>Trivy gate</a:t>
            </a:r>
            <a:endParaRPr lang="en-US" sz="1400" dirty="0"/>
          </a:p>
        </p:txBody>
      </p:sp>
      <p:sp>
        <p:nvSpPr>
          <p:cNvPr id="16" name="Text 14"/>
          <p:cNvSpPr txBox="1"/>
          <p:nvPr/>
        </p:nvSpPr>
        <p:spPr>
          <a:xfrm>
            <a:off x="6995160" y="1463040"/>
            <a:ext cx="228600" cy="365760"/>
          </a:xfrm>
          <a:prstGeom prst="rect">
            <a:avLst/>
          </a:prstGeom>
          <a:noFill/>
          <a:ln/>
        </p:spPr>
        <p:txBody>
          <a:bodyPr wrap="square" lIns="0" tIns="0" rIns="0" bIns="0" rtlCol="0" anchor="ctr"/>
          <a:lstStyle/>
          <a:p>
            <a:pPr algn="ctr" indent="0" marL="0">
              <a:buNone/>
            </a:pPr>
            <a:r>
              <a:rPr lang="en-US" sz="1600" b="1" dirty="0">
                <a:solidFill>
                  <a:schemeClr val="accent6"/>
                </a:solidFill>
              </a:rPr>
              <a:t>→</a:t>
            </a:r>
            <a:endParaRPr lang="en-US" sz="1600" dirty="0"/>
          </a:p>
        </p:txBody>
      </p:sp>
      <p:sp>
        <p:nvSpPr>
          <p:cNvPr id="17" name="CI step 5"/>
          <p:cNvSpPr/>
          <p:nvPr/>
        </p:nvSpPr>
        <p:spPr>
          <a:xfrm>
            <a:off x="7223760" y="1234440"/>
            <a:ext cx="1463040" cy="822960"/>
          </a:xfrm>
          <a:prstGeom prst="roundRect">
            <a:avLst>
              <a:gd name="adj" fmla="val 11111"/>
            </a:avLst>
          </a:prstGeom>
          <a:solidFill>
            <a:schemeClr val="bg2"/>
          </a:solidFill>
          <a:ln/>
        </p:spPr>
      </p:sp>
      <p:sp>
        <p:nvSpPr>
          <p:cNvPr id="18" name="Text 16"/>
          <p:cNvSpPr txBox="1"/>
          <p:nvPr/>
        </p:nvSpPr>
        <p:spPr>
          <a:xfrm>
            <a:off x="7223760" y="1234440"/>
            <a:ext cx="1463040" cy="822960"/>
          </a:xfrm>
          <a:prstGeom prst="rect">
            <a:avLst/>
          </a:prstGeom>
          <a:noFill/>
          <a:ln/>
        </p:spPr>
        <p:txBody>
          <a:bodyPr wrap="square" lIns="0" tIns="0" rIns="0" bIns="0" rtlCol="0" anchor="ctr"/>
          <a:lstStyle/>
          <a:p>
            <a:pPr algn="ctr" indent="0" marL="0">
              <a:buNone/>
            </a:pPr>
            <a:r>
              <a:rPr lang="en-US" sz="1400" b="1" dirty="0">
                <a:solidFill>
                  <a:schemeClr val="tx1"/>
                </a:solidFill>
              </a:rPr>
              <a:t>push to GHCR</a:t>
            </a:r>
            <a:endParaRPr lang="en-US" sz="1400" dirty="0"/>
          </a:p>
        </p:txBody>
      </p:sp>
      <p:sp>
        <p:nvSpPr>
          <p:cNvPr id="19" name="Text 17"/>
          <p:cNvSpPr txBox="1"/>
          <p:nvPr/>
        </p:nvSpPr>
        <p:spPr>
          <a:xfrm>
            <a:off x="457200" y="2377440"/>
            <a:ext cx="8229600" cy="15544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Runs on every push to main (and on pull requests)</a:t>
            </a:r>
            <a:endParaRPr lang="en-US" sz="1500" dirty="0"/>
          </a:p>
          <a:p>
            <a:pPr marL="342900" indent="-342900">
              <a:spcAft>
                <a:spcPts val="800"/>
              </a:spcAft>
              <a:buSzPct val="100000"/>
              <a:buChar char="•"/>
            </a:pPr>
            <a:r>
              <a:rPr lang="en-US" sz="1500" dirty="0">
                <a:solidFill>
                  <a:schemeClr val="tx1"/>
                </a:solidFill>
              </a:rPr>
              <a:t>A failing test or a HIGH/CRITICAL CVE stops the pipeline</a:t>
            </a:r>
            <a:endParaRPr lang="en-US" sz="1500" dirty="0"/>
          </a:p>
          <a:p>
            <a:pPr marL="342900" indent="-342900">
              <a:spcAft>
                <a:spcPts val="800"/>
              </a:spcAft>
              <a:buSzPct val="100000"/>
              <a:buChar char="•"/>
            </a:pPr>
            <a:r>
              <a:rPr lang="en-US" sz="1500" dirty="0">
                <a:solidFill>
                  <a:schemeClr val="tx1"/>
                </a:solidFill>
              </a:rPr>
              <a:t>Images tagged with the commit SHA, never latest</a:t>
            </a:r>
            <a:endParaRPr lang="en-US" sz="1500" dirty="0"/>
          </a:p>
          <a:p>
            <a:pPr marL="342900" indent="-342900">
              <a:spcAft>
                <a:spcPts val="800"/>
              </a:spcAft>
              <a:buSzPct val="100000"/>
              <a:buChar char="•"/>
            </a:pPr>
            <a:r>
              <a:rPr lang="en-US" sz="1500" dirty="0">
                <a:solidFill>
                  <a:schemeClr val="tx1"/>
                </a:solidFill>
              </a:rPr>
              <a:t>Actions pinned to commit SHAs; write access only on the image job</a:t>
            </a:r>
            <a:endParaRPr lang="en-US" sz="1500" dirty="0"/>
          </a:p>
        </p:txBody>
      </p:sp>
      <p:sp>
        <p:nvSpPr>
          <p:cNvPr id="20" name="Status note"/>
          <p:cNvSpPr/>
          <p:nvPr/>
        </p:nvSpPr>
        <p:spPr>
          <a:xfrm>
            <a:off x="457200" y="4023360"/>
            <a:ext cx="8229600" cy="548640"/>
          </a:xfrm>
          <a:prstGeom prst="roundRect">
            <a:avLst>
              <a:gd name="adj" fmla="val 13333"/>
            </a:avLst>
          </a:prstGeom>
          <a:solidFill>
            <a:schemeClr val="accent2">
              <a:alpha val="18000"/>
            </a:schemeClr>
          </a:solidFill>
          <a:ln/>
        </p:spPr>
      </p:sp>
      <p:sp>
        <p:nvSpPr>
          <p:cNvPr id="21" name="Text 19"/>
          <p:cNvSpPr txBox="1"/>
          <p:nvPr/>
        </p:nvSpPr>
        <p:spPr>
          <a:xfrm>
            <a:off x="594360" y="4023360"/>
            <a:ext cx="7955280" cy="548640"/>
          </a:xfrm>
          <a:prstGeom prst="rect">
            <a:avLst/>
          </a:prstGeom>
          <a:noFill/>
          <a:ln/>
        </p:spPr>
        <p:txBody>
          <a:bodyPr wrap="square" lIns="0" tIns="0" rIns="0" bIns="0" rtlCol="0" anchor="ctr"/>
          <a:lstStyle/>
          <a:p>
            <a:pPr indent="0" marL="0">
              <a:buNone/>
            </a:pPr>
            <a:r>
              <a:rPr lang="en-US" sz="1200" dirty="0">
                <a:solidFill>
                  <a:schemeClr val="tx1"/>
                </a:solidFill>
              </a:rPr>
              <a:t>Status: every step was run locally (pytest, build, Docker, Trivy, Gitleaks). Nothing is pushed yet, so the Actions run link and GHCR page get added after the first push.</a:t>
            </a:r>
            <a:endParaRPr lang="en-US" sz="12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1280160" y="365760"/>
            <a:ext cx="7406640" cy="566928"/>
          </a:xfrm>
          <a:prstGeom prst="rect">
            <a:avLst/>
          </a:prstGeom>
          <a:noFill/>
          <a:ln/>
        </p:spPr>
        <p:txBody>
          <a:bodyPr wrap="square" lIns="0" tIns="0" rIns="0" bIns="0" rtlCol="0" anchor="ctr"/>
          <a:lstStyle/>
          <a:p>
            <a:pPr algn="l" indent="0" marL="0">
              <a:buNone/>
            </a:pPr>
            <a:r>
              <a:rPr lang="en-US" sz="3200" b="1" dirty="0">
                <a:solidFill>
                  <a:schemeClr val="tx1"/>
                </a:solidFill>
              </a:rPr>
              <a:t>Security scan</a:t>
            </a:r>
            <a:endParaRPr lang="en-US" sz="3200" dirty="0"/>
          </a:p>
        </p:txBody>
      </p:sp>
      <p:sp>
        <p:nvSpPr>
          <p:cNvPr id="3" name="Module chip"/>
          <p:cNvSpPr/>
          <p:nvPr/>
        </p:nvSpPr>
        <p:spPr>
          <a:xfrm>
            <a:off x="457200" y="420624"/>
            <a:ext cx="640080" cy="457200"/>
          </a:xfrm>
          <a:prstGeom prst="roundRect">
            <a:avLst>
              <a:gd name="adj" fmla="val 20000"/>
            </a:avLst>
          </a:prstGeom>
          <a:solidFill>
            <a:schemeClr val="accent1"/>
          </a:solidFill>
          <a:ln/>
        </p:spPr>
      </p:sp>
      <p:sp>
        <p:nvSpPr>
          <p:cNvPr id="4" name="Text 2"/>
          <p:cNvSpPr txBox="1"/>
          <p:nvPr/>
        </p:nvSpPr>
        <p:spPr>
          <a:xfrm>
            <a:off x="457200" y="420624"/>
            <a:ext cx="640080" cy="457200"/>
          </a:xfrm>
          <a:prstGeom prst="rect">
            <a:avLst/>
          </a:prstGeom>
          <a:noFill/>
          <a:ln/>
        </p:spPr>
        <p:txBody>
          <a:bodyPr wrap="square" lIns="0" tIns="0" rIns="0" bIns="0" rtlCol="0" anchor="ctr"/>
          <a:lstStyle/>
          <a:p>
            <a:pPr algn="ctr" indent="0" marL="0">
              <a:buNone/>
            </a:pPr>
            <a:r>
              <a:rPr lang="en-US" sz="1400" b="1" dirty="0">
                <a:solidFill>
                  <a:schemeClr val="bg1"/>
                </a:solidFill>
              </a:rPr>
              <a:t>M6</a:t>
            </a:r>
            <a:endParaRPr lang="en-US" sz="1400" dirty="0"/>
          </a:p>
        </p:txBody>
      </p:sp>
      <p:sp>
        <p:nvSpPr>
          <p:cNvPr id="5" name="Trivy findings before the fix frame"/>
          <p:cNvSpPr/>
          <p:nvPr/>
        </p:nvSpPr>
        <p:spPr>
          <a:xfrm>
            <a:off x="420624" y="1060704"/>
            <a:ext cx="4919472" cy="1877672"/>
          </a:xfrm>
          <a:prstGeom prst="roundRect">
            <a:avLst>
              <a:gd name="adj" fmla="val 2435"/>
            </a:avLst>
          </a:prstGeom>
          <a:solidFill>
            <a:schemeClr val="bg1"/>
          </a:solidFill>
          <a:ln w="9525">
            <a:solidFill>
              <a:schemeClr val="accent6"/>
            </a:solidFill>
            <a:prstDash val="solid"/>
          </a:ln>
          <a:effectLst>
            <a:outerShdw sx="100000" sy="100000" kx="0" ky="0" algn="bl" rotWithShape="0" blurRad="76200" dist="25400" dir="5400000">
              <a:srgbClr val="000000">
                <a:alpha val="18000"/>
              </a:srgbClr>
            </a:outerShdw>
          </a:effectLst>
        </p:spPr>
      </p:sp>
      <p:pic>
        <p:nvPicPr>
          <p:cNvPr id="6" name="Image 0" descr="Trivy findings before the fix">    </p:cNvPr>
          <p:cNvPicPr>
            <a:picLocks noChangeAspect="1"/>
          </p:cNvPicPr>
          <p:nvPr/>
        </p:nvPicPr>
        <p:blipFill>
          <a:blip r:embed="rId1"/>
          <a:stretch>
            <a:fillRect/>
          </a:stretch>
        </p:blipFill>
        <p:spPr>
          <a:xfrm>
            <a:off x="457200" y="1097280"/>
            <a:ext cx="4846320" cy="1804520"/>
          </a:xfrm>
          <a:prstGeom prst="rect">
            <a:avLst/>
          </a:prstGeom>
        </p:spPr>
      </p:pic>
      <p:sp>
        <p:nvSpPr>
          <p:cNvPr id="7" name="Text 4"/>
          <p:cNvSpPr txBox="1"/>
          <p:nvPr/>
        </p:nvSpPr>
        <p:spPr>
          <a:xfrm>
            <a:off x="5577840" y="1097280"/>
            <a:ext cx="3108960" cy="73152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3 → 0</a:t>
            </a:r>
            <a:endParaRPr lang="en-US" sz="4800" dirty="0"/>
          </a:p>
        </p:txBody>
      </p:sp>
      <p:sp>
        <p:nvSpPr>
          <p:cNvPr id="8" name="Text 5"/>
          <p:cNvSpPr txBox="1"/>
          <p:nvPr/>
        </p:nvSpPr>
        <p:spPr>
          <a:xfrm>
            <a:off x="5577840" y="1828800"/>
            <a:ext cx="3108960" cy="457200"/>
          </a:xfrm>
          <a:prstGeom prst="rect">
            <a:avLst/>
          </a:prstGeom>
          <a:noFill/>
          <a:ln/>
        </p:spPr>
        <p:txBody>
          <a:bodyPr wrap="square" lIns="0" tIns="0" rIns="0" bIns="0" rtlCol="0" anchor="t"/>
          <a:lstStyle/>
          <a:p>
            <a:pPr indent="0" marL="0">
              <a:buNone/>
            </a:pPr>
            <a:r>
              <a:rPr lang="en-US" sz="1400" dirty="0">
                <a:solidFill>
                  <a:schemeClr val="accent6"/>
                </a:solidFill>
              </a:rPr>
              <a:t>backend HIGH findings (Starlette)</a:t>
            </a:r>
            <a:endParaRPr lang="en-US" sz="1400" dirty="0"/>
          </a:p>
        </p:txBody>
      </p:sp>
      <p:sp>
        <p:nvSpPr>
          <p:cNvPr id="9" name="Text 6"/>
          <p:cNvSpPr txBox="1"/>
          <p:nvPr/>
        </p:nvSpPr>
        <p:spPr>
          <a:xfrm>
            <a:off x="5577840" y="2514600"/>
            <a:ext cx="3108960" cy="731520"/>
          </a:xfrm>
          <a:prstGeom prst="rect">
            <a:avLst/>
          </a:prstGeom>
          <a:noFill/>
          <a:ln/>
        </p:spPr>
        <p:txBody>
          <a:bodyPr wrap="square" lIns="0" tIns="0" rIns="0" bIns="0" rtlCol="0" anchor="ctr"/>
          <a:lstStyle/>
          <a:p>
            <a:pPr indent="0" marL="0">
              <a:buNone/>
            </a:pPr>
            <a:r>
              <a:rPr lang="en-US" sz="4800" b="1" dirty="0">
                <a:solidFill>
                  <a:schemeClr val="accent4"/>
                </a:solidFill>
                <a:latin typeface="Cambria" pitchFamily="34" charset="0"/>
                <a:ea typeface="Cambria" pitchFamily="34" charset="-122"/>
                <a:cs typeface="Cambria" pitchFamily="34" charset="-120"/>
              </a:rPr>
              <a:t>42 → 0</a:t>
            </a:r>
            <a:endParaRPr lang="en-US" sz="4800" dirty="0"/>
          </a:p>
        </p:txBody>
      </p:sp>
      <p:sp>
        <p:nvSpPr>
          <p:cNvPr id="10" name="Text 7"/>
          <p:cNvSpPr txBox="1"/>
          <p:nvPr/>
        </p:nvSpPr>
        <p:spPr>
          <a:xfrm>
            <a:off x="5577840" y="3246120"/>
            <a:ext cx="3108960" cy="457200"/>
          </a:xfrm>
          <a:prstGeom prst="rect">
            <a:avLst/>
          </a:prstGeom>
          <a:noFill/>
          <a:ln/>
        </p:spPr>
        <p:txBody>
          <a:bodyPr wrap="square" lIns="0" tIns="0" rIns="0" bIns="0" rtlCol="0" anchor="t"/>
          <a:lstStyle/>
          <a:p>
            <a:pPr indent="0" marL="0">
              <a:buNone/>
            </a:pPr>
            <a:r>
              <a:rPr lang="en-US" sz="1400" dirty="0">
                <a:solidFill>
                  <a:schemeClr val="accent6"/>
                </a:solidFill>
              </a:rPr>
              <a:t>frontend HIGH + CRITICAL (Alpine libs)</a:t>
            </a:r>
            <a:endParaRPr lang="en-US" sz="1400" dirty="0"/>
          </a:p>
        </p:txBody>
      </p:sp>
      <p:sp>
        <p:nvSpPr>
          <p:cNvPr id="11" name="Text 8"/>
          <p:cNvSpPr txBox="1"/>
          <p:nvPr/>
        </p:nvSpPr>
        <p:spPr>
          <a:xfrm>
            <a:off x="457200" y="4251960"/>
            <a:ext cx="8229600" cy="457200"/>
          </a:xfrm>
          <a:prstGeom prst="rect">
            <a:avLst/>
          </a:prstGeom>
          <a:noFill/>
          <a:ln/>
        </p:spPr>
        <p:txBody>
          <a:bodyPr wrap="square" lIns="0" tIns="0" rIns="0" bIns="0" rtlCol="0" anchor="t"/>
          <a:lstStyle/>
          <a:p>
            <a:pPr indent="0" marL="0">
              <a:buNone/>
            </a:pPr>
            <a:r>
              <a:rPr lang="en-US" sz="1200" dirty="0">
                <a:solidFill>
                  <a:schemeClr val="tx1"/>
                </a:solidFill>
              </a:rPr>
              <a:t>Example: CVE-2025-62727, Starlette denial of service through crafted Range headers. Fixed by upgrading FastAPI and the nginx base image, then scanning again: exit code 0.</a:t>
            </a:r>
            <a:endParaRPr lang="en-US" sz="12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1280160" y="365760"/>
            <a:ext cx="7406640" cy="566928"/>
          </a:xfrm>
          <a:prstGeom prst="rect">
            <a:avLst/>
          </a:prstGeom>
          <a:noFill/>
          <a:ln/>
        </p:spPr>
        <p:txBody>
          <a:bodyPr wrap="square" lIns="0" tIns="0" rIns="0" bIns="0" rtlCol="0" anchor="ctr"/>
          <a:lstStyle/>
          <a:p>
            <a:pPr algn="l" indent="0" marL="0">
              <a:buNone/>
            </a:pPr>
            <a:r>
              <a:rPr lang="en-US" sz="3200" b="1" dirty="0">
                <a:solidFill>
                  <a:schemeClr val="tx1"/>
                </a:solidFill>
              </a:rPr>
              <a:t>Terraform on AWS</a:t>
            </a:r>
            <a:endParaRPr lang="en-US" sz="3200" dirty="0"/>
          </a:p>
        </p:txBody>
      </p:sp>
      <p:sp>
        <p:nvSpPr>
          <p:cNvPr id="3" name="Module chip"/>
          <p:cNvSpPr/>
          <p:nvPr/>
        </p:nvSpPr>
        <p:spPr>
          <a:xfrm>
            <a:off x="457200" y="420624"/>
            <a:ext cx="640080" cy="457200"/>
          </a:xfrm>
          <a:prstGeom prst="roundRect">
            <a:avLst>
              <a:gd name="adj" fmla="val 20000"/>
            </a:avLst>
          </a:prstGeom>
          <a:solidFill>
            <a:schemeClr val="accent1"/>
          </a:solidFill>
          <a:ln/>
        </p:spPr>
      </p:sp>
      <p:sp>
        <p:nvSpPr>
          <p:cNvPr id="4" name="Text 2"/>
          <p:cNvSpPr txBox="1"/>
          <p:nvPr/>
        </p:nvSpPr>
        <p:spPr>
          <a:xfrm>
            <a:off x="457200" y="420624"/>
            <a:ext cx="640080" cy="457200"/>
          </a:xfrm>
          <a:prstGeom prst="rect">
            <a:avLst/>
          </a:prstGeom>
          <a:noFill/>
          <a:ln/>
        </p:spPr>
        <p:txBody>
          <a:bodyPr wrap="square" lIns="0" tIns="0" rIns="0" bIns="0" rtlCol="0" anchor="ctr"/>
          <a:lstStyle/>
          <a:p>
            <a:pPr algn="ctr" indent="0" marL="0">
              <a:buNone/>
            </a:pPr>
            <a:r>
              <a:rPr lang="en-US" sz="1400" b="1" dirty="0">
                <a:solidFill>
                  <a:schemeClr val="bg1"/>
                </a:solidFill>
              </a:rPr>
              <a:t>M7</a:t>
            </a:r>
            <a:endParaRPr lang="en-US" sz="1400" dirty="0"/>
          </a:p>
        </p:txBody>
      </p:sp>
      <p:sp>
        <p:nvSpPr>
          <p:cNvPr id="5" name="Text 3"/>
          <p:cNvSpPr txBox="1"/>
          <p:nvPr/>
        </p:nvSpPr>
        <p:spPr>
          <a:xfrm>
            <a:off x="457200" y="1188720"/>
            <a:ext cx="3749040" cy="26517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VPC with 2 public subnets in 2 availability zones</a:t>
            </a:r>
            <a:endParaRPr lang="en-US" sz="1400" dirty="0"/>
          </a:p>
          <a:p>
            <a:pPr marL="342900" indent="-342900">
              <a:spcAft>
                <a:spcPts val="800"/>
              </a:spcAft>
              <a:buSzPct val="100000"/>
              <a:buChar char="•"/>
            </a:pPr>
            <a:r>
              <a:rPr lang="en-US" sz="1400" dirty="0">
                <a:solidFill>
                  <a:schemeClr val="tx1"/>
                </a:solidFill>
              </a:rPr>
              <a:t>EKS cluster + managed node group, 2 x t3.small</a:t>
            </a:r>
            <a:endParaRPr lang="en-US" sz="1400" dirty="0"/>
          </a:p>
          <a:p>
            <a:pPr marL="342900" indent="-342900">
              <a:spcAft>
                <a:spcPts val="800"/>
              </a:spcAft>
              <a:buSzPct val="100000"/>
              <a:buChar char="•"/>
            </a:pPr>
            <a:r>
              <a:rPr lang="en-US" sz="1400" dirty="0">
                <a:solidFill>
                  <a:schemeClr val="tx1"/>
                </a:solidFill>
              </a:rPr>
              <a:t>EBS CSI driver with its own IRSA role</a:t>
            </a:r>
            <a:endParaRPr lang="en-US" sz="1400" dirty="0"/>
          </a:p>
          <a:p>
            <a:pPr marL="342900" indent="-342900">
              <a:spcAft>
                <a:spcPts val="800"/>
              </a:spcAft>
              <a:buSzPct val="100000"/>
              <a:buChar char="•"/>
            </a:pPr>
            <a:r>
              <a:rPr lang="en-US" sz="1400" dirty="0">
                <a:solidFill>
                  <a:schemeClr val="tx1"/>
                </a:solidFill>
              </a:rPr>
              <a:t>API endpoint restricted to my IP; no secrets in code</a:t>
            </a:r>
            <a:endParaRPr lang="en-US" sz="1400" dirty="0"/>
          </a:p>
          <a:p>
            <a:pPr marL="342900" indent="-342900">
              <a:spcAft>
                <a:spcPts val="800"/>
              </a:spcAft>
              <a:buSzPct val="100000"/>
              <a:buChar char="•"/>
            </a:pPr>
            <a:r>
              <a:rPr lang="en-US" sz="1400" dirty="0">
                <a:solidFill>
                  <a:schemeClr val="tx1"/>
                </a:solidFill>
              </a:rPr>
              <a:t>plan: 53 to add, 0 to change, 0 to destroy</a:t>
            </a:r>
            <a:endParaRPr lang="en-US" sz="1400" dirty="0"/>
          </a:p>
        </p:txBody>
      </p:sp>
      <p:sp>
        <p:nvSpPr>
          <p:cNvPr id="6" name="terraform validate and plan output frame"/>
          <p:cNvSpPr/>
          <p:nvPr/>
        </p:nvSpPr>
        <p:spPr>
          <a:xfrm>
            <a:off x="4352544" y="1152144"/>
            <a:ext cx="4370832" cy="2520039"/>
          </a:xfrm>
          <a:prstGeom prst="roundRect">
            <a:avLst>
              <a:gd name="adj" fmla="val 1814"/>
            </a:avLst>
          </a:prstGeom>
          <a:solidFill>
            <a:schemeClr val="bg1"/>
          </a:solidFill>
          <a:ln w="9525">
            <a:solidFill>
              <a:schemeClr val="accent6"/>
            </a:solidFill>
            <a:prstDash val="solid"/>
          </a:ln>
          <a:effectLst>
            <a:outerShdw sx="100000" sy="100000" kx="0" ky="0" algn="bl" rotWithShape="0" blurRad="76200" dist="25400" dir="5400000">
              <a:srgbClr val="000000">
                <a:alpha val="18000"/>
              </a:srgbClr>
            </a:outerShdw>
          </a:effectLst>
        </p:spPr>
      </p:sp>
      <p:pic>
        <p:nvPicPr>
          <p:cNvPr id="7" name="Image 0" descr="terraform validate and plan output">    </p:cNvPr>
          <p:cNvPicPr>
            <a:picLocks noChangeAspect="1"/>
          </p:cNvPicPr>
          <p:nvPr/>
        </p:nvPicPr>
        <p:blipFill>
          <a:blip r:embed="rId1"/>
          <a:stretch>
            <a:fillRect/>
          </a:stretch>
        </p:blipFill>
        <p:spPr>
          <a:xfrm>
            <a:off x="4389120" y="1188720"/>
            <a:ext cx="4297680" cy="2446887"/>
          </a:xfrm>
          <a:prstGeom prst="rect">
            <a:avLst/>
          </a:prstGeom>
        </p:spPr>
      </p:pic>
      <p:sp>
        <p:nvSpPr>
          <p:cNvPr id="8" name="Status note"/>
          <p:cNvSpPr/>
          <p:nvPr/>
        </p:nvSpPr>
        <p:spPr>
          <a:xfrm>
            <a:off x="457200" y="4069080"/>
            <a:ext cx="8229600" cy="548640"/>
          </a:xfrm>
          <a:prstGeom prst="roundRect">
            <a:avLst>
              <a:gd name="adj" fmla="val 13333"/>
            </a:avLst>
          </a:prstGeom>
          <a:solidFill>
            <a:schemeClr val="accent2">
              <a:alpha val="18000"/>
            </a:schemeClr>
          </a:solidFill>
          <a:ln/>
        </p:spPr>
      </p:sp>
      <p:sp>
        <p:nvSpPr>
          <p:cNvPr id="9" name="Text 6"/>
          <p:cNvSpPr txBox="1"/>
          <p:nvPr/>
        </p:nvSpPr>
        <p:spPr>
          <a:xfrm>
            <a:off x="594360" y="4069080"/>
            <a:ext cx="7955280" cy="548640"/>
          </a:xfrm>
          <a:prstGeom prst="rect">
            <a:avLst/>
          </a:prstGeom>
          <a:noFill/>
          <a:ln/>
        </p:spPr>
        <p:txBody>
          <a:bodyPr wrap="square" lIns="0" tIns="0" rIns="0" bIns="0" rtlCol="0" anchor="ctr"/>
          <a:lstStyle/>
          <a:p>
            <a:pPr indent="0" marL="0">
              <a:buNone/>
            </a:pPr>
            <a:r>
              <a:rPr lang="en-US" sz="1200" dirty="0">
                <a:solidFill>
                  <a:schemeClr val="tx1"/>
                </a:solidFill>
              </a:rPr>
              <a:t>Status: init, validate and plan are done. Apply, the AWS Console screenshots and destroy are added after the cluster is created, then destroyed to stop billing.</a:t>
            </a:r>
            <a:endParaRPr lang="en-US" sz="12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1280160" y="365760"/>
            <a:ext cx="7406640" cy="566928"/>
          </a:xfrm>
          <a:prstGeom prst="rect">
            <a:avLst/>
          </a:prstGeom>
          <a:noFill/>
          <a:ln/>
        </p:spPr>
        <p:txBody>
          <a:bodyPr wrap="square" lIns="0" tIns="0" rIns="0" bIns="0" rtlCol="0" anchor="ctr"/>
          <a:lstStyle/>
          <a:p>
            <a:pPr algn="l" indent="0" marL="0">
              <a:buNone/>
            </a:pPr>
            <a:r>
              <a:rPr lang="en-US" sz="3200" b="1" dirty="0">
                <a:solidFill>
                  <a:schemeClr val="tx1"/>
                </a:solidFill>
              </a:rPr>
              <a:t>Kubernetes and Helm</a:t>
            </a:r>
            <a:endParaRPr lang="en-US" sz="3200" dirty="0"/>
          </a:p>
        </p:txBody>
      </p:sp>
      <p:sp>
        <p:nvSpPr>
          <p:cNvPr id="3" name="Module chip"/>
          <p:cNvSpPr/>
          <p:nvPr/>
        </p:nvSpPr>
        <p:spPr>
          <a:xfrm>
            <a:off x="457200" y="420624"/>
            <a:ext cx="640080" cy="457200"/>
          </a:xfrm>
          <a:prstGeom prst="roundRect">
            <a:avLst>
              <a:gd name="adj" fmla="val 20000"/>
            </a:avLst>
          </a:prstGeom>
          <a:solidFill>
            <a:schemeClr val="accent1"/>
          </a:solidFill>
          <a:ln/>
        </p:spPr>
      </p:sp>
      <p:sp>
        <p:nvSpPr>
          <p:cNvPr id="4" name="Text 2"/>
          <p:cNvSpPr txBox="1"/>
          <p:nvPr/>
        </p:nvSpPr>
        <p:spPr>
          <a:xfrm>
            <a:off x="457200" y="420624"/>
            <a:ext cx="640080" cy="457200"/>
          </a:xfrm>
          <a:prstGeom prst="rect">
            <a:avLst/>
          </a:prstGeom>
          <a:noFill/>
          <a:ln/>
        </p:spPr>
        <p:txBody>
          <a:bodyPr wrap="square" lIns="0" tIns="0" rIns="0" bIns="0" rtlCol="0" anchor="ctr"/>
          <a:lstStyle/>
          <a:p>
            <a:pPr algn="ctr" indent="0" marL="0">
              <a:buNone/>
            </a:pPr>
            <a:r>
              <a:rPr lang="en-US" sz="1400" b="1" dirty="0">
                <a:solidFill>
                  <a:schemeClr val="bg1"/>
                </a:solidFill>
              </a:rPr>
              <a:t>M8</a:t>
            </a:r>
            <a:endParaRPr lang="en-US" sz="1400" dirty="0"/>
          </a:p>
        </p:txBody>
      </p:sp>
      <p:sp>
        <p:nvSpPr>
          <p:cNvPr id="5" name="kubectl get pods frame"/>
          <p:cNvSpPr/>
          <p:nvPr/>
        </p:nvSpPr>
        <p:spPr>
          <a:xfrm>
            <a:off x="420624" y="1060704"/>
            <a:ext cx="7349830" cy="1764792"/>
          </a:xfrm>
          <a:prstGeom prst="roundRect">
            <a:avLst>
              <a:gd name="adj" fmla="val 2591"/>
            </a:avLst>
          </a:prstGeom>
          <a:solidFill>
            <a:schemeClr val="bg1"/>
          </a:solidFill>
          <a:ln w="9525">
            <a:solidFill>
              <a:schemeClr val="accent6"/>
            </a:solidFill>
            <a:prstDash val="solid"/>
          </a:ln>
          <a:effectLst>
            <a:outerShdw sx="100000" sy="100000" kx="0" ky="0" algn="bl" rotWithShape="0" blurRad="76200" dist="25400" dir="5400000">
              <a:srgbClr val="000000">
                <a:alpha val="18000"/>
              </a:srgbClr>
            </a:outerShdw>
          </a:effectLst>
        </p:spPr>
      </p:sp>
      <p:pic>
        <p:nvPicPr>
          <p:cNvPr id="6" name="Image 0" descr="kubectl get pods">    </p:cNvPr>
          <p:cNvPicPr>
            <a:picLocks noChangeAspect="1"/>
          </p:cNvPicPr>
          <p:nvPr/>
        </p:nvPicPr>
        <p:blipFill>
          <a:blip r:embed="rId1"/>
          <a:stretch>
            <a:fillRect/>
          </a:stretch>
        </p:blipFill>
        <p:spPr>
          <a:xfrm>
            <a:off x="457200" y="1097280"/>
            <a:ext cx="7276678" cy="1691640"/>
          </a:xfrm>
          <a:prstGeom prst="rect">
            <a:avLst/>
          </a:prstGeom>
        </p:spPr>
      </p:pic>
      <p:sp>
        <p:nvSpPr>
          <p:cNvPr id="7" name="kubectl get svc, ingress, hpa frame"/>
          <p:cNvSpPr/>
          <p:nvPr/>
        </p:nvSpPr>
        <p:spPr>
          <a:xfrm>
            <a:off x="420624" y="2889504"/>
            <a:ext cx="6272719" cy="1810512"/>
          </a:xfrm>
          <a:prstGeom prst="roundRect">
            <a:avLst>
              <a:gd name="adj" fmla="val 2525"/>
            </a:avLst>
          </a:prstGeom>
          <a:solidFill>
            <a:schemeClr val="bg1"/>
          </a:solidFill>
          <a:ln w="9525">
            <a:solidFill>
              <a:schemeClr val="accent6"/>
            </a:solidFill>
            <a:prstDash val="solid"/>
          </a:ln>
          <a:effectLst>
            <a:outerShdw sx="100000" sy="100000" kx="0" ky="0" algn="bl" rotWithShape="0" blurRad="76200" dist="25400" dir="5400000">
              <a:srgbClr val="000000">
                <a:alpha val="18000"/>
              </a:srgbClr>
            </a:outerShdw>
          </a:effectLst>
        </p:spPr>
      </p:sp>
      <p:pic>
        <p:nvPicPr>
          <p:cNvPr id="8" name="Image 1" descr="kubectl get svc, ingress, hpa">    </p:cNvPr>
          <p:cNvPicPr>
            <a:picLocks noChangeAspect="1"/>
          </p:cNvPicPr>
          <p:nvPr/>
        </p:nvPicPr>
        <p:blipFill>
          <a:blip r:embed="rId2"/>
          <a:stretch>
            <a:fillRect/>
          </a:stretch>
        </p:blipFill>
        <p:spPr>
          <a:xfrm>
            <a:off x="457200" y="2926080"/>
            <a:ext cx="6199567" cy="1737360"/>
          </a:xfrm>
          <a:prstGeom prst="rect">
            <a:avLst/>
          </a:prstGeom>
        </p:spPr>
      </p:pic>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1280160" y="365760"/>
            <a:ext cx="7406640" cy="566928"/>
          </a:xfrm>
          <a:prstGeom prst="rect">
            <a:avLst/>
          </a:prstGeom>
          <a:noFill/>
          <a:ln/>
        </p:spPr>
        <p:txBody>
          <a:bodyPr wrap="square" lIns="0" tIns="0" rIns="0" bIns="0" rtlCol="0" anchor="ctr"/>
          <a:lstStyle/>
          <a:p>
            <a:pPr algn="l" indent="0" marL="0">
              <a:buNone/>
            </a:pPr>
            <a:r>
              <a:rPr lang="en-US" sz="3200" b="1" dirty="0">
                <a:solidFill>
                  <a:schemeClr val="tx1"/>
                </a:solidFill>
              </a:rPr>
              <a:t>Through the Ingress</a:t>
            </a:r>
            <a:endParaRPr lang="en-US" sz="3200" dirty="0"/>
          </a:p>
        </p:txBody>
      </p:sp>
      <p:sp>
        <p:nvSpPr>
          <p:cNvPr id="3" name="Module chip"/>
          <p:cNvSpPr/>
          <p:nvPr/>
        </p:nvSpPr>
        <p:spPr>
          <a:xfrm>
            <a:off x="457200" y="420624"/>
            <a:ext cx="640080" cy="457200"/>
          </a:xfrm>
          <a:prstGeom prst="roundRect">
            <a:avLst>
              <a:gd name="adj" fmla="val 20000"/>
            </a:avLst>
          </a:prstGeom>
          <a:solidFill>
            <a:schemeClr val="accent1"/>
          </a:solidFill>
          <a:ln/>
        </p:spPr>
      </p:sp>
      <p:sp>
        <p:nvSpPr>
          <p:cNvPr id="4" name="Text 2"/>
          <p:cNvSpPr txBox="1"/>
          <p:nvPr/>
        </p:nvSpPr>
        <p:spPr>
          <a:xfrm>
            <a:off x="457200" y="420624"/>
            <a:ext cx="640080" cy="457200"/>
          </a:xfrm>
          <a:prstGeom prst="rect">
            <a:avLst/>
          </a:prstGeom>
          <a:noFill/>
          <a:ln/>
        </p:spPr>
        <p:txBody>
          <a:bodyPr wrap="square" lIns="0" tIns="0" rIns="0" bIns="0" rtlCol="0" anchor="ctr"/>
          <a:lstStyle/>
          <a:p>
            <a:pPr algn="ctr" indent="0" marL="0">
              <a:buNone/>
            </a:pPr>
            <a:r>
              <a:rPr lang="en-US" sz="1400" b="1" dirty="0">
                <a:solidFill>
                  <a:schemeClr val="bg1"/>
                </a:solidFill>
              </a:rPr>
              <a:t>M8</a:t>
            </a:r>
            <a:endParaRPr lang="en-US" sz="1400" dirty="0"/>
          </a:p>
        </p:txBody>
      </p:sp>
      <p:sp>
        <p:nvSpPr>
          <p:cNvPr id="5" name="PlaceTrack served through the Ingress frame"/>
          <p:cNvSpPr/>
          <p:nvPr/>
        </p:nvSpPr>
        <p:spPr>
          <a:xfrm>
            <a:off x="420624" y="1060704"/>
            <a:ext cx="5468112" cy="3445002"/>
          </a:xfrm>
          <a:prstGeom prst="roundRect">
            <a:avLst>
              <a:gd name="adj" fmla="val 1327"/>
            </a:avLst>
          </a:prstGeom>
          <a:solidFill>
            <a:schemeClr val="bg1"/>
          </a:solidFill>
          <a:ln w="9525">
            <a:solidFill>
              <a:schemeClr val="accent6"/>
            </a:solidFill>
            <a:prstDash val="solid"/>
          </a:ln>
          <a:effectLst>
            <a:outerShdw sx="100000" sy="100000" kx="0" ky="0" algn="bl" rotWithShape="0" blurRad="76200" dist="25400" dir="5400000">
              <a:srgbClr val="000000">
                <a:alpha val="18000"/>
              </a:srgbClr>
            </a:outerShdw>
          </a:effectLst>
        </p:spPr>
      </p:sp>
      <p:pic>
        <p:nvPicPr>
          <p:cNvPr id="6" name="Image 0" descr="PlaceTrack served through the Ingress">    </p:cNvPr>
          <p:cNvPicPr>
            <a:picLocks noChangeAspect="1"/>
          </p:cNvPicPr>
          <p:nvPr/>
        </p:nvPicPr>
        <p:blipFill>
          <a:blip r:embed="rId1"/>
          <a:stretch>
            <a:fillRect/>
          </a:stretch>
        </p:blipFill>
        <p:spPr>
          <a:xfrm>
            <a:off x="457200" y="1097280"/>
            <a:ext cx="5394960" cy="3371850"/>
          </a:xfrm>
          <a:prstGeom prst="rect">
            <a:avLst/>
          </a:prstGeom>
        </p:spPr>
      </p:pic>
      <p:sp>
        <p:nvSpPr>
          <p:cNvPr id="7" name="Text 4"/>
          <p:cNvSpPr txBox="1"/>
          <p:nvPr/>
        </p:nvSpPr>
        <p:spPr>
          <a:xfrm>
            <a:off x="6126480" y="1188720"/>
            <a:ext cx="2560320" cy="31089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Ingress sends / to the frontend and /api to the backend, which uses Postgres</a:t>
            </a:r>
            <a:endParaRPr lang="en-US" sz="1400" dirty="0"/>
          </a:p>
          <a:p>
            <a:pPr marL="342900" indent="-342900">
              <a:spcAft>
                <a:spcPts val="800"/>
              </a:spcAft>
              <a:buSzPct val="100000"/>
              <a:buChar char="•"/>
            </a:pPr>
            <a:r>
              <a:rPr lang="en-US" sz="1400" dirty="0">
                <a:solidFill>
                  <a:schemeClr val="tx1"/>
                </a:solidFill>
              </a:rPr>
              <a:t>Live data written through /api</a:t>
            </a:r>
            <a:endParaRPr lang="en-US" sz="1400" dirty="0"/>
          </a:p>
          <a:p>
            <a:pPr marL="342900" indent="-342900">
              <a:spcAft>
                <a:spcPts val="800"/>
              </a:spcAft>
              <a:buSzPct val="100000"/>
              <a:buChar char="•"/>
            </a:pPr>
            <a:r>
              <a:rPr lang="en-US" sz="1400" dirty="0">
                <a:solidFill>
                  <a:schemeClr val="tx1"/>
                </a:solidFill>
              </a:rPr>
              <a:t>Same chart for minikube and EKS (EKS adds a gp3 StorageClass)</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1280160" y="365760"/>
            <a:ext cx="7406640" cy="566928"/>
          </a:xfrm>
          <a:prstGeom prst="rect">
            <a:avLst/>
          </a:prstGeom>
          <a:noFill/>
          <a:ln/>
        </p:spPr>
        <p:txBody>
          <a:bodyPr wrap="square" lIns="0" tIns="0" rIns="0" bIns="0" rtlCol="0" anchor="ctr"/>
          <a:lstStyle/>
          <a:p>
            <a:pPr algn="l" indent="0" marL="0">
              <a:buNone/>
            </a:pPr>
            <a:r>
              <a:rPr lang="en-US" sz="3200" b="1" dirty="0">
                <a:solidFill>
                  <a:schemeClr val="tx1"/>
                </a:solidFill>
              </a:rPr>
              <a:t>Observability</a:t>
            </a:r>
            <a:endParaRPr lang="en-US" sz="3200" dirty="0"/>
          </a:p>
        </p:txBody>
      </p:sp>
      <p:sp>
        <p:nvSpPr>
          <p:cNvPr id="3" name="Module chip"/>
          <p:cNvSpPr/>
          <p:nvPr/>
        </p:nvSpPr>
        <p:spPr>
          <a:xfrm>
            <a:off x="457200" y="420624"/>
            <a:ext cx="640080" cy="457200"/>
          </a:xfrm>
          <a:prstGeom prst="roundRect">
            <a:avLst>
              <a:gd name="adj" fmla="val 20000"/>
            </a:avLst>
          </a:prstGeom>
          <a:solidFill>
            <a:schemeClr val="accent1"/>
          </a:solidFill>
          <a:ln/>
        </p:spPr>
      </p:sp>
      <p:sp>
        <p:nvSpPr>
          <p:cNvPr id="4" name="Text 2"/>
          <p:cNvSpPr txBox="1"/>
          <p:nvPr/>
        </p:nvSpPr>
        <p:spPr>
          <a:xfrm>
            <a:off x="457200" y="420624"/>
            <a:ext cx="640080" cy="457200"/>
          </a:xfrm>
          <a:prstGeom prst="rect">
            <a:avLst/>
          </a:prstGeom>
          <a:noFill/>
          <a:ln/>
        </p:spPr>
        <p:txBody>
          <a:bodyPr wrap="square" lIns="0" tIns="0" rIns="0" bIns="0" rtlCol="0" anchor="ctr"/>
          <a:lstStyle/>
          <a:p>
            <a:pPr algn="ctr" indent="0" marL="0">
              <a:buNone/>
            </a:pPr>
            <a:r>
              <a:rPr lang="en-US" sz="1400" b="1" dirty="0">
                <a:solidFill>
                  <a:schemeClr val="bg1"/>
                </a:solidFill>
              </a:rPr>
              <a:t>M9</a:t>
            </a:r>
            <a:endParaRPr lang="en-US" sz="1400" dirty="0"/>
          </a:p>
        </p:txBody>
      </p:sp>
      <p:sp>
        <p:nvSpPr>
          <p:cNvPr id="5" name="Prometheus targets, both backend pods UP frame"/>
          <p:cNvSpPr/>
          <p:nvPr/>
        </p:nvSpPr>
        <p:spPr>
          <a:xfrm>
            <a:off x="420624" y="1060704"/>
            <a:ext cx="4050792" cy="2559177"/>
          </a:xfrm>
          <a:prstGeom prst="roundRect">
            <a:avLst>
              <a:gd name="adj" fmla="val 1787"/>
            </a:avLst>
          </a:prstGeom>
          <a:solidFill>
            <a:schemeClr val="bg1"/>
          </a:solidFill>
          <a:ln w="9525">
            <a:solidFill>
              <a:schemeClr val="accent6"/>
            </a:solidFill>
            <a:prstDash val="solid"/>
          </a:ln>
          <a:effectLst>
            <a:outerShdw sx="100000" sy="100000" kx="0" ky="0" algn="bl" rotWithShape="0" blurRad="76200" dist="25400" dir="5400000">
              <a:srgbClr val="000000">
                <a:alpha val="18000"/>
              </a:srgbClr>
            </a:outerShdw>
          </a:effectLst>
        </p:spPr>
      </p:sp>
      <p:pic>
        <p:nvPicPr>
          <p:cNvPr id="6" name="Image 0" descr="Prometheus targets, both backend pods UP">    </p:cNvPr>
          <p:cNvPicPr>
            <a:picLocks noChangeAspect="1"/>
          </p:cNvPicPr>
          <p:nvPr/>
        </p:nvPicPr>
        <p:blipFill>
          <a:blip r:embed="rId1"/>
          <a:stretch>
            <a:fillRect/>
          </a:stretch>
        </p:blipFill>
        <p:spPr>
          <a:xfrm>
            <a:off x="457200" y="1097280"/>
            <a:ext cx="3977640" cy="2486025"/>
          </a:xfrm>
          <a:prstGeom prst="rect">
            <a:avLst/>
          </a:prstGeom>
        </p:spPr>
      </p:pic>
      <p:sp>
        <p:nvSpPr>
          <p:cNvPr id="7" name="Grafana dashboard with live panels frame"/>
          <p:cNvSpPr/>
          <p:nvPr/>
        </p:nvSpPr>
        <p:spPr>
          <a:xfrm>
            <a:off x="4672584" y="1060704"/>
            <a:ext cx="4050792" cy="2559177"/>
          </a:xfrm>
          <a:prstGeom prst="roundRect">
            <a:avLst>
              <a:gd name="adj" fmla="val 1787"/>
            </a:avLst>
          </a:prstGeom>
          <a:solidFill>
            <a:schemeClr val="bg1"/>
          </a:solidFill>
          <a:ln w="9525">
            <a:solidFill>
              <a:schemeClr val="accent6"/>
            </a:solidFill>
            <a:prstDash val="solid"/>
          </a:ln>
          <a:effectLst>
            <a:outerShdw sx="100000" sy="100000" kx="0" ky="0" algn="bl" rotWithShape="0" blurRad="76200" dist="25400" dir="5400000">
              <a:srgbClr val="000000">
                <a:alpha val="18000"/>
              </a:srgbClr>
            </a:outerShdw>
          </a:effectLst>
        </p:spPr>
      </p:sp>
      <p:pic>
        <p:nvPicPr>
          <p:cNvPr id="8" name="Image 1" descr="Grafana dashboard with live panels">    </p:cNvPr>
          <p:cNvPicPr>
            <a:picLocks noChangeAspect="1"/>
          </p:cNvPicPr>
          <p:nvPr/>
        </p:nvPicPr>
        <p:blipFill>
          <a:blip r:embed="rId2"/>
          <a:stretch>
            <a:fillRect/>
          </a:stretch>
        </p:blipFill>
        <p:spPr>
          <a:xfrm>
            <a:off x="4709160" y="1097280"/>
            <a:ext cx="3977640" cy="2486025"/>
          </a:xfrm>
          <a:prstGeom prst="rect">
            <a:avLst/>
          </a:prstGeom>
        </p:spPr>
      </p:pic>
      <p:sp>
        <p:nvSpPr>
          <p:cNvPr id="9" name="Text 5"/>
          <p:cNvSpPr txBox="1"/>
          <p:nvPr/>
        </p:nvSpPr>
        <p:spPr>
          <a:xfrm>
            <a:off x="457200" y="3794760"/>
            <a:ext cx="8229600" cy="9144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/metrics exposed by FastAPI; ServiceMonitor makes Prometheus scrape both pods</a:t>
            </a:r>
            <a:endParaRPr lang="en-US" sz="1400" dirty="0"/>
          </a:p>
          <a:p>
            <a:pPr marL="342900" indent="-342900">
              <a:spcAft>
                <a:spcPts val="800"/>
              </a:spcAft>
              <a:buSzPct val="100000"/>
              <a:buChar char="•"/>
            </a:pPr>
            <a:r>
              <a:rPr lang="en-US" sz="1400" dirty="0">
                <a:solidFill>
                  <a:schemeClr val="tx1"/>
                </a:solidFill>
              </a:rPr>
              <a:t>Dashboard: request rate, p95 latency, error responses, pods up</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1280160" y="365760"/>
            <a:ext cx="7406640" cy="566928"/>
          </a:xfrm>
          <a:prstGeom prst="rect">
            <a:avLst/>
          </a:prstGeom>
          <a:noFill/>
          <a:ln/>
        </p:spPr>
        <p:txBody>
          <a:bodyPr wrap="square" lIns="0" tIns="0" rIns="0" bIns="0" rtlCol="0" anchor="ctr"/>
          <a:lstStyle/>
          <a:p>
            <a:pPr algn="l" indent="0" marL="0">
              <a:buNone/>
            </a:pPr>
            <a:r>
              <a:rPr lang="en-US" sz="3200" b="1" dirty="0">
                <a:solidFill>
                  <a:schemeClr val="tx1"/>
                </a:solidFill>
              </a:rPr>
              <a:t>Troubleshooting</a:t>
            </a:r>
            <a:endParaRPr lang="en-US" sz="3200" dirty="0"/>
          </a:p>
        </p:txBody>
      </p:sp>
      <p:sp>
        <p:nvSpPr>
          <p:cNvPr id="3" name="Module chip"/>
          <p:cNvSpPr/>
          <p:nvPr/>
        </p:nvSpPr>
        <p:spPr>
          <a:xfrm>
            <a:off x="457200" y="420624"/>
            <a:ext cx="640080" cy="457200"/>
          </a:xfrm>
          <a:prstGeom prst="roundRect">
            <a:avLst>
              <a:gd name="adj" fmla="val 20000"/>
            </a:avLst>
          </a:prstGeom>
          <a:solidFill>
            <a:schemeClr val="accent1"/>
          </a:solidFill>
          <a:ln/>
        </p:spPr>
      </p:sp>
      <p:sp>
        <p:nvSpPr>
          <p:cNvPr id="4" name="Text 2"/>
          <p:cNvSpPr txBox="1"/>
          <p:nvPr/>
        </p:nvSpPr>
        <p:spPr>
          <a:xfrm>
            <a:off x="457200" y="420624"/>
            <a:ext cx="640080" cy="457200"/>
          </a:xfrm>
          <a:prstGeom prst="rect">
            <a:avLst/>
          </a:prstGeom>
          <a:noFill/>
          <a:ln/>
        </p:spPr>
        <p:txBody>
          <a:bodyPr wrap="square" lIns="0" tIns="0" rIns="0" bIns="0" rtlCol="0" anchor="ctr"/>
          <a:lstStyle/>
          <a:p>
            <a:pPr algn="ctr" indent="0" marL="0">
              <a:buNone/>
            </a:pPr>
            <a:r>
              <a:rPr lang="en-US" sz="1400" b="1" dirty="0">
                <a:solidFill>
                  <a:schemeClr val="bg1"/>
                </a:solidFill>
              </a:rPr>
              <a:t>FIX</a:t>
            </a:r>
            <a:endParaRPr lang="en-US" sz="1400" dirty="0"/>
          </a:p>
        </p:txBody>
      </p:sp>
      <p:sp>
        <p:nvSpPr>
          <p:cNvPr id="5" name="Incident 1"/>
          <p:cNvSpPr/>
          <p:nvPr/>
        </p:nvSpPr>
        <p:spPr>
          <a:xfrm>
            <a:off x="457200" y="1143000"/>
            <a:ext cx="4023360" cy="3429000"/>
          </a:xfrm>
          <a:prstGeom prst="roundRect">
            <a:avLst>
              <a:gd name="adj" fmla="val 2667"/>
            </a:avLst>
          </a:prstGeom>
          <a:solidFill>
            <a:schemeClr val="bg2"/>
          </a:solidFill>
          <a:ln/>
        </p:spPr>
      </p:sp>
      <p:sp>
        <p:nvSpPr>
          <p:cNvPr id="6" name="Text 4"/>
          <p:cNvSpPr txBox="1"/>
          <p:nvPr/>
        </p:nvSpPr>
        <p:spPr>
          <a:xfrm>
            <a:off x="640080" y="1234440"/>
            <a:ext cx="3657600" cy="36576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Bad image tag</a:t>
            </a:r>
            <a:endParaRPr lang="en-US" sz="1800" dirty="0"/>
          </a:p>
        </p:txBody>
      </p:sp>
      <p:sp>
        <p:nvSpPr>
          <p:cNvPr id="7" name="Bad image tag terminal output frame"/>
          <p:cNvSpPr/>
          <p:nvPr/>
        </p:nvSpPr>
        <p:spPr>
          <a:xfrm>
            <a:off x="603504" y="1655064"/>
            <a:ext cx="3730752" cy="932134"/>
          </a:xfrm>
          <a:prstGeom prst="roundRect">
            <a:avLst>
              <a:gd name="adj" fmla="val 4905"/>
            </a:avLst>
          </a:prstGeom>
          <a:solidFill>
            <a:schemeClr val="bg1"/>
          </a:solidFill>
          <a:ln w="9525">
            <a:solidFill>
              <a:schemeClr val="accent6"/>
            </a:solidFill>
            <a:prstDash val="solid"/>
          </a:ln>
          <a:effectLst>
            <a:outerShdw sx="100000" sy="100000" kx="0" ky="0" algn="bl" rotWithShape="0" blurRad="76200" dist="25400" dir="5400000">
              <a:srgbClr val="000000">
                <a:alpha val="18000"/>
              </a:srgbClr>
            </a:outerShdw>
          </a:effectLst>
        </p:spPr>
      </p:sp>
      <p:pic>
        <p:nvPicPr>
          <p:cNvPr id="8" name="Image 0" descr="Bad image tag terminal output">    </p:cNvPr>
          <p:cNvPicPr>
            <a:picLocks noChangeAspect="1"/>
          </p:cNvPicPr>
          <p:nvPr/>
        </p:nvPicPr>
        <p:blipFill>
          <a:blip r:embed="rId1"/>
          <a:stretch>
            <a:fillRect/>
          </a:stretch>
        </p:blipFill>
        <p:spPr>
          <a:xfrm>
            <a:off x="640080" y="1691640"/>
            <a:ext cx="3657600" cy="858982"/>
          </a:xfrm>
          <a:prstGeom prst="rect">
            <a:avLst/>
          </a:prstGeom>
        </p:spPr>
      </p:pic>
      <p:sp>
        <p:nvSpPr>
          <p:cNvPr id="9" name="Text 6"/>
          <p:cNvSpPr txBox="1"/>
          <p:nvPr/>
        </p:nvSpPr>
        <p:spPr>
          <a:xfrm>
            <a:off x="640080" y="3291840"/>
            <a:ext cx="3657600" cy="1188720"/>
          </a:xfrm>
          <a:prstGeom prst="rect">
            <a:avLst/>
          </a:prstGeom>
          <a:noFill/>
          <a:ln/>
        </p:spPr>
        <p:txBody>
          <a:bodyPr wrap="square" lIns="0" tIns="0" rIns="0" bIns="0" rtlCol="0" anchor="t"/>
          <a:lstStyle/>
          <a:p>
            <a:pPr indent="0" marL="0">
              <a:spcAft>
                <a:spcPts val="400"/>
              </a:spcAft>
              <a:buNone/>
            </a:pPr>
            <a:r>
              <a:rPr lang="en-US" sz="1200" b="1" dirty="0">
                <a:solidFill>
                  <a:schemeClr val="tx1"/>
                </a:solidFill>
              </a:rPr>
              <a:t>Symptom: </a:t>
            </a:r>
            <a:pPr indent="0" marL="0">
              <a:spcAft>
                <a:spcPts val="400"/>
              </a:spcAft>
              <a:buNone/>
            </a:pPr>
            <a:r>
              <a:rPr lang="en-US" sz="1200" dirty="0">
                <a:solidFill>
                  <a:schemeClr val="tx1"/>
                </a:solidFill>
              </a:rPr>
              <a:t>ImagePullBackOff</a:t>
            </a:r>
            <a:endParaRPr lang="en-US" sz="1200" dirty="0"/>
          </a:p>
          <a:p>
            <a:pPr indent="0" marL="0">
              <a:spcAft>
                <a:spcPts val="400"/>
              </a:spcAft>
              <a:buNone/>
            </a:pPr>
            <a:r>
              <a:rPr lang="en-US" sz="1200" b="1" dirty="0">
                <a:solidFill>
                  <a:schemeClr val="tx1"/>
                </a:solidFill>
              </a:rPr>
              <a:t>Cause: </a:t>
            </a:r>
            <a:pPr indent="0" marL="0">
              <a:spcAft>
                <a:spcPts val="400"/>
              </a:spcAft>
              <a:buNone/>
            </a:pPr>
            <a:r>
              <a:rPr lang="en-US" sz="1200" dirty="0">
                <a:solidFill>
                  <a:schemeClr val="tx1"/>
                </a:solidFill>
              </a:rPr>
              <a:t>Tag does not exist in the registry</a:t>
            </a:r>
            <a:endParaRPr lang="en-US" sz="1200" dirty="0"/>
          </a:p>
          <a:p>
            <a:pPr indent="0" marL="0">
              <a:spcAft>
                <a:spcPts val="400"/>
              </a:spcAft>
              <a:buNone/>
            </a:pPr>
            <a:r>
              <a:rPr lang="en-US" sz="1200" b="1" dirty="0">
                <a:solidFill>
                  <a:schemeClr val="tx1"/>
                </a:solidFill>
              </a:rPr>
              <a:t>Fix: </a:t>
            </a:r>
            <a:pPr indent="0" marL="0">
              <a:spcAft>
                <a:spcPts val="400"/>
              </a:spcAft>
              <a:buNone/>
            </a:pPr>
            <a:r>
              <a:rPr lang="en-US" sz="1200" dirty="0">
                <a:solidFill>
                  <a:schemeClr val="tx1"/>
                </a:solidFill>
              </a:rPr>
              <a:t>Point the Deployment at a real tag</a:t>
            </a:r>
            <a:endParaRPr lang="en-US" sz="1200" dirty="0"/>
          </a:p>
        </p:txBody>
      </p:sp>
      <p:sp>
        <p:nvSpPr>
          <p:cNvPr id="10" name="Incident 2"/>
          <p:cNvSpPr/>
          <p:nvPr/>
        </p:nvSpPr>
        <p:spPr>
          <a:xfrm>
            <a:off x="4663440" y="1143000"/>
            <a:ext cx="4023360" cy="3429000"/>
          </a:xfrm>
          <a:prstGeom prst="roundRect">
            <a:avLst>
              <a:gd name="adj" fmla="val 2667"/>
            </a:avLst>
          </a:prstGeom>
          <a:solidFill>
            <a:schemeClr val="bg2"/>
          </a:solidFill>
          <a:ln/>
        </p:spPr>
      </p:sp>
      <p:sp>
        <p:nvSpPr>
          <p:cNvPr id="11" name="Text 8"/>
          <p:cNvSpPr txBox="1"/>
          <p:nvPr/>
        </p:nvSpPr>
        <p:spPr>
          <a:xfrm>
            <a:off x="4846320" y="1234440"/>
            <a:ext cx="3657600" cy="36576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Selector mismatch</a:t>
            </a:r>
            <a:endParaRPr lang="en-US" sz="1800" dirty="0"/>
          </a:p>
        </p:txBody>
      </p:sp>
      <p:sp>
        <p:nvSpPr>
          <p:cNvPr id="12" name="Selector mismatch terminal output frame"/>
          <p:cNvSpPr/>
          <p:nvPr/>
        </p:nvSpPr>
        <p:spPr>
          <a:xfrm>
            <a:off x="4809744" y="1655064"/>
            <a:ext cx="3018954" cy="1536192"/>
          </a:xfrm>
          <a:prstGeom prst="roundRect">
            <a:avLst>
              <a:gd name="adj" fmla="val 2976"/>
            </a:avLst>
          </a:prstGeom>
          <a:solidFill>
            <a:schemeClr val="bg1"/>
          </a:solidFill>
          <a:ln w="9525">
            <a:solidFill>
              <a:schemeClr val="accent6"/>
            </a:solidFill>
            <a:prstDash val="solid"/>
          </a:ln>
          <a:effectLst>
            <a:outerShdw sx="100000" sy="100000" kx="0" ky="0" algn="bl" rotWithShape="0" blurRad="76200" dist="25400" dir="5400000">
              <a:srgbClr val="000000">
                <a:alpha val="18000"/>
              </a:srgbClr>
            </a:outerShdw>
          </a:effectLst>
        </p:spPr>
      </p:sp>
      <p:pic>
        <p:nvPicPr>
          <p:cNvPr id="13" name="Image 1" descr="Selector mismatch terminal output">    </p:cNvPr>
          <p:cNvPicPr>
            <a:picLocks noChangeAspect="1"/>
          </p:cNvPicPr>
          <p:nvPr/>
        </p:nvPicPr>
        <p:blipFill>
          <a:blip r:embed="rId2"/>
          <a:stretch>
            <a:fillRect/>
          </a:stretch>
        </p:blipFill>
        <p:spPr>
          <a:xfrm>
            <a:off x="4846320" y="1691640"/>
            <a:ext cx="2945802" cy="1463040"/>
          </a:xfrm>
          <a:prstGeom prst="rect">
            <a:avLst/>
          </a:prstGeom>
        </p:spPr>
      </p:pic>
      <p:sp>
        <p:nvSpPr>
          <p:cNvPr id="14" name="Text 10"/>
          <p:cNvSpPr txBox="1"/>
          <p:nvPr/>
        </p:nvSpPr>
        <p:spPr>
          <a:xfrm>
            <a:off x="4846320" y="3291840"/>
            <a:ext cx="3657600" cy="1188720"/>
          </a:xfrm>
          <a:prstGeom prst="rect">
            <a:avLst/>
          </a:prstGeom>
          <a:noFill/>
          <a:ln/>
        </p:spPr>
        <p:txBody>
          <a:bodyPr wrap="square" lIns="0" tIns="0" rIns="0" bIns="0" rtlCol="0" anchor="t"/>
          <a:lstStyle/>
          <a:p>
            <a:pPr indent="0" marL="0">
              <a:spcAft>
                <a:spcPts val="400"/>
              </a:spcAft>
              <a:buNone/>
            </a:pPr>
            <a:r>
              <a:rPr lang="en-US" sz="1200" b="1" dirty="0">
                <a:solidFill>
                  <a:schemeClr val="tx1"/>
                </a:solidFill>
              </a:rPr>
              <a:t>Symptom: </a:t>
            </a:r>
            <a:pPr indent="0" marL="0">
              <a:spcAft>
                <a:spcPts val="400"/>
              </a:spcAft>
              <a:buNone/>
            </a:pPr>
            <a:r>
              <a:rPr lang="en-US" sz="1200" dirty="0">
                <a:solidFill>
                  <a:schemeClr val="tx1"/>
                </a:solidFill>
              </a:rPr>
              <a:t>Pod Running, endpoints &lt;none&gt;</a:t>
            </a:r>
            <a:endParaRPr lang="en-US" sz="1200" dirty="0"/>
          </a:p>
          <a:p>
            <a:pPr indent="0" marL="0">
              <a:spcAft>
                <a:spcPts val="400"/>
              </a:spcAft>
              <a:buNone/>
            </a:pPr>
            <a:r>
              <a:rPr lang="en-US" sz="1200" b="1" dirty="0">
                <a:solidFill>
                  <a:schemeClr val="tx1"/>
                </a:solidFill>
              </a:rPr>
              <a:t>Cause: </a:t>
            </a:r>
            <a:pPr indent="0" marL="0">
              <a:spcAft>
                <a:spcPts val="400"/>
              </a:spcAft>
              <a:buNone/>
            </a:pPr>
            <a:r>
              <a:rPr lang="en-US" sz="1200" dirty="0">
                <a:solidFill>
                  <a:schemeClr val="tx1"/>
                </a:solidFill>
              </a:rPr>
              <a:t>Service selector app=tb-service, pod label app=tb-svc</a:t>
            </a:r>
            <a:endParaRPr lang="en-US" sz="1200" dirty="0"/>
          </a:p>
          <a:p>
            <a:pPr indent="0" marL="0">
              <a:spcAft>
                <a:spcPts val="400"/>
              </a:spcAft>
              <a:buNone/>
            </a:pPr>
            <a:r>
              <a:rPr lang="en-US" sz="1200" b="1" dirty="0">
                <a:solidFill>
                  <a:schemeClr val="tx1"/>
                </a:solidFill>
              </a:rPr>
              <a:t>Fix: </a:t>
            </a:r>
            <a:pPr indent="0" marL="0">
              <a:spcAft>
                <a:spcPts val="400"/>
              </a:spcAft>
              <a:buNone/>
            </a:pPr>
            <a:r>
              <a:rPr lang="en-US" sz="1200" dirty="0">
                <a:solidFill>
                  <a:schemeClr val="tx1"/>
                </a:solidFill>
              </a:rPr>
              <a:t>Patch the selector to match</a:t>
            </a:r>
            <a:endParaRPr lang="en-US" sz="12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1280160" y="365760"/>
            <a:ext cx="7406640" cy="566928"/>
          </a:xfrm>
          <a:prstGeom prst="rect">
            <a:avLst/>
          </a:prstGeom>
          <a:noFill/>
          <a:ln/>
        </p:spPr>
        <p:txBody>
          <a:bodyPr wrap="square" lIns="0" tIns="0" rIns="0" bIns="0" rtlCol="0" anchor="ctr"/>
          <a:lstStyle/>
          <a:p>
            <a:pPr algn="l" indent="0" marL="0">
              <a:buNone/>
            </a:pPr>
            <a:r>
              <a:rPr lang="en-US" sz="3200" b="1" dirty="0">
                <a:solidFill>
                  <a:schemeClr val="tx1"/>
                </a:solidFill>
              </a:rPr>
              <a:t>Live demo flow</a:t>
            </a:r>
            <a:endParaRPr lang="en-US" sz="3200" dirty="0"/>
          </a:p>
        </p:txBody>
      </p:sp>
      <p:sp>
        <p:nvSpPr>
          <p:cNvPr id="3" name="Module chip"/>
          <p:cNvSpPr/>
          <p:nvPr/>
        </p:nvSpPr>
        <p:spPr>
          <a:xfrm>
            <a:off x="457200" y="420624"/>
            <a:ext cx="777240" cy="457200"/>
          </a:xfrm>
          <a:prstGeom prst="roundRect">
            <a:avLst>
              <a:gd name="adj" fmla="val 20000"/>
            </a:avLst>
          </a:prstGeom>
          <a:solidFill>
            <a:schemeClr val="accent1"/>
          </a:solidFill>
          <a:ln/>
        </p:spPr>
      </p:sp>
      <p:sp>
        <p:nvSpPr>
          <p:cNvPr id="4" name="Text 2"/>
          <p:cNvSpPr txBox="1"/>
          <p:nvPr/>
        </p:nvSpPr>
        <p:spPr>
          <a:xfrm>
            <a:off x="457200" y="420624"/>
            <a:ext cx="777240" cy="457200"/>
          </a:xfrm>
          <a:prstGeom prst="rect">
            <a:avLst/>
          </a:prstGeom>
          <a:noFill/>
          <a:ln/>
        </p:spPr>
        <p:txBody>
          <a:bodyPr wrap="square" lIns="0" tIns="0" rIns="0" bIns="0" rtlCol="0" anchor="ctr"/>
          <a:lstStyle/>
          <a:p>
            <a:pPr algn="ctr" indent="0" marL="0">
              <a:buNone/>
            </a:pPr>
            <a:r>
              <a:rPr lang="en-US" sz="1400" b="1" dirty="0">
                <a:solidFill>
                  <a:schemeClr val="bg1"/>
                </a:solidFill>
              </a:rPr>
              <a:t>DEMO</a:t>
            </a:r>
            <a:endParaRPr lang="en-US" sz="1400" dirty="0"/>
          </a:p>
        </p:txBody>
      </p:sp>
      <p:sp>
        <p:nvSpPr>
          <p:cNvPr id="5" name="Demo step 1"/>
          <p:cNvSpPr/>
          <p:nvPr/>
        </p:nvSpPr>
        <p:spPr>
          <a:xfrm>
            <a:off x="960120" y="1325880"/>
            <a:ext cx="548640" cy="548640"/>
          </a:xfrm>
          <a:prstGeom prst="ellipse">
            <a:avLst/>
          </a:prstGeom>
          <a:solidFill>
            <a:schemeClr val="accent1"/>
          </a:solidFill>
          <a:ln/>
        </p:spPr>
      </p:sp>
      <p:sp>
        <p:nvSpPr>
          <p:cNvPr id="6" name="Text 4"/>
          <p:cNvSpPr txBox="1"/>
          <p:nvPr/>
        </p:nvSpPr>
        <p:spPr>
          <a:xfrm>
            <a:off x="960120" y="132588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7" name="Text 5"/>
          <p:cNvSpPr txBox="1"/>
          <p:nvPr/>
        </p:nvSpPr>
        <p:spPr>
          <a:xfrm>
            <a:off x="457200" y="2057400"/>
            <a:ext cx="1554480" cy="731520"/>
          </a:xfrm>
          <a:prstGeom prst="rect">
            <a:avLst/>
          </a:prstGeom>
          <a:noFill/>
          <a:ln/>
        </p:spPr>
        <p:txBody>
          <a:bodyPr wrap="square" lIns="0" tIns="0" rIns="0" bIns="0" rtlCol="0" anchor="t"/>
          <a:lstStyle/>
          <a:p>
            <a:pPr algn="ctr" indent="0" marL="0">
              <a:buNone/>
            </a:pPr>
            <a:r>
              <a:rPr lang="en-US" sz="1400" b="1" dirty="0">
                <a:solidFill>
                  <a:schemeClr val="tx1"/>
                </a:solidFill>
              </a:rPr>
              <a:t>Edit a visible string</a:t>
            </a:r>
            <a:endParaRPr lang="en-US" sz="1400" dirty="0"/>
          </a:p>
        </p:txBody>
      </p:sp>
      <p:sp>
        <p:nvSpPr>
          <p:cNvPr id="8" name="Text 6"/>
          <p:cNvSpPr txBox="1"/>
          <p:nvPr/>
        </p:nvSpPr>
        <p:spPr>
          <a:xfrm>
            <a:off x="457200" y="2788920"/>
            <a:ext cx="1554480" cy="640080"/>
          </a:xfrm>
          <a:prstGeom prst="rect">
            <a:avLst/>
          </a:prstGeom>
          <a:noFill/>
          <a:ln/>
        </p:spPr>
        <p:txBody>
          <a:bodyPr wrap="square" lIns="0" tIns="0" rIns="0" bIns="0" rtlCol="0" anchor="t"/>
          <a:lstStyle/>
          <a:p>
            <a:pPr algn="ctr" indent="0" marL="0">
              <a:buNone/>
            </a:pPr>
            <a:r>
              <a:rPr lang="en-US" sz="1200" dirty="0">
                <a:solidFill>
                  <a:schemeClr val="accent6"/>
                </a:solidFill>
              </a:rPr>
              <a:t>frontend/src/App.jsx</a:t>
            </a:r>
            <a:endParaRPr lang="en-US" sz="1200" dirty="0"/>
          </a:p>
        </p:txBody>
      </p:sp>
      <p:sp>
        <p:nvSpPr>
          <p:cNvPr id="9" name="Demo step 2"/>
          <p:cNvSpPr/>
          <p:nvPr/>
        </p:nvSpPr>
        <p:spPr>
          <a:xfrm>
            <a:off x="2624328" y="1325880"/>
            <a:ext cx="548640" cy="548640"/>
          </a:xfrm>
          <a:prstGeom prst="ellipse">
            <a:avLst/>
          </a:prstGeom>
          <a:solidFill>
            <a:schemeClr val="accent1"/>
          </a:solidFill>
          <a:ln/>
        </p:spPr>
      </p:sp>
      <p:sp>
        <p:nvSpPr>
          <p:cNvPr id="10" name="Text 8"/>
          <p:cNvSpPr txBox="1"/>
          <p:nvPr/>
        </p:nvSpPr>
        <p:spPr>
          <a:xfrm>
            <a:off x="2624328" y="132588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1" name="Text 9"/>
          <p:cNvSpPr txBox="1"/>
          <p:nvPr/>
        </p:nvSpPr>
        <p:spPr>
          <a:xfrm>
            <a:off x="2121408" y="2057400"/>
            <a:ext cx="1554480" cy="731520"/>
          </a:xfrm>
          <a:prstGeom prst="rect">
            <a:avLst/>
          </a:prstGeom>
          <a:noFill/>
          <a:ln/>
        </p:spPr>
        <p:txBody>
          <a:bodyPr wrap="square" lIns="0" tIns="0" rIns="0" bIns="0" rtlCol="0" anchor="t"/>
          <a:lstStyle/>
          <a:p>
            <a:pPr algn="ctr" indent="0" marL="0">
              <a:buNone/>
            </a:pPr>
            <a:r>
              <a:rPr lang="en-US" sz="1400" b="1" dirty="0">
                <a:solidFill>
                  <a:schemeClr val="tx1"/>
                </a:solidFill>
              </a:rPr>
              <a:t>git commit and push</a:t>
            </a:r>
            <a:endParaRPr lang="en-US" sz="1400" dirty="0"/>
          </a:p>
        </p:txBody>
      </p:sp>
      <p:sp>
        <p:nvSpPr>
          <p:cNvPr id="12" name="Text 10"/>
          <p:cNvSpPr txBox="1"/>
          <p:nvPr/>
        </p:nvSpPr>
        <p:spPr>
          <a:xfrm>
            <a:off x="2121408" y="2788920"/>
            <a:ext cx="1554480" cy="640080"/>
          </a:xfrm>
          <a:prstGeom prst="rect">
            <a:avLst/>
          </a:prstGeom>
          <a:noFill/>
          <a:ln/>
        </p:spPr>
        <p:txBody>
          <a:bodyPr wrap="square" lIns="0" tIns="0" rIns="0" bIns="0" rtlCol="0" anchor="t"/>
          <a:lstStyle/>
          <a:p>
            <a:pPr algn="ctr" indent="0" marL="0">
              <a:buNone/>
            </a:pPr>
            <a:r>
              <a:rPr lang="en-US" sz="1200" dirty="0">
                <a:solidFill>
                  <a:schemeClr val="accent6"/>
                </a:solidFill>
              </a:rPr>
              <a:t>triggers Actions</a:t>
            </a:r>
            <a:endParaRPr lang="en-US" sz="1200" dirty="0"/>
          </a:p>
        </p:txBody>
      </p:sp>
      <p:sp>
        <p:nvSpPr>
          <p:cNvPr id="13" name="Demo step 3"/>
          <p:cNvSpPr/>
          <p:nvPr/>
        </p:nvSpPr>
        <p:spPr>
          <a:xfrm>
            <a:off x="4288536" y="1325880"/>
            <a:ext cx="548640" cy="548640"/>
          </a:xfrm>
          <a:prstGeom prst="ellipse">
            <a:avLst/>
          </a:prstGeom>
          <a:solidFill>
            <a:schemeClr val="accent1"/>
          </a:solidFill>
          <a:ln/>
        </p:spPr>
      </p:sp>
      <p:sp>
        <p:nvSpPr>
          <p:cNvPr id="14" name="Text 12"/>
          <p:cNvSpPr txBox="1"/>
          <p:nvPr/>
        </p:nvSpPr>
        <p:spPr>
          <a:xfrm>
            <a:off x="4288536" y="132588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5" name="Text 13"/>
          <p:cNvSpPr txBox="1"/>
          <p:nvPr/>
        </p:nvSpPr>
        <p:spPr>
          <a:xfrm>
            <a:off x="3785616" y="2057400"/>
            <a:ext cx="1554480" cy="731520"/>
          </a:xfrm>
          <a:prstGeom prst="rect">
            <a:avLst/>
          </a:prstGeom>
          <a:noFill/>
          <a:ln/>
        </p:spPr>
        <p:txBody>
          <a:bodyPr wrap="square" lIns="0" tIns="0" rIns="0" bIns="0" rtlCol="0" anchor="t"/>
          <a:lstStyle/>
          <a:p>
            <a:pPr algn="ctr" indent="0" marL="0">
              <a:buNone/>
            </a:pPr>
            <a:r>
              <a:rPr lang="en-US" sz="1400" b="1" dirty="0">
                <a:solidFill>
                  <a:schemeClr val="tx1"/>
                </a:solidFill>
              </a:rPr>
              <a:t>Pipeline runs</a:t>
            </a:r>
            <a:endParaRPr lang="en-US" sz="1400" dirty="0"/>
          </a:p>
        </p:txBody>
      </p:sp>
      <p:sp>
        <p:nvSpPr>
          <p:cNvPr id="16" name="Text 14"/>
          <p:cNvSpPr txBox="1"/>
          <p:nvPr/>
        </p:nvSpPr>
        <p:spPr>
          <a:xfrm>
            <a:off x="3785616" y="2788920"/>
            <a:ext cx="1554480" cy="640080"/>
          </a:xfrm>
          <a:prstGeom prst="rect">
            <a:avLst/>
          </a:prstGeom>
          <a:noFill/>
          <a:ln/>
        </p:spPr>
        <p:txBody>
          <a:bodyPr wrap="square" lIns="0" tIns="0" rIns="0" bIns="0" rtlCol="0" anchor="t"/>
          <a:lstStyle/>
          <a:p>
            <a:pPr algn="ctr" indent="0" marL="0">
              <a:buNone/>
            </a:pPr>
            <a:r>
              <a:rPr lang="en-US" sz="1200" dirty="0">
                <a:solidFill>
                  <a:schemeClr val="accent6"/>
                </a:solidFill>
              </a:rPr>
              <a:t>tests, build, Trivy, push</a:t>
            </a:r>
            <a:endParaRPr lang="en-US" sz="1200" dirty="0"/>
          </a:p>
        </p:txBody>
      </p:sp>
      <p:sp>
        <p:nvSpPr>
          <p:cNvPr id="17" name="Demo step 4"/>
          <p:cNvSpPr/>
          <p:nvPr/>
        </p:nvSpPr>
        <p:spPr>
          <a:xfrm>
            <a:off x="5952744" y="1325880"/>
            <a:ext cx="548640" cy="548640"/>
          </a:xfrm>
          <a:prstGeom prst="ellipse">
            <a:avLst/>
          </a:prstGeom>
          <a:solidFill>
            <a:schemeClr val="accent1"/>
          </a:solidFill>
          <a:ln/>
        </p:spPr>
      </p:sp>
      <p:sp>
        <p:nvSpPr>
          <p:cNvPr id="18" name="Text 16"/>
          <p:cNvSpPr txBox="1"/>
          <p:nvPr/>
        </p:nvSpPr>
        <p:spPr>
          <a:xfrm>
            <a:off x="5952744" y="132588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9" name="Text 17"/>
          <p:cNvSpPr txBox="1"/>
          <p:nvPr/>
        </p:nvSpPr>
        <p:spPr>
          <a:xfrm>
            <a:off x="5449824" y="2057400"/>
            <a:ext cx="1554480" cy="731520"/>
          </a:xfrm>
          <a:prstGeom prst="rect">
            <a:avLst/>
          </a:prstGeom>
          <a:noFill/>
          <a:ln/>
        </p:spPr>
        <p:txBody>
          <a:bodyPr wrap="square" lIns="0" tIns="0" rIns="0" bIns="0" rtlCol="0" anchor="t"/>
          <a:lstStyle/>
          <a:p>
            <a:pPr algn="ctr" indent="0" marL="0">
              <a:buNone/>
            </a:pPr>
            <a:r>
              <a:rPr lang="en-US" sz="1400" b="1" dirty="0">
                <a:solidFill>
                  <a:schemeClr val="tx1"/>
                </a:solidFill>
              </a:rPr>
              <a:t>scripts/deploy.sh &lt;sha&gt;</a:t>
            </a:r>
            <a:endParaRPr lang="en-US" sz="1400" dirty="0"/>
          </a:p>
        </p:txBody>
      </p:sp>
      <p:sp>
        <p:nvSpPr>
          <p:cNvPr id="20" name="Text 18"/>
          <p:cNvSpPr txBox="1"/>
          <p:nvPr/>
        </p:nvSpPr>
        <p:spPr>
          <a:xfrm>
            <a:off x="5449824" y="2788920"/>
            <a:ext cx="1554480" cy="640080"/>
          </a:xfrm>
          <a:prstGeom prst="rect">
            <a:avLst/>
          </a:prstGeom>
          <a:noFill/>
          <a:ln/>
        </p:spPr>
        <p:txBody>
          <a:bodyPr wrap="square" lIns="0" tIns="0" rIns="0" bIns="0" rtlCol="0" anchor="t"/>
          <a:lstStyle/>
          <a:p>
            <a:pPr algn="ctr" indent="0" marL="0">
              <a:buNone/>
            </a:pPr>
            <a:r>
              <a:rPr lang="en-US" sz="1200" dirty="0">
                <a:solidFill>
                  <a:schemeClr val="accent6"/>
                </a:solidFill>
              </a:rPr>
              <a:t>helm upgrade</a:t>
            </a:r>
            <a:endParaRPr lang="en-US" sz="1200" dirty="0"/>
          </a:p>
        </p:txBody>
      </p:sp>
      <p:sp>
        <p:nvSpPr>
          <p:cNvPr id="21" name="Demo step 5"/>
          <p:cNvSpPr/>
          <p:nvPr/>
        </p:nvSpPr>
        <p:spPr>
          <a:xfrm>
            <a:off x="7616952" y="1325880"/>
            <a:ext cx="548640" cy="548640"/>
          </a:xfrm>
          <a:prstGeom prst="ellipse">
            <a:avLst/>
          </a:prstGeom>
          <a:solidFill>
            <a:schemeClr val="accent1"/>
          </a:solidFill>
          <a:ln/>
        </p:spPr>
      </p:sp>
      <p:sp>
        <p:nvSpPr>
          <p:cNvPr id="22" name="Text 20"/>
          <p:cNvSpPr txBox="1"/>
          <p:nvPr/>
        </p:nvSpPr>
        <p:spPr>
          <a:xfrm>
            <a:off x="7616952" y="132588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23" name="Text 21"/>
          <p:cNvSpPr txBox="1"/>
          <p:nvPr/>
        </p:nvSpPr>
        <p:spPr>
          <a:xfrm>
            <a:off x="7114032" y="2057400"/>
            <a:ext cx="1554480" cy="731520"/>
          </a:xfrm>
          <a:prstGeom prst="rect">
            <a:avLst/>
          </a:prstGeom>
          <a:noFill/>
          <a:ln/>
        </p:spPr>
        <p:txBody>
          <a:bodyPr wrap="square" lIns="0" tIns="0" rIns="0" bIns="0" rtlCol="0" anchor="t"/>
          <a:lstStyle/>
          <a:p>
            <a:pPr algn="ctr" indent="0" marL="0">
              <a:buNone/>
            </a:pPr>
            <a:r>
              <a:rPr lang="en-US" sz="1400" b="1" dirty="0">
                <a:solidFill>
                  <a:schemeClr val="tx1"/>
                </a:solidFill>
              </a:rPr>
              <a:t>Refresh the browser</a:t>
            </a:r>
            <a:endParaRPr lang="en-US" sz="1400" dirty="0"/>
          </a:p>
        </p:txBody>
      </p:sp>
      <p:sp>
        <p:nvSpPr>
          <p:cNvPr id="24" name="Text 22"/>
          <p:cNvSpPr txBox="1"/>
          <p:nvPr/>
        </p:nvSpPr>
        <p:spPr>
          <a:xfrm>
            <a:off x="7114032" y="2788920"/>
            <a:ext cx="1554480" cy="640080"/>
          </a:xfrm>
          <a:prstGeom prst="rect">
            <a:avLst/>
          </a:prstGeom>
          <a:noFill/>
          <a:ln/>
        </p:spPr>
        <p:txBody>
          <a:bodyPr wrap="square" lIns="0" tIns="0" rIns="0" bIns="0" rtlCol="0" anchor="t"/>
          <a:lstStyle/>
          <a:p>
            <a:pPr algn="ctr" indent="0" marL="0">
              <a:buNone/>
            </a:pPr>
            <a:r>
              <a:rPr lang="en-US" sz="1200" dirty="0">
                <a:solidFill>
                  <a:schemeClr val="accent6"/>
                </a:solidFill>
              </a:rPr>
              <a:t>new text is live</a:t>
            </a:r>
            <a:endParaRPr lang="en-US" sz="1200" dirty="0"/>
          </a:p>
        </p:txBody>
      </p:sp>
      <p:sp>
        <p:nvSpPr>
          <p:cNvPr id="25" name="Text 23"/>
          <p:cNvSpPr txBox="1"/>
          <p:nvPr/>
        </p:nvSpPr>
        <p:spPr>
          <a:xfrm>
            <a:off x="457200" y="3840480"/>
            <a:ext cx="8229600" cy="457200"/>
          </a:xfrm>
          <a:prstGeom prst="rect">
            <a:avLst/>
          </a:prstGeom>
          <a:noFill/>
          <a:ln/>
        </p:spPr>
        <p:txBody>
          <a:bodyPr wrap="square" lIns="0" tIns="0" rIns="0" bIns="0" rtlCol="0" anchor="ctr"/>
          <a:lstStyle/>
          <a:p>
            <a:pPr indent="0" marL="0">
              <a:buNone/>
            </a:pPr>
            <a:r>
              <a:rPr lang="en-US" sz="1600" i="1" dirty="0">
                <a:solidFill>
                  <a:schemeClr val="accent1"/>
                </a:solidFill>
              </a:rPr>
              <a:t>Commit a change, watch the pipeline run, see the deployment update.</a:t>
            </a:r>
            <a:endParaRPr lang="en-US" sz="16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8046720" cy="822960"/>
          </a:xfrm>
          <a:prstGeom prst="rect">
            <a:avLst/>
          </a:prstGeom>
          <a:noFill/>
          <a:ln/>
        </p:spPr>
        <p:txBody>
          <a:bodyPr wrap="square" lIns="0" tIns="0" rIns="0" bIns="0" rtlCol="0" anchor="ctr"/>
          <a:lstStyle/>
          <a:p>
            <a:pPr algn="l" indent="0" marL="0">
              <a:buNone/>
            </a:pPr>
            <a:r>
              <a:rPr lang="en-US" sz="4000" b="1" dirty="0">
                <a:solidFill>
                  <a:schemeClr val="bg1"/>
                </a:solidFill>
              </a:rPr>
              <a:t>What I learned</a:t>
            </a:r>
            <a:endParaRPr lang="en-US" sz="4000" dirty="0"/>
          </a:p>
        </p:txBody>
      </p:sp>
      <p:sp>
        <p:nvSpPr>
          <p:cNvPr id="3" name="Lesson 1"/>
          <p:cNvSpPr/>
          <p:nvPr/>
        </p:nvSpPr>
        <p:spPr>
          <a:xfrm>
            <a:off x="548640" y="1508760"/>
            <a:ext cx="457200" cy="457200"/>
          </a:xfrm>
          <a:prstGeom prst="ellipse">
            <a:avLst/>
          </a:prstGeom>
          <a:solidFill>
            <a:schemeClr val="accent1"/>
          </a:solidFill>
          <a:ln/>
        </p:spPr>
      </p:sp>
      <p:sp>
        <p:nvSpPr>
          <p:cNvPr id="4" name="Text 2"/>
          <p:cNvSpPr txBox="1"/>
          <p:nvPr/>
        </p:nvSpPr>
        <p:spPr>
          <a:xfrm>
            <a:off x="548640" y="15087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3"/>
          <p:cNvSpPr txBox="1"/>
          <p:nvPr/>
        </p:nvSpPr>
        <p:spPr>
          <a:xfrm>
            <a:off x="1188720" y="1463040"/>
            <a:ext cx="7406640" cy="548640"/>
          </a:xfrm>
          <a:prstGeom prst="rect">
            <a:avLst/>
          </a:prstGeom>
          <a:noFill/>
          <a:ln/>
        </p:spPr>
        <p:txBody>
          <a:bodyPr wrap="square" lIns="0" tIns="0" rIns="0" bIns="0" rtlCol="0" anchor="ctr"/>
          <a:lstStyle/>
          <a:p>
            <a:pPr indent="0" marL="0">
              <a:buNone/>
            </a:pPr>
            <a:r>
              <a:rPr lang="en-US" sz="1600" dirty="0">
                <a:solidFill>
                  <a:schemeClr val="bg1"/>
                </a:solidFill>
              </a:rPr>
              <a:t>A passing build is not a secure build: Trivy failed my first images</a:t>
            </a:r>
            <a:endParaRPr lang="en-US" sz="1600" dirty="0"/>
          </a:p>
        </p:txBody>
      </p:sp>
      <p:sp>
        <p:nvSpPr>
          <p:cNvPr id="6" name="Lesson 2"/>
          <p:cNvSpPr/>
          <p:nvPr/>
        </p:nvSpPr>
        <p:spPr>
          <a:xfrm>
            <a:off x="548640" y="2194560"/>
            <a:ext cx="457200" cy="457200"/>
          </a:xfrm>
          <a:prstGeom prst="ellipse">
            <a:avLst/>
          </a:prstGeom>
          <a:solidFill>
            <a:schemeClr val="accent1"/>
          </a:solidFill>
          <a:ln/>
        </p:spPr>
      </p:sp>
      <p:sp>
        <p:nvSpPr>
          <p:cNvPr id="7" name="Text 5"/>
          <p:cNvSpPr txBox="1"/>
          <p:nvPr/>
        </p:nvSpPr>
        <p:spPr>
          <a:xfrm>
            <a:off x="548640" y="21945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8" name="Text 6"/>
          <p:cNvSpPr txBox="1"/>
          <p:nvPr/>
        </p:nvSpPr>
        <p:spPr>
          <a:xfrm>
            <a:off x="1188720" y="2148840"/>
            <a:ext cx="7406640" cy="548640"/>
          </a:xfrm>
          <a:prstGeom prst="rect">
            <a:avLst/>
          </a:prstGeom>
          <a:noFill/>
          <a:ln/>
        </p:spPr>
        <p:txBody>
          <a:bodyPr wrap="square" lIns="0" tIns="0" rIns="0" bIns="0" rtlCol="0" anchor="ctr"/>
          <a:lstStyle/>
          <a:p>
            <a:pPr indent="0" marL="0">
              <a:buNone/>
            </a:pPr>
            <a:r>
              <a:rPr lang="en-US" sz="1600" dirty="0">
                <a:solidFill>
                  <a:schemeClr val="bg1"/>
                </a:solidFill>
              </a:rPr>
              <a:t>nginx needs a runtime resolver and the full Service DNS name (502 became 200)</a:t>
            </a:r>
            <a:endParaRPr lang="en-US" sz="1600" dirty="0"/>
          </a:p>
        </p:txBody>
      </p:sp>
      <p:sp>
        <p:nvSpPr>
          <p:cNvPr id="9" name="Lesson 3"/>
          <p:cNvSpPr/>
          <p:nvPr/>
        </p:nvSpPr>
        <p:spPr>
          <a:xfrm>
            <a:off x="548640" y="2880360"/>
            <a:ext cx="457200" cy="457200"/>
          </a:xfrm>
          <a:prstGeom prst="ellipse">
            <a:avLst/>
          </a:prstGeom>
          <a:solidFill>
            <a:schemeClr val="accent1"/>
          </a:solidFill>
          <a:ln/>
        </p:spPr>
      </p:sp>
      <p:sp>
        <p:nvSpPr>
          <p:cNvPr id="10" name="Text 8"/>
          <p:cNvSpPr txBox="1"/>
          <p:nvPr/>
        </p:nvSpPr>
        <p:spPr>
          <a:xfrm>
            <a:off x="548640" y="28803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1" name="Text 9"/>
          <p:cNvSpPr txBox="1"/>
          <p:nvPr/>
        </p:nvSpPr>
        <p:spPr>
          <a:xfrm>
            <a:off x="1188720" y="2834640"/>
            <a:ext cx="7406640" cy="548640"/>
          </a:xfrm>
          <a:prstGeom prst="rect">
            <a:avLst/>
          </a:prstGeom>
          <a:noFill/>
          <a:ln/>
        </p:spPr>
        <p:txBody>
          <a:bodyPr wrap="square" lIns="0" tIns="0" rIns="0" bIns="0" rtlCol="0" anchor="ctr"/>
          <a:lstStyle/>
          <a:p>
            <a:pPr indent="0" marL="0">
              <a:buNone/>
            </a:pPr>
            <a:r>
              <a:rPr lang="en-US" sz="1600" dirty="0">
                <a:solidFill>
                  <a:schemeClr val="bg1"/>
                </a:solidFill>
              </a:rPr>
              <a:t>Running is not Ready, and Ready is not reachable</a:t>
            </a:r>
            <a:endParaRPr lang="en-US" sz="1600" dirty="0"/>
          </a:p>
        </p:txBody>
      </p:sp>
      <p:sp>
        <p:nvSpPr>
          <p:cNvPr id="12" name="Lesson 4"/>
          <p:cNvSpPr/>
          <p:nvPr/>
        </p:nvSpPr>
        <p:spPr>
          <a:xfrm>
            <a:off x="548640" y="3566160"/>
            <a:ext cx="457200" cy="457200"/>
          </a:xfrm>
          <a:prstGeom prst="ellipse">
            <a:avLst/>
          </a:prstGeom>
          <a:solidFill>
            <a:schemeClr val="accent1"/>
          </a:solidFill>
          <a:ln/>
        </p:spPr>
      </p:sp>
      <p:sp>
        <p:nvSpPr>
          <p:cNvPr id="13" name="Text 11"/>
          <p:cNvSpPr txBox="1"/>
          <p:nvPr/>
        </p:nvSpPr>
        <p:spPr>
          <a:xfrm>
            <a:off x="548640" y="35661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4" name="Text 12"/>
          <p:cNvSpPr txBox="1"/>
          <p:nvPr/>
        </p:nvSpPr>
        <p:spPr>
          <a:xfrm>
            <a:off x="1188720" y="3520440"/>
            <a:ext cx="7406640" cy="548640"/>
          </a:xfrm>
          <a:prstGeom prst="rect">
            <a:avLst/>
          </a:prstGeom>
          <a:noFill/>
          <a:ln/>
        </p:spPr>
        <p:txBody>
          <a:bodyPr wrap="square" lIns="0" tIns="0" rIns="0" bIns="0" rtlCol="0" anchor="ctr"/>
          <a:lstStyle/>
          <a:p>
            <a:pPr indent="0" marL="0">
              <a:buNone/>
            </a:pPr>
            <a:r>
              <a:rPr lang="en-US" sz="1600" dirty="0">
                <a:solidFill>
                  <a:schemeClr val="bg1"/>
                </a:solidFill>
              </a:rPr>
              <a:t>Secrets are generated, never committed</a:t>
            </a:r>
            <a:endParaRPr lang="en-US" sz="1600" dirty="0"/>
          </a:p>
        </p:txBody>
      </p:sp>
      <p:sp>
        <p:nvSpPr>
          <p:cNvPr id="15" name="Text 13"/>
          <p:cNvSpPr txBox="1"/>
          <p:nvPr/>
        </p:nvSpPr>
        <p:spPr>
          <a:xfrm>
            <a:off x="548640" y="4343400"/>
            <a:ext cx="8046720" cy="457200"/>
          </a:xfrm>
          <a:prstGeom prst="rect">
            <a:avLst/>
          </a:prstGeom>
          <a:noFill/>
          <a:ln/>
        </p:spPr>
        <p:txBody>
          <a:bodyPr wrap="square" lIns="0" tIns="0" rIns="0" bIns="0" rtlCol="0" anchor="ctr"/>
          <a:lstStyle/>
          <a:p>
            <a:pPr indent="0" marL="0">
              <a:buNone/>
            </a:pPr>
            <a:r>
              <a:rPr lang="en-US" sz="2400" b="1" dirty="0">
                <a:solidFill>
                  <a:schemeClr val="accent2"/>
                </a:solidFill>
                <a:latin typeface="Cambria" pitchFamily="34" charset="0"/>
                <a:ea typeface="Cambria" pitchFamily="34" charset="-122"/>
                <a:cs typeface="Cambria" pitchFamily="34" charset="-120"/>
              </a:rPr>
              <a:t>Thank you</a:t>
            </a:r>
            <a:endParaRPr lang="en-US" sz="2400" dirty="0"/>
          </a:p>
        </p:txBody>
      </p:sp>
    </p:spTree>
  </p:cSld>
  <p:clrMapOvr>
    <a:masterClrMapping/>
  </p:clrMapOvr>
</p:sld>
</file>

<file path=ppt/theme/theme1.xml><?xml version="1.0" encoding="utf-8"?>
<a:theme xmlns:a="http://schemas.openxmlformats.org/drawingml/2006/main" name="PlaceTrack">
  <a:themeElements>
    <a:clrScheme name="PlaceTrack">
      <a:dk1>
        <a:srgbClr val="0F172A"/>
      </a:dk1>
      <a:lt1>
        <a:srgbClr val="FFFFFF"/>
      </a:lt1>
      <a:dk2>
        <a:srgbClr val="1E293B"/>
      </a:dk2>
      <a:lt2>
        <a:srgbClr val="F1F5F9"/>
      </a:lt2>
      <a:accent1>
        <a:srgbClr val="0D9488"/>
      </a:accent1>
      <a:accent2>
        <a:srgbClr val="F59E0B"/>
      </a:accent2>
      <a:accent3>
        <a:srgbClr val="6366F1"/>
      </a:accent3>
      <a:accent4>
        <a:srgbClr val="DC2626"/>
      </a:accent4>
      <a:accent5>
        <a:srgbClr val="16A34A"/>
      </a:accent5>
      <a:accent6>
        <a:srgbClr val="64748B"/>
      </a:accent6>
      <a:hlink>
        <a:srgbClr val="0EA5E9"/>
      </a:hlink>
      <a:folHlink>
        <a:srgbClr val="7C3AED"/>
      </a:folHlink>
    </a:clrScheme>
    <a:fontScheme name="PlaceTrac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PlaceTrack - DevOps Capstone</dc:title>
  <dc:subject>PptxGenJS Presentation</dc:subject>
  <dc:creator>Raghavendra</dc:creator>
  <cp:lastModifiedBy>Raghavendra</cp:lastModifiedBy>
  <cp:revision>1</cp:revision>
  <dcterms:created xsi:type="dcterms:W3CDTF">2026-10-08T16:28:22Z</dcterms:created>
  <dcterms:modified xsi:type="dcterms:W3CDTF">2026-10-08T16:28:22Z</dcterms:modified>
</cp:coreProperties>
</file>