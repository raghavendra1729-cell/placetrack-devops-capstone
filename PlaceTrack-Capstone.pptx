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72" r:id="rId23"/>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cf8cc1c-15cb-4685-2213-f2cecb6c1a68}">
          <p14:sldIdLst>
            <p14:sldId id="256"/>
            <p14:sldId id="257"/>
          </p14:sldIdLst>
        </p14:section>
        <p14:section name="App and tests" id="{b315a135-ce3b-09e6-e4a0-0c55c82565c7}">
          <p14:sldIdLst>
            <p14:sldId id="258"/>
            <p14:sldId id="259"/>
            <p14:sldId id="260"/>
          </p14:sldIdLst>
        </p14:section>
        <p14:section name="Containers and CI" id="{79bea056-e1e2-6a29-acba-468ba5b294dd}">
          <p14:sldIdLst>
            <p14:sldId id="261"/>
            <p14:sldId id="262"/>
            <p14:sldId id="263"/>
          </p14:sldIdLst>
        </p14:section>
        <p14:section name="Infrastructure" id="{73ea2442-eb2c-b75f-522d-b0dbeff96b71}">
          <p14:sldIdLst>
            <p14:sldId id="264"/>
            <p14:sldId id="265"/>
            <p14:sldId id="266"/>
            <p14:sldId id="267"/>
          </p14:sldIdLst>
        </p14:section>
        <p14:section name="Operations" id="{985206ae-813a-9821-7048-4a256289cbe7}">
          <p14:sldIdLst>
            <p14:sldId id="268"/>
            <p14:sldId id="269"/>
            <p14:sldId id="270"/>
          </p14:sldIdLst>
        </p14:section>
        <p14:section name="Close" id="{8d4e89e0-f6be-dd8d-55e1-d3e24b1ef3f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 am Raghavendra. This is my DevOps capstone: PlaceTrack, a job application tracker. The app is small on purpose. The project is everything around it: testing, containers, CI/CD, security scanning, Terraform, Kubernetes with Helm, and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PlaceTrack lets me track every job application. Code goes through GitHub Actions for tests, builds and a security scan, images go to a registry tagged with the commit, Terraform builds the AWS network and cluster, Helm deploys, and Prometheus and Grafana watch it. All screenshots in this deck are from my own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and an Alembic migration that creates the jobs table in PostgreSQL. It has full create, read, update, delete endpoints plus a stats endpoint, and health, ready and metrics endpoints for Kubernetes and Prometheus. The React dashboard shows counts, filters and an add and edit form, and it reflows to phone width, as you can see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sixteen pytest tests. They never touch the real database: FastAPI's dependency override swaps in an in-memory SQLite database. They cover every endpoint, the 404 and validation errors, the metrics endpoint, and the readiness check returning 503 when the database is unavailable. This is the real pytest output from my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 control is small, descriptive commits. The gitignore keeps environment files, caches, node modules, virtual environments and Terraform state out of the repository, and Gitleaks confirms there are no secrets anywhere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and frontend images both run as non-root users. The frontend Dockerfile is multi-stage: Node builds the bundle, and an unprivileged nginx image serves it. One command, docker compose up with build, starts Postgres, the backend with its migrations, and the frontend. The screenshot shows the compose output: Postgres healthy, the frontend nginx started and the backend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runs on every push to main. It runs pytest, builds the frontend, builds both Docker images, scans them with Trivy, and only then pushes them to GitHub Container Registry, tagged with the commit SHA instead of latest. If a test fails or Trivy finds a fixable high or critical vulnerability, nothing is published. The actions are pinned to exact commits and only the image job can write packages. After the push, a deploy job runs on a self-hosted runner on my laptop and does a Helm upgrade with the same commit SHA.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both images for fixable high and critical vulnerabilities and fails the pipeline if it finds any. My first scan failed: the backend had three high findings in Starlette, for example CVE-2025-62727, where crafted Range headers can cause denial of service, and the old nginx base image had forty-two high and critical findings in system libraries such as OpenSSL. I fixed them by upgrading FastAPI, which brings a patched Starlette, and moving to a current nginx image. Both scans now exit with zero. The screenshot is the Trivy step from the pipeline run on GitHub, with zero vulnerabilities in the backend image. A clean scan means no fixable high or critical vulnerability exists in the image at scan time, which is why it runs on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a VPC with two public subnets in two availability zones and an EKS 1.35 cluster with a managed node group of two t3.small nodes. I limited the cluster API to my own IP address. The plan shows forty-nine resources to add. The apply created all forty-nine, and terraform destroy removed all forty-nine afterwards, so nothing is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shows the VPC with its two public subnets and the EKS 1.35 cluster as Active with one node group and two nodes. After taking the screenshots I ran terraform destroy. It removed all forty-nine resources, and a check afterwards showed no cluster, no VPC and an empty Terraform state, so nothing is left to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Helm chart deploys everything into the placetrack namespace: two replicas each of the backend and frontend, a Postgres StatefulSet, ClusterIP services, an Ingress that sends slash to the frontend and slash api to the backend, and a horizontal pod autoscaler. A Helm hook job runs the database migration after install. The terminal shows the pods, the services, the Helm release, the Ingress and the autoscaler. All pods are running with zero restarts.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application loaded in a browser through the Kubernetes Ingress controller. The page comes from the frontend service, and its calls to slash api are routed by the same Ingress to the backend, which talks to Postgres.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 ServiceMonitor tells Prometheus to scrape both backend pods, and the targets page shows both up. The Grafana dashboard I built shows request rate per endpoint, the ninety-fifth percentile latency, error responses and the number of healthy backend pods. These panels have live data from a load test, not mock data. The pods up panel shows three because the HPA added a third backend pod during the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cluster in two ways and fixed both. First, a deployment with an image tag that does not exist ends in ErrImagePull and ImagePullBackOff; describe pod showed the pull failure and the fix was a valid tag. Second, a service whose selector had a typo: the pod was Running but the service had no endpoints, so nothing was reachable. Comparing the selector with the pod labels revealed it. The full five-step write-ups are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live demo I change a visible string in the React app, commit and push. GitHub Actions runs the tests, builds, scans and pushes the images tagged with the new commit. Then the deploy job on my laptop runner runs helm upgrade with that SHA, the new pods roll out, and refreshing the browser shows the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I will remember. A passing build is not a secure build: Trivy failed my first images and I had to fix real vulnerabilities. nginx resolves upstream names once at startup, which caused a crash loop until I used a runtime resolver, and a request through the frontend service then showed that the resolver ignores search domains, so I switched to the full service DNS name and the 502 became a 200. Running does not mean ready, and ready does not mean reachable. And secrets are generated at deploy time, never committed.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run four of the pipeline on GitHub. All five jobs passed: the tests, the frontend build, the backend and frontend images, each one built, scanned by Trivy and pushed, and the deploy job on my laptop runner, which rolled the new images out with Helm. On the right are the two images in GitHub Container Registry. They are public and tagged with the commit SHA instead of latest, so every image can be traced back to the exact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457200" y="4773168"/>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PlaceTrack  |  DevOps Capstone</a:t>
            </a:r>
            <a:endParaRPr lang="en-US" sz="1000" dirty="0"/>
          </a:p>
        </p:txBody>
      </p:sp>
      <p:sp>
        <p:nvSpPr>
          <p:cNvPr id="3" name="Text 1"/>
          <p:cNvSpPr/>
          <p:nvPr>
            <p:ph idx="101" type="title" hasCustomPrompt="1"/>
          </p:nvPr>
        </p:nvSpPr>
        <p:spPr>
          <a:xfrm>
            <a:off x="1280160" y="365760"/>
            <a:ext cx="7406640" cy="566928"/>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pipeline-run.png"/><Relationship Id="rId2" Type="http://schemas.openxmlformats.org/officeDocument/2006/relationships/image" Target="../media/pipeline-ghcr-backend.png"/><Relationship Id="rId3" Type="http://schemas.openxmlformats.org/officeDocument/2006/relationships/slideLayout" Target="../slideLayouts/slideLayout2.xml"/><Relationship Id="rId4" Type="http://schemas.openxmlformats.org/officeDocument/2006/relationships/notesSlide" Target="../notesSlides/notesSlide17.xml"/><Relationship Id="rId5" Type="http://schemas.openxmlformats.org/officeDocument/2006/relationships/image" Target="../media/pipeline-ghcr-frontend.png"/></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8046720" cy="1005840"/>
          </a:xfrm>
          <a:prstGeom prst="rect">
            <a:avLst/>
          </a:prstGeom>
          <a:noFill/>
          <a:ln/>
        </p:spPr>
        <p:txBody>
          <a:bodyPr wrap="square" lIns="0" tIns="0" rIns="0" bIns="0" rtlCol="0" anchor="ctr"/>
          <a:lstStyle/>
          <a:p>
            <a:pPr indent="0" marL="0">
              <a:buNone/>
            </a:pPr>
            <a:r>
              <a:rPr lang="en-US" sz="6000" b="1" dirty="0">
                <a:solidFill>
                  <a:schemeClr val="bg1"/>
                </a:solidFill>
                <a:latin typeface="Cambria" pitchFamily="34" charset="0"/>
                <a:ea typeface="Cambria" pitchFamily="34" charset="-122"/>
                <a:cs typeface="Cambria" pitchFamily="34" charset="-120"/>
              </a:rPr>
              <a:t>PlaceTrack</a:t>
            </a:r>
            <a:endParaRPr lang="en-US" sz="6000" dirty="0"/>
          </a:p>
        </p:txBody>
      </p:sp>
      <p:sp>
        <p:nvSpPr>
          <p:cNvPr id="3" name="Text 1"/>
          <p:cNvSpPr txBox="1"/>
          <p:nvPr/>
        </p:nvSpPr>
        <p:spPr>
          <a:xfrm>
            <a:off x="548640" y="2103120"/>
            <a:ext cx="8046720" cy="548640"/>
          </a:xfrm>
          <a:prstGeom prst="rect">
            <a:avLst/>
          </a:prstGeom>
          <a:noFill/>
          <a:ln/>
        </p:spPr>
        <p:txBody>
          <a:bodyPr wrap="square" lIns="0" tIns="0" rIns="0" bIns="0" rtlCol="0" anchor="ctr"/>
          <a:lstStyle/>
          <a:p>
            <a:pPr indent="0" marL="0">
              <a:buNone/>
            </a:pPr>
            <a:r>
              <a:rPr lang="en-US" sz="2400" dirty="0">
                <a:solidFill>
                  <a:schemeClr val="accent1"/>
                </a:solidFill>
              </a:rPr>
              <a:t>From a laptop to a monitored Kubernetes cluster</a:t>
            </a:r>
            <a:endParaRPr lang="en-US" sz="2400" dirty="0"/>
          </a:p>
        </p:txBody>
      </p:sp>
      <p:sp>
        <p:nvSpPr>
          <p:cNvPr id="4" name="Text 2"/>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800" dirty="0">
                <a:solidFill>
                  <a:schemeClr val="bg1"/>
                </a:solidFill>
              </a:rPr>
              <a:t>DevOps Final Capstone</a:t>
            </a:r>
            <a:endParaRPr lang="en-US" sz="1800" dirty="0"/>
          </a:p>
        </p:txBody>
      </p:sp>
      <p:sp>
        <p:nvSpPr>
          <p:cNvPr id="5" name="Text 3"/>
          <p:cNvSpPr txBox="1"/>
          <p:nvPr/>
        </p:nvSpPr>
        <p:spPr>
          <a:xfrm>
            <a:off x="548640" y="3429000"/>
            <a:ext cx="8046720" cy="365760"/>
          </a:xfrm>
          <a:prstGeom prst="rect">
            <a:avLst/>
          </a:prstGeom>
          <a:noFill/>
          <a:ln/>
        </p:spPr>
        <p:txBody>
          <a:bodyPr wrap="square" lIns="0" tIns="0" rIns="0" bIns="0" rtlCol="0" anchor="ctr"/>
          <a:lstStyle/>
          <a:p>
            <a:pPr indent="0" marL="0">
              <a:buNone/>
            </a:pPr>
            <a:r>
              <a:rPr lang="en-US" sz="1600" dirty="0">
                <a:solidFill>
                  <a:schemeClr val="bg2"/>
                </a:solidFill>
              </a:rPr>
              <a:t>Raghavendra  |  Enrollment 24BCS10250</a:t>
            </a:r>
            <a:endParaRPr lang="en-US" sz="1600" dirty="0"/>
          </a:p>
        </p:txBody>
      </p:sp>
      <p:sp>
        <p:nvSpPr>
          <p:cNvPr id="7"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endParaRPr lang="en-US" sz="4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What I built</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APP</a:t>
            </a:r>
            <a:endParaRPr lang="en-US" sz="1400" dirty="0"/>
          </a:p>
        </p:txBody>
      </p:sp>
      <p:sp>
        <p:nvSpPr>
          <p:cNvPr id="5" name="Text 3"/>
          <p:cNvSpPr txBox="1"/>
          <p:nvPr/>
        </p:nvSpPr>
        <p:spPr>
          <a:xfrm>
            <a:off x="457200" y="1143000"/>
            <a:ext cx="8229600" cy="640080"/>
          </a:xfrm>
          <a:prstGeom prst="rect">
            <a:avLst/>
          </a:prstGeom>
          <a:noFill/>
          <a:ln/>
        </p:spPr>
        <p:txBody>
          <a:bodyPr wrap="square" lIns="0" tIns="0" rIns="0" bIns="0" rtlCol="0" anchor="t"/>
          <a:lstStyle/>
          <a:p>
            <a:pPr indent="0" marL="0">
              <a:buNone/>
            </a:pPr>
            <a:r>
              <a:rPr lang="en-US" sz="1600" dirty="0">
                <a:solidFill>
                  <a:schemeClr val="tx1"/>
                </a:solidFill>
              </a:rPr>
              <a:t>PlaceTrack tracks job applications through applied, interview, offer and rejected. Every change goes through these steps:</a:t>
            </a:r>
            <a:endParaRPr lang="en-US" sz="1600" dirty="0"/>
          </a:p>
        </p:txBody>
      </p:sp>
      <p:sp>
        <p:nvSpPr>
          <p:cNvPr id="6" name="Pipeline step 1"/>
          <p:cNvSpPr/>
          <p:nvPr/>
        </p:nvSpPr>
        <p:spPr>
          <a:xfrm>
            <a:off x="457200" y="2103120"/>
            <a:ext cx="1261872" cy="1371600"/>
          </a:xfrm>
          <a:prstGeom prst="roundRect">
            <a:avLst>
              <a:gd name="adj" fmla="val 7246"/>
            </a:avLst>
          </a:prstGeom>
          <a:solidFill>
            <a:schemeClr val="accent1"/>
          </a:solidFill>
          <a:ln/>
        </p:spPr>
      </p:sp>
      <p:sp>
        <p:nvSpPr>
          <p:cNvPr id="7" name="Text 5"/>
          <p:cNvSpPr txBox="1"/>
          <p:nvPr/>
        </p:nvSpPr>
        <p:spPr>
          <a:xfrm>
            <a:off x="530352" y="2103120"/>
            <a:ext cx="1115568" cy="1371600"/>
          </a:xfrm>
          <a:prstGeom prst="rect">
            <a:avLst/>
          </a:prstGeom>
          <a:noFill/>
          <a:ln/>
        </p:spPr>
        <p:txBody>
          <a:bodyPr wrap="square" lIns="0" tIns="0" rIns="0" bIns="0" rtlCol="0" anchor="ctr"/>
          <a:lstStyle/>
          <a:p>
            <a:pPr algn="ctr" indent="0" marL="0">
              <a:buNone/>
            </a:pPr>
            <a:r>
              <a:rPr lang="en-US" sz="1400" b="1" dirty="0">
                <a:solidFill>
                  <a:schemeClr val="bg1"/>
                </a:solidFill>
              </a:rPr>
              <a:t>Code</a:t>
            </a:r>
            <a:endParaRPr lang="en-US" sz="1400" dirty="0"/>
          </a:p>
          <a:p>
            <a:pPr algn="ctr" indent="0" marL="0">
              <a:buNone/>
            </a:pPr>
            <a:r>
              <a:rPr lang="en-US" sz="1200" dirty="0">
                <a:solidFill>
                  <a:schemeClr val="bg1"/>
                </a:solidFill>
              </a:rPr>
              <a:t>React + FastAPI + Postgres</a:t>
            </a:r>
            <a:endParaRPr lang="en-US" sz="1400" dirty="0"/>
          </a:p>
        </p:txBody>
      </p:sp>
      <p:sp>
        <p:nvSpPr>
          <p:cNvPr id="8" name="Text 6"/>
          <p:cNvSpPr txBox="1"/>
          <p:nvPr/>
        </p:nvSpPr>
        <p:spPr>
          <a:xfrm>
            <a:off x="1700784"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9" name="Pipeline step 2"/>
          <p:cNvSpPr/>
          <p:nvPr/>
        </p:nvSpPr>
        <p:spPr>
          <a:xfrm>
            <a:off x="1850746" y="2103120"/>
            <a:ext cx="1261872" cy="1371600"/>
          </a:xfrm>
          <a:prstGeom prst="roundRect">
            <a:avLst>
              <a:gd name="adj" fmla="val 7246"/>
            </a:avLst>
          </a:prstGeom>
          <a:solidFill>
            <a:schemeClr val="bg2"/>
          </a:solidFill>
          <a:ln/>
        </p:spPr>
      </p:sp>
      <p:sp>
        <p:nvSpPr>
          <p:cNvPr id="10" name="Text 8"/>
          <p:cNvSpPr txBox="1"/>
          <p:nvPr/>
        </p:nvSpPr>
        <p:spPr>
          <a:xfrm>
            <a:off x="1923898"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GitHub Actions</a:t>
            </a:r>
            <a:endParaRPr lang="en-US" sz="1400" dirty="0"/>
          </a:p>
          <a:p>
            <a:pPr algn="ctr" indent="0" marL="0">
              <a:buNone/>
            </a:pPr>
            <a:r>
              <a:rPr lang="en-US" sz="1200" dirty="0">
                <a:solidFill>
                  <a:schemeClr val="tx1"/>
                </a:solidFill>
              </a:rPr>
              <a:t>test, build, scan</a:t>
            </a:r>
            <a:endParaRPr lang="en-US" sz="1400" dirty="0"/>
          </a:p>
        </p:txBody>
      </p:sp>
      <p:sp>
        <p:nvSpPr>
          <p:cNvPr id="11" name="Text 9"/>
          <p:cNvSpPr txBox="1"/>
          <p:nvPr/>
        </p:nvSpPr>
        <p:spPr>
          <a:xfrm>
            <a:off x="3094330"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2" name="Pipeline step 3"/>
          <p:cNvSpPr/>
          <p:nvPr/>
        </p:nvSpPr>
        <p:spPr>
          <a:xfrm>
            <a:off x="3244291" y="2103120"/>
            <a:ext cx="1261872" cy="1371600"/>
          </a:xfrm>
          <a:prstGeom prst="roundRect">
            <a:avLst>
              <a:gd name="adj" fmla="val 7246"/>
            </a:avLst>
          </a:prstGeom>
          <a:solidFill>
            <a:schemeClr val="bg2"/>
          </a:solidFill>
          <a:ln/>
        </p:spPr>
      </p:sp>
      <p:sp>
        <p:nvSpPr>
          <p:cNvPr id="13" name="Text 11"/>
          <p:cNvSpPr txBox="1"/>
          <p:nvPr/>
        </p:nvSpPr>
        <p:spPr>
          <a:xfrm>
            <a:off x="3317443"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GHCR</a:t>
            </a:r>
            <a:endParaRPr lang="en-US" sz="1400" dirty="0"/>
          </a:p>
          <a:p>
            <a:pPr algn="ctr" indent="0" marL="0">
              <a:buNone/>
            </a:pPr>
            <a:r>
              <a:rPr lang="en-US" sz="1200" dirty="0">
                <a:solidFill>
                  <a:schemeClr val="tx1"/>
                </a:solidFill>
              </a:rPr>
              <a:t>SHA-tagged images</a:t>
            </a:r>
            <a:endParaRPr lang="en-US" sz="1400" dirty="0"/>
          </a:p>
        </p:txBody>
      </p:sp>
      <p:sp>
        <p:nvSpPr>
          <p:cNvPr id="14" name="Text 12"/>
          <p:cNvSpPr txBox="1"/>
          <p:nvPr/>
        </p:nvSpPr>
        <p:spPr>
          <a:xfrm>
            <a:off x="4487875"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5" name="Pipeline step 4"/>
          <p:cNvSpPr/>
          <p:nvPr/>
        </p:nvSpPr>
        <p:spPr>
          <a:xfrm>
            <a:off x="4637837" y="2103120"/>
            <a:ext cx="1261872" cy="1371600"/>
          </a:xfrm>
          <a:prstGeom prst="roundRect">
            <a:avLst>
              <a:gd name="adj" fmla="val 7246"/>
            </a:avLst>
          </a:prstGeom>
          <a:solidFill>
            <a:schemeClr val="bg2"/>
          </a:solidFill>
          <a:ln/>
        </p:spPr>
      </p:sp>
      <p:sp>
        <p:nvSpPr>
          <p:cNvPr id="16" name="Text 14"/>
          <p:cNvSpPr txBox="1"/>
          <p:nvPr/>
        </p:nvSpPr>
        <p:spPr>
          <a:xfrm>
            <a:off x="4710989"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Terraform</a:t>
            </a:r>
            <a:endParaRPr lang="en-US" sz="1400" dirty="0"/>
          </a:p>
          <a:p>
            <a:pPr algn="ctr" indent="0" marL="0">
              <a:buNone/>
            </a:pPr>
            <a:r>
              <a:rPr lang="en-US" sz="1200" dirty="0">
                <a:solidFill>
                  <a:schemeClr val="tx1"/>
                </a:solidFill>
              </a:rPr>
              <a:t>VPC + EKS</a:t>
            </a:r>
            <a:endParaRPr lang="en-US" sz="1400" dirty="0"/>
          </a:p>
        </p:txBody>
      </p:sp>
      <p:sp>
        <p:nvSpPr>
          <p:cNvPr id="17" name="Text 15"/>
          <p:cNvSpPr txBox="1"/>
          <p:nvPr/>
        </p:nvSpPr>
        <p:spPr>
          <a:xfrm>
            <a:off x="5881421"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18" name="Pipeline step 5"/>
          <p:cNvSpPr/>
          <p:nvPr/>
        </p:nvSpPr>
        <p:spPr>
          <a:xfrm>
            <a:off x="6031382" y="2103120"/>
            <a:ext cx="1261872" cy="1371600"/>
          </a:xfrm>
          <a:prstGeom prst="roundRect">
            <a:avLst>
              <a:gd name="adj" fmla="val 7246"/>
            </a:avLst>
          </a:prstGeom>
          <a:solidFill>
            <a:schemeClr val="bg2"/>
          </a:solidFill>
          <a:ln/>
        </p:spPr>
      </p:sp>
      <p:sp>
        <p:nvSpPr>
          <p:cNvPr id="19" name="Text 17"/>
          <p:cNvSpPr txBox="1"/>
          <p:nvPr/>
        </p:nvSpPr>
        <p:spPr>
          <a:xfrm>
            <a:off x="6104534"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Helm</a:t>
            </a:r>
            <a:endParaRPr lang="en-US" sz="1400" dirty="0"/>
          </a:p>
          <a:p>
            <a:pPr algn="ctr" indent="0" marL="0">
              <a:buNone/>
            </a:pPr>
            <a:r>
              <a:rPr lang="en-US" sz="1200" dirty="0">
                <a:solidFill>
                  <a:schemeClr val="tx1"/>
                </a:solidFill>
              </a:rPr>
              <a:t>Kubernetes release</a:t>
            </a:r>
            <a:endParaRPr lang="en-US" sz="1400" dirty="0"/>
          </a:p>
        </p:txBody>
      </p:sp>
      <p:sp>
        <p:nvSpPr>
          <p:cNvPr id="20" name="Text 18"/>
          <p:cNvSpPr txBox="1"/>
          <p:nvPr/>
        </p:nvSpPr>
        <p:spPr>
          <a:xfrm>
            <a:off x="7274966" y="2606040"/>
            <a:ext cx="168250" cy="365760"/>
          </a:xfrm>
          <a:prstGeom prst="rect">
            <a:avLst/>
          </a:prstGeom>
          <a:noFill/>
          <a:ln/>
        </p:spPr>
        <p:txBody>
          <a:bodyPr wrap="square" lIns="0" tIns="0" rIns="0" bIns="0" rtlCol="0" anchor="ctr"/>
          <a:lstStyle/>
          <a:p>
            <a:pPr algn="ctr" indent="0" marL="0">
              <a:buNone/>
            </a:pPr>
            <a:r>
              <a:rPr lang="en-US" sz="1400" b="1" dirty="0">
                <a:solidFill>
                  <a:schemeClr val="accent6"/>
                </a:solidFill>
              </a:rPr>
              <a:t>→</a:t>
            </a:r>
            <a:endParaRPr lang="en-US" sz="1400" dirty="0"/>
          </a:p>
        </p:txBody>
      </p:sp>
      <p:sp>
        <p:nvSpPr>
          <p:cNvPr id="21" name="Pipeline step 6"/>
          <p:cNvSpPr/>
          <p:nvPr/>
        </p:nvSpPr>
        <p:spPr>
          <a:xfrm>
            <a:off x="7424928" y="2103120"/>
            <a:ext cx="1261872" cy="1371600"/>
          </a:xfrm>
          <a:prstGeom prst="roundRect">
            <a:avLst>
              <a:gd name="adj" fmla="val 7246"/>
            </a:avLst>
          </a:prstGeom>
          <a:solidFill>
            <a:schemeClr val="bg2"/>
          </a:solidFill>
          <a:ln/>
        </p:spPr>
      </p:sp>
      <p:sp>
        <p:nvSpPr>
          <p:cNvPr id="22" name="Text 20"/>
          <p:cNvSpPr txBox="1"/>
          <p:nvPr/>
        </p:nvSpPr>
        <p:spPr>
          <a:xfrm>
            <a:off x="7498080" y="2103120"/>
            <a:ext cx="1115568" cy="1371600"/>
          </a:xfrm>
          <a:prstGeom prst="rect">
            <a:avLst/>
          </a:prstGeom>
          <a:noFill/>
          <a:ln/>
        </p:spPr>
        <p:txBody>
          <a:bodyPr wrap="square" lIns="0" tIns="0" rIns="0" bIns="0" rtlCol="0" anchor="ctr"/>
          <a:lstStyle/>
          <a:p>
            <a:pPr algn="ctr" indent="0" marL="0">
              <a:buNone/>
            </a:pPr>
            <a:r>
              <a:rPr lang="en-US" sz="1400" b="1" dirty="0">
                <a:solidFill>
                  <a:schemeClr val="tx1"/>
                </a:solidFill>
              </a:rPr>
              <a:t>Prometheus + Grafana</a:t>
            </a:r>
            <a:endParaRPr lang="en-US" sz="1400" dirty="0"/>
          </a:p>
          <a:p>
            <a:pPr algn="ctr" indent="0" marL="0">
              <a:buNone/>
            </a:pPr>
            <a:r>
              <a:rPr lang="en-US" sz="1200" dirty="0">
                <a:solidFill>
                  <a:schemeClr val="tx1"/>
                </a:solidFill>
              </a:rPr>
              <a:t>live metrics</a:t>
            </a:r>
            <a:endParaRPr lang="en-US" sz="1400" dirty="0"/>
          </a:p>
        </p:txBody>
      </p:sp>
      <p:sp>
        <p:nvSpPr>
          <p:cNvPr id="23" name="Text 21"/>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All screenshots in this deck are from my own runs.</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Application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M1</a:t>
            </a:r>
            <a:endParaRPr lang="en-US" sz="1400" dirty="0"/>
          </a:p>
        </p:txBody>
      </p:sp>
      <p:sp>
        <p:nvSpPr>
          <p:cNvPr id="5" name="PlaceTrack dashboard in Docker Compose frame"/>
          <p:cNvSpPr/>
          <p:nvPr/>
        </p:nvSpPr>
        <p:spPr>
          <a:xfrm>
            <a:off x="420624" y="1060704"/>
            <a:ext cx="4828032" cy="3044952"/>
          </a:xfrm>
          <a:prstGeom prst="roundRect">
            <a:avLst>
              <a:gd name="adj" fmla="val 1502"/>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dashboard in Docker Compose">    </p:cNvPr>
          <p:cNvPicPr>
            <a:picLocks noChangeAspect="1"/>
          </p:cNvPicPr>
          <p:nvPr/>
        </p:nvPicPr>
        <p:blipFill>
          <a:blip r:embed="rId1"/>
          <a:stretch>
            <a:fillRect/>
          </a:stretch>
        </p:blipFill>
        <p:spPr>
          <a:xfrm>
            <a:off x="457200" y="1097280"/>
            <a:ext cx="4754880" cy="2971800"/>
          </a:xfrm>
          <a:prstGeom prst="rect">
            <a:avLst/>
          </a:prstGeom>
        </p:spPr>
      </p:pic>
      <p:sp>
        <p:nvSpPr>
          <p:cNvPr id="7" name="PlaceTrack at phone width frame"/>
          <p:cNvSpPr/>
          <p:nvPr/>
        </p:nvSpPr>
        <p:spPr>
          <a:xfrm>
            <a:off x="5541264" y="1060704"/>
            <a:ext cx="1473669" cy="3074260"/>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PlaceTrack at phone width">    </p:cNvPr>
          <p:cNvPicPr>
            <a:picLocks noChangeAspect="1"/>
          </p:cNvPicPr>
          <p:nvPr/>
        </p:nvPicPr>
        <p:blipFill>
          <a:blip r:embed="rId2"/>
          <a:stretch>
            <a:fillRect/>
          </a:stretch>
        </p:blipFill>
        <p:spPr>
          <a:xfrm>
            <a:off x="5577840" y="1097280"/>
            <a:ext cx="1400517" cy="3001108"/>
          </a:xfrm>
          <a:prstGeom prst="rect">
            <a:avLst/>
          </a:prstGeom>
        </p:spPr>
      </p:pic>
      <p:sp>
        <p:nvSpPr>
          <p:cNvPr id="9" name="Text 5"/>
          <p:cNvSpPr txBox="1"/>
          <p:nvPr/>
        </p:nvSpPr>
        <p:spPr>
          <a:xfrm>
            <a:off x="7315200" y="1051560"/>
            <a:ext cx="146304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6</a:t>
            </a:r>
            <a:endParaRPr lang="en-US" sz="4800" dirty="0"/>
          </a:p>
        </p:txBody>
      </p:sp>
      <p:sp>
        <p:nvSpPr>
          <p:cNvPr id="10" name="Text 6"/>
          <p:cNvSpPr txBox="1"/>
          <p:nvPr/>
        </p:nvSpPr>
        <p:spPr>
          <a:xfrm>
            <a:off x="7315200" y="1737360"/>
            <a:ext cx="1463040" cy="1005840"/>
          </a:xfrm>
          <a:prstGeom prst="rect">
            <a:avLst/>
          </a:prstGeom>
          <a:noFill/>
          <a:ln/>
        </p:spPr>
        <p:txBody>
          <a:bodyPr wrap="square" lIns="0" tIns="0" rIns="0" bIns="0" rtlCol="0" anchor="t"/>
          <a:lstStyle/>
          <a:p>
            <a:pPr indent="0" marL="0">
              <a:buNone/>
            </a:pPr>
            <a:r>
              <a:rPr lang="en-US" sz="1400" dirty="0">
                <a:solidFill>
                  <a:schemeClr val="accent6"/>
                </a:solidFill>
              </a:rPr>
              <a:t>REST endpoints under /api, plus health, ready, metrics</a:t>
            </a:r>
            <a:endParaRPr lang="en-US" sz="1400" dirty="0"/>
          </a:p>
        </p:txBody>
      </p:sp>
      <p:sp>
        <p:nvSpPr>
          <p:cNvPr id="11" name="Text 7"/>
          <p:cNvSpPr txBox="1"/>
          <p:nvPr/>
        </p:nvSpPr>
        <p:spPr>
          <a:xfrm>
            <a:off x="7315200" y="2834640"/>
            <a:ext cx="1463040" cy="731520"/>
          </a:xfrm>
          <a:prstGeom prst="rect">
            <a:avLst/>
          </a:prstGeom>
          <a:noFill/>
          <a:ln/>
        </p:spPr>
        <p:txBody>
          <a:bodyPr wrap="square" lIns="0" tIns="0" rIns="0" bIns="0" rtlCol="0" anchor="ctr"/>
          <a:lstStyle/>
          <a:p>
            <a:pPr indent="0" marL="0">
              <a:buNone/>
            </a:pPr>
            <a:r>
              <a:rPr lang="en-US" sz="4800" b="1" dirty="0">
                <a:solidFill>
                  <a:schemeClr val="accent3"/>
                </a:solidFill>
                <a:latin typeface="Cambria" pitchFamily="34" charset="0"/>
                <a:ea typeface="Cambria" pitchFamily="34" charset="-122"/>
                <a:cs typeface="Cambria" pitchFamily="34" charset="-120"/>
              </a:rPr>
              <a:t>1</a:t>
            </a:r>
            <a:endParaRPr lang="en-US" sz="4800" dirty="0"/>
          </a:p>
        </p:txBody>
      </p:sp>
      <p:sp>
        <p:nvSpPr>
          <p:cNvPr id="12" name="Text 8"/>
          <p:cNvSpPr txBox="1"/>
          <p:nvPr/>
        </p:nvSpPr>
        <p:spPr>
          <a:xfrm>
            <a:off x="7315200" y="3520440"/>
            <a:ext cx="1463040" cy="685800"/>
          </a:xfrm>
          <a:prstGeom prst="rect">
            <a:avLst/>
          </a:prstGeom>
          <a:noFill/>
          <a:ln/>
        </p:spPr>
        <p:txBody>
          <a:bodyPr wrap="square" lIns="0" tIns="0" rIns="0" bIns="0" rtlCol="0" anchor="t"/>
          <a:lstStyle/>
          <a:p>
            <a:pPr indent="0" marL="0">
              <a:buNone/>
            </a:pPr>
            <a:r>
              <a:rPr lang="en-US" sz="1400" dirty="0">
                <a:solidFill>
                  <a:schemeClr val="accent6"/>
                </a:solidFill>
              </a:rPr>
              <a:t>Alembic migration (jobs table)</a:t>
            </a:r>
            <a:endParaRPr lang="en-US" sz="1400" dirty="0"/>
          </a:p>
        </p:txBody>
      </p:sp>
      <p:sp>
        <p:nvSpPr>
          <p:cNvPr id="13" name="Text 9"/>
          <p:cNvSpPr txBox="1"/>
          <p:nvPr/>
        </p:nvSpPr>
        <p:spPr>
          <a:xfrm>
            <a:off x="457200" y="4251960"/>
            <a:ext cx="8229600" cy="365760"/>
          </a:xfrm>
          <a:prstGeom prst="rect">
            <a:avLst/>
          </a:prstGeom>
          <a:noFill/>
          <a:ln/>
        </p:spPr>
        <p:txBody>
          <a:bodyPr wrap="square" lIns="0" tIns="0" rIns="0" bIns="0" rtlCol="0" anchor="ctr"/>
          <a:lstStyle/>
          <a:p>
            <a:pPr indent="0" marL="0">
              <a:buNone/>
            </a:pPr>
            <a:r>
              <a:rPr lang="en-US" sz="1400" dirty="0">
                <a:solidFill>
                  <a:schemeClr val="accent6"/>
                </a:solidFill>
              </a:rPr>
              <a:t>FastAPI + Postgres behind a responsive React dashboard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Tests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M2</a:t>
            </a:r>
            <a:endParaRPr lang="en-US" sz="1400" dirty="0"/>
          </a:p>
        </p:txBody>
      </p:sp>
      <p:sp>
        <p:nvSpPr>
          <p:cNvPr id="5" name="Text 3"/>
          <p:cNvSpPr txBox="1"/>
          <p:nvPr/>
        </p:nvSpPr>
        <p:spPr>
          <a:xfrm>
            <a:off x="457200" y="1143000"/>
            <a:ext cx="274320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16</a:t>
            </a:r>
            <a:endParaRPr lang="en-US" sz="4800" dirty="0"/>
          </a:p>
        </p:txBody>
      </p:sp>
      <p:sp>
        <p:nvSpPr>
          <p:cNvPr id="6" name="Text 4"/>
          <p:cNvSpPr txBox="1"/>
          <p:nvPr/>
        </p:nvSpPr>
        <p:spPr>
          <a:xfrm>
            <a:off x="457200" y="1874520"/>
            <a:ext cx="2743200" cy="457200"/>
          </a:xfrm>
          <a:prstGeom prst="rect">
            <a:avLst/>
          </a:prstGeom>
          <a:noFill/>
          <a:ln/>
        </p:spPr>
        <p:txBody>
          <a:bodyPr wrap="square" lIns="0" tIns="0" rIns="0" bIns="0" rtlCol="0" anchor="t"/>
          <a:lstStyle/>
          <a:p>
            <a:pPr indent="0" marL="0">
              <a:buNone/>
            </a:pPr>
            <a:r>
              <a:rPr lang="en-US" sz="1400" dirty="0">
                <a:solidFill>
                  <a:schemeClr val="accent6"/>
                </a:solidFill>
              </a:rPr>
              <a:t>pytest cases, all passing</a:t>
            </a:r>
            <a:endParaRPr lang="en-US" sz="1400" dirty="0"/>
          </a:p>
        </p:txBody>
      </p:sp>
      <p:sp>
        <p:nvSpPr>
          <p:cNvPr id="7" name="Text 5"/>
          <p:cNvSpPr txBox="1"/>
          <p:nvPr/>
        </p:nvSpPr>
        <p:spPr>
          <a:xfrm>
            <a:off x="457200" y="2468880"/>
            <a:ext cx="338328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Test database: in-memory SQLite via dependency override</a:t>
            </a:r>
            <a:endParaRPr lang="en-US" sz="1400" dirty="0"/>
          </a:p>
          <a:p>
            <a:pPr marL="342900" indent="-342900">
              <a:spcAft>
                <a:spcPts val="800"/>
              </a:spcAft>
              <a:buSzPct val="100000"/>
              <a:buChar char="•"/>
            </a:pPr>
            <a:r>
              <a:rPr lang="en-US" sz="1400" dirty="0">
                <a:solidFill>
                  <a:schemeClr val="tx1"/>
                </a:solidFill>
              </a:rPr>
              <a:t>Covers CRUD, 404, 422 and /metrics</a:t>
            </a:r>
            <a:endParaRPr lang="en-US" sz="1400" dirty="0"/>
          </a:p>
          <a:p>
            <a:pPr marL="342900" indent="-342900">
              <a:spcAft>
                <a:spcPts val="800"/>
              </a:spcAft>
              <a:buSzPct val="100000"/>
              <a:buChar char="•"/>
            </a:pPr>
            <a:r>
              <a:rPr lang="en-US" sz="1400" dirty="0">
                <a:solidFill>
                  <a:schemeClr val="tx1"/>
                </a:solidFill>
              </a:rPr>
              <a:t>/ready returns 503 when the database is down</a:t>
            </a:r>
            <a:endParaRPr lang="en-US" sz="1400" dirty="0"/>
          </a:p>
          <a:p>
            <a:pPr marL="342900" indent="-342900">
              <a:spcAft>
                <a:spcPts val="800"/>
              </a:spcAft>
              <a:buSzPct val="100000"/>
              <a:buChar char="•"/>
            </a:pPr>
            <a:r>
              <a:rPr lang="en-US" sz="1400" dirty="0">
                <a:solidFill>
                  <a:schemeClr val="tx1"/>
                </a:solidFill>
              </a:rPr>
              <a:t>pytest.ini in backend/</a:t>
            </a:r>
            <a:endParaRPr lang="en-US" sz="1400" dirty="0"/>
          </a:p>
        </p:txBody>
      </p:sp>
      <p:sp>
        <p:nvSpPr>
          <p:cNvPr id="8" name="pytest -v output, 16 passed frame"/>
          <p:cNvSpPr/>
          <p:nvPr/>
        </p:nvSpPr>
        <p:spPr>
          <a:xfrm>
            <a:off x="4078224" y="1060704"/>
            <a:ext cx="4645152" cy="2044011"/>
          </a:xfrm>
          <a:prstGeom prst="roundRect">
            <a:avLst>
              <a:gd name="adj" fmla="val 1769"/>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0" descr="pytest -v output, 16 passed">    </p:cNvPr>
          <p:cNvPicPr>
            <a:picLocks noChangeAspect="1"/>
          </p:cNvPicPr>
          <p:nvPr/>
        </p:nvPicPr>
        <p:blipFill>
          <a:blip r:embed="rId1"/>
          <a:stretch>
            <a:fillRect/>
          </a:stretch>
        </p:blipFill>
        <p:spPr>
          <a:xfrm>
            <a:off x="4114800" y="1097280"/>
            <a:ext cx="4572000" cy="1970859"/>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Git and GitHub</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txBody>
          <a:bodyPr/>
          <a:p/>
        </p:txBody>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M3</a:t>
            </a:r>
            <a:endParaRPr lang="en-US" sz="1400" dirty="0"/>
          </a:p>
        </p:txBody>
      </p:sp>
      <p:sp>
        <p:nvSpPr>
          <p:cNvPr id="7" name="Text 5"/>
          <p:cNvSpPr txBox="1"/>
          <p:nvPr/>
        </p:nvSpPr>
        <p:spPr>
          <a:xfrm>
            <a:off x="457200" y="118872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Small commits with clear messages</a:t>
            </a:r>
            <a:endParaRPr lang="en-US" sz="1400" dirty="0"/>
          </a:p>
          <a:p>
            <a:pPr marL="342900" indent="-342900">
              <a:spcAft>
                <a:spcPts val="800"/>
              </a:spcAft>
              <a:buSzPct val="100000"/>
              <a:buChar char="•"/>
            </a:pPr>
            <a:r>
              <a:rPr lang="en-US" sz="1400" dirty="0">
                <a:solidFill>
                  <a:schemeClr val="tx1"/>
                </a:solidFill>
              </a:rPr>
              <a:t>.gitignore: .env, __pycache__, node_modules, .venv, tfstate, tfvars</a:t>
            </a:r>
            <a:endParaRPr lang="en-US" sz="1400" dirty="0"/>
          </a:p>
          <a:p>
            <a:pPr marL="342900" indent="-342900">
              <a:spcAft>
                <a:spcPts val="800"/>
              </a:spcAft>
              <a:buSzPct val="100000"/>
              <a:buChar char="•"/>
            </a:pPr>
            <a:r>
              <a:rPr lang="en-US" sz="1400" dirty="0">
                <a:solidFill>
                  <a:schemeClr val="tx1"/>
                </a:solidFill>
              </a:rPr>
              <a:t>Gitleaks: no secrets in history</a:t>
            </a:r>
            <a:endParaRPr lang="en-US" sz="1400" dirty="0"/>
          </a:p>
        </p:txBody>
      </p:sp>
      <p:sp>
        <p:nvSpPr>
          <p:cNvPr id="8" name="git log output frame"/>
          <p:cNvSpPr/>
          <p:nvPr/>
        </p:nvSpPr>
        <p:spPr>
          <a:xfrm>
            <a:off x="420624" y="2386584"/>
            <a:ext cx="4578743" cy="2313432"/>
          </a:xfrm>
          <a:prstGeom prst="roundRect">
            <a:avLst>
              <a:gd name="adj" fmla="val 1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txBody>
          <a:bodyPr/>
          <a:p/>
        </p:txBody>
      </p:sp>
      <p:pic>
        <p:nvPicPr>
          <p:cNvPr id="9" name="Image 0" descr="GitHub commits page for the main branch">    </p:cNvPr>
          <p:cNvPicPr>
            <a:picLocks noChangeAspect="1"/>
          </p:cNvPicPr>
          <p:nvPr/>
        </p:nvPicPr>
        <p:blipFill>
          <a:blip r:embed="rId1"/>
          <a:stretch>
            <a:fillRect/>
          </a:stretch>
        </p:blipFill>
        <p:spPr>
          <a:xfrm>
            <a:off x="457200" y="2423160"/>
            <a:ext cx="4505591"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Docker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M4</a:t>
            </a:r>
            <a:endParaRPr lang="en-US" sz="1400" dirty="0"/>
          </a:p>
        </p:txBody>
      </p:sp>
      <p:sp>
        <p:nvSpPr>
          <p:cNvPr id="5" name="Text 3"/>
          <p:cNvSpPr txBox="1"/>
          <p:nvPr/>
        </p:nvSpPr>
        <p:spPr>
          <a:xfrm>
            <a:off x="45720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Backend image: python:3.12-slim, user 10001</a:t>
            </a:r>
            <a:endParaRPr lang="en-US" sz="1400" dirty="0"/>
          </a:p>
          <a:p>
            <a:pPr marL="342900" indent="-342900">
              <a:spcAft>
                <a:spcPts val="800"/>
              </a:spcAft>
              <a:buSzPct val="100000"/>
              <a:buChar char="•"/>
            </a:pPr>
            <a:r>
              <a:rPr lang="en-US" sz="1400" dirty="0">
                <a:solidFill>
                  <a:schemeClr val="tx1"/>
                </a:solidFill>
              </a:rPr>
              <a:t>Frontend: multi-stage, Node builds, nginx-unprivileged serves, user 101</a:t>
            </a:r>
            <a:endParaRPr lang="en-US" sz="1400" dirty="0"/>
          </a:p>
        </p:txBody>
      </p:sp>
      <p:sp>
        <p:nvSpPr>
          <p:cNvPr id="6" name="Text 4"/>
          <p:cNvSpPr txBox="1"/>
          <p:nvPr/>
        </p:nvSpPr>
        <p:spPr>
          <a:xfrm>
            <a:off x="4663440" y="1097280"/>
            <a:ext cx="4023360" cy="1280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docker compose up --build starts postgres, backend, frontend</a:t>
            </a:r>
            <a:endParaRPr lang="en-US" sz="1400" dirty="0"/>
          </a:p>
          <a:p>
            <a:pPr marL="342900" indent="-342900">
              <a:spcAft>
                <a:spcPts val="800"/>
              </a:spcAft>
              <a:buSzPct val="100000"/>
              <a:buChar char="•"/>
            </a:pPr>
            <a:r>
              <a:rPr lang="en-US" sz="1400" dirty="0">
                <a:solidFill>
                  <a:schemeClr val="tx1"/>
                </a:solidFill>
              </a:rPr>
              <a:t>Migrations run before the API starts</a:t>
            </a:r>
            <a:endParaRPr lang="en-US" sz="1400" dirty="0"/>
          </a:p>
        </p:txBody>
      </p:sp>
      <p:sp>
        <p:nvSpPr>
          <p:cNvPr id="7" name="docker compose up and ps frame"/>
          <p:cNvSpPr/>
          <p:nvPr/>
        </p:nvSpPr>
        <p:spPr>
          <a:xfrm>
            <a:off x="2732900" y="2386584"/>
            <a:ext cx="3678200" cy="2313432"/>
          </a:xfrm>
          <a:prstGeom prst="roundRect">
            <a:avLst>
              <a:gd name="adj" fmla="val 201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docker compose up --build output with postgres, frontend and backend running">    </p:cNvPr>
          <p:cNvPicPr>
            <a:picLocks noChangeAspect="1"/>
          </p:cNvPicPr>
          <p:nvPr/>
        </p:nvPicPr>
        <p:blipFill>
          <a:blip r:embed="rId1"/>
          <a:stretch>
            <a:fillRect/>
          </a:stretch>
        </p:blipFill>
        <p:spPr>
          <a:xfrm>
            <a:off x="2769476" y="2423160"/>
            <a:ext cx="3605048" cy="224028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CI/CD pipeline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CI step 1"/>
          <p:cNvSpPr/>
          <p:nvPr/>
        </p:nvSpPr>
        <p:spPr>
          <a:xfrm>
            <a:off x="457200" y="1234440"/>
            <a:ext cx="1463040" cy="822960"/>
          </a:xfrm>
          <a:prstGeom prst="roundRect">
            <a:avLst>
              <a:gd name="adj" fmla="val 11111"/>
            </a:avLst>
          </a:prstGeom>
          <a:solidFill>
            <a:schemeClr val="bg2"/>
          </a:solidFill>
          <a:ln/>
        </p:spPr>
      </p:sp>
      <p:sp>
        <p:nvSpPr>
          <p:cNvPr id="6" name="Text 4"/>
          <p:cNvSpPr txBox="1"/>
          <p:nvPr/>
        </p:nvSpPr>
        <p:spPr>
          <a:xfrm>
            <a:off x="45720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pytest</a:t>
            </a:r>
            <a:endParaRPr lang="en-US" sz="1400" dirty="0"/>
          </a:p>
        </p:txBody>
      </p:sp>
      <p:sp>
        <p:nvSpPr>
          <p:cNvPr id="7" name="Text 5"/>
          <p:cNvSpPr txBox="1"/>
          <p:nvPr/>
        </p:nvSpPr>
        <p:spPr>
          <a:xfrm>
            <a:off x="192024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8" name="CI step 2"/>
          <p:cNvSpPr/>
          <p:nvPr/>
        </p:nvSpPr>
        <p:spPr>
          <a:xfrm>
            <a:off x="2148840" y="1234440"/>
            <a:ext cx="1463040" cy="822960"/>
          </a:xfrm>
          <a:prstGeom prst="roundRect">
            <a:avLst>
              <a:gd name="adj" fmla="val 11111"/>
            </a:avLst>
          </a:prstGeom>
          <a:solidFill>
            <a:schemeClr val="bg2"/>
          </a:solidFill>
          <a:ln/>
        </p:spPr>
      </p:sp>
      <p:sp>
        <p:nvSpPr>
          <p:cNvPr id="9" name="Text 7"/>
          <p:cNvSpPr txBox="1"/>
          <p:nvPr/>
        </p:nvSpPr>
        <p:spPr>
          <a:xfrm>
            <a:off x="214884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frontend build</a:t>
            </a:r>
            <a:endParaRPr lang="en-US" sz="1400" dirty="0"/>
          </a:p>
        </p:txBody>
      </p:sp>
      <p:sp>
        <p:nvSpPr>
          <p:cNvPr id="10" name="Text 8"/>
          <p:cNvSpPr txBox="1"/>
          <p:nvPr/>
        </p:nvSpPr>
        <p:spPr>
          <a:xfrm>
            <a:off x="361188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1" name="CI step 3"/>
          <p:cNvSpPr/>
          <p:nvPr/>
        </p:nvSpPr>
        <p:spPr>
          <a:xfrm>
            <a:off x="3840480" y="1234440"/>
            <a:ext cx="1463040" cy="822960"/>
          </a:xfrm>
          <a:prstGeom prst="roundRect">
            <a:avLst>
              <a:gd name="adj" fmla="val 11111"/>
            </a:avLst>
          </a:prstGeom>
          <a:solidFill>
            <a:schemeClr val="bg2"/>
          </a:solidFill>
          <a:ln/>
        </p:spPr>
      </p:sp>
      <p:sp>
        <p:nvSpPr>
          <p:cNvPr id="12" name="Text 10"/>
          <p:cNvSpPr txBox="1"/>
          <p:nvPr/>
        </p:nvSpPr>
        <p:spPr>
          <a:xfrm>
            <a:off x="384048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docker build x2</a:t>
            </a:r>
            <a:endParaRPr lang="en-US" sz="1400" dirty="0"/>
          </a:p>
        </p:txBody>
      </p:sp>
      <p:sp>
        <p:nvSpPr>
          <p:cNvPr id="13" name="Text 11"/>
          <p:cNvSpPr txBox="1"/>
          <p:nvPr/>
        </p:nvSpPr>
        <p:spPr>
          <a:xfrm>
            <a:off x="530352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4" name="CI step 4"/>
          <p:cNvSpPr/>
          <p:nvPr/>
        </p:nvSpPr>
        <p:spPr>
          <a:xfrm>
            <a:off x="5532120" y="1234440"/>
            <a:ext cx="1463040" cy="822960"/>
          </a:xfrm>
          <a:prstGeom prst="roundRect">
            <a:avLst>
              <a:gd name="adj" fmla="val 11111"/>
            </a:avLst>
          </a:prstGeom>
          <a:solidFill>
            <a:schemeClr val="accent2"/>
          </a:solidFill>
          <a:ln/>
        </p:spPr>
      </p:sp>
      <p:sp>
        <p:nvSpPr>
          <p:cNvPr id="15" name="Text 13"/>
          <p:cNvSpPr txBox="1"/>
          <p:nvPr/>
        </p:nvSpPr>
        <p:spPr>
          <a:xfrm>
            <a:off x="553212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Trivy gate</a:t>
            </a:r>
            <a:endParaRPr lang="en-US" sz="1400" dirty="0"/>
          </a:p>
        </p:txBody>
      </p:sp>
      <p:sp>
        <p:nvSpPr>
          <p:cNvPr id="16" name="Text 14"/>
          <p:cNvSpPr txBox="1"/>
          <p:nvPr/>
        </p:nvSpPr>
        <p:spPr>
          <a:xfrm>
            <a:off x="6995160" y="1463040"/>
            <a:ext cx="228600" cy="365760"/>
          </a:xfrm>
          <a:prstGeom prst="rect">
            <a:avLst/>
          </a:prstGeom>
          <a:noFill/>
          <a:ln/>
        </p:spPr>
        <p:txBody>
          <a:bodyPr wrap="square" lIns="0" tIns="0" rIns="0" bIns="0" rtlCol="0" anchor="ctr"/>
          <a:lstStyle/>
          <a:p>
            <a:pPr algn="ctr" indent="0" marL="0">
              <a:buNone/>
            </a:pPr>
            <a:r>
              <a:rPr lang="en-US" sz="1600" b="1" dirty="0">
                <a:solidFill>
                  <a:schemeClr val="accent6"/>
                </a:solidFill>
              </a:rPr>
              <a:t>→</a:t>
            </a:r>
            <a:endParaRPr lang="en-US" sz="1600" dirty="0"/>
          </a:p>
        </p:txBody>
      </p:sp>
      <p:sp>
        <p:nvSpPr>
          <p:cNvPr id="17" name="CI step 5"/>
          <p:cNvSpPr/>
          <p:nvPr/>
        </p:nvSpPr>
        <p:spPr>
          <a:xfrm>
            <a:off x="7223760" y="1234440"/>
            <a:ext cx="1463040" cy="822960"/>
          </a:xfrm>
          <a:prstGeom prst="roundRect">
            <a:avLst>
              <a:gd name="adj" fmla="val 11111"/>
            </a:avLst>
          </a:prstGeom>
          <a:solidFill>
            <a:schemeClr val="bg2"/>
          </a:solidFill>
          <a:ln/>
        </p:spPr>
      </p:sp>
      <p:sp>
        <p:nvSpPr>
          <p:cNvPr id="18" name="Text 16"/>
          <p:cNvSpPr txBox="1"/>
          <p:nvPr/>
        </p:nvSpPr>
        <p:spPr>
          <a:xfrm>
            <a:off x="7223760" y="1234440"/>
            <a:ext cx="1463040" cy="822960"/>
          </a:xfrm>
          <a:prstGeom prst="rect">
            <a:avLst/>
          </a:prstGeom>
          <a:noFill/>
          <a:ln/>
        </p:spPr>
        <p:txBody>
          <a:bodyPr wrap="square" lIns="0" tIns="0" rIns="0" bIns="0" rtlCol="0" anchor="ctr"/>
          <a:lstStyle/>
          <a:p>
            <a:pPr algn="ctr" indent="0" marL="0">
              <a:buNone/>
            </a:pPr>
            <a:r>
              <a:rPr lang="en-US" sz="1400" b="1" dirty="0">
                <a:solidFill>
                  <a:schemeClr val="tx1"/>
                </a:solidFill>
              </a:rPr>
              <a:t>push to GHCR</a:t>
            </a:r>
            <a:endParaRPr lang="en-US" sz="1400" dirty="0"/>
          </a:p>
        </p:txBody>
      </p:sp>
      <p:sp>
        <p:nvSpPr>
          <p:cNvPr id="19" name="Text 17"/>
          <p:cNvSpPr txBox="1"/>
          <p:nvPr/>
        </p:nvSpPr>
        <p:spPr>
          <a:xfrm>
            <a:off x="457200" y="2377440"/>
            <a:ext cx="8229600" cy="192024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Runs on every push to main (and on pull requests)</a:t>
            </a:r>
            <a:endParaRPr lang="en-US" sz="1500" dirty="0"/>
          </a:p>
          <a:p>
            <a:pPr marL="342900" indent="-342900">
              <a:spcAft>
                <a:spcPts val="800"/>
              </a:spcAft>
              <a:buSzPct val="100000"/>
              <a:buChar char="•"/>
            </a:pPr>
            <a:r>
              <a:rPr lang="en-US" sz="1500" dirty="0">
                <a:solidFill>
                  <a:schemeClr val="tx1"/>
                </a:solidFill>
              </a:rPr>
              <a:t>A failing test or a fixable HIGH/CRITICAL CVE stops the pipeline</a:t>
            </a:r>
            <a:endParaRPr lang="en-US" sz="1500" dirty="0"/>
          </a:p>
          <a:p>
            <a:pPr marL="342900" indent="-342900">
              <a:spcAft>
                <a:spcPts val="800"/>
              </a:spcAft>
              <a:buSzPct val="100000"/>
              <a:buChar char="•"/>
            </a:pPr>
            <a:r>
              <a:rPr lang="en-US" sz="1500" dirty="0">
                <a:solidFill>
                  <a:schemeClr val="tx1"/>
                </a:solidFill>
              </a:rPr>
              <a:t>Images tagged with the commit SHA, never latest</a:t>
            </a:r>
            <a:endParaRPr lang="en-US" sz="1500" dirty="0"/>
          </a:p>
          <a:p>
            <a:pPr marL="342900" indent="-342900">
              <a:spcAft>
                <a:spcPts val="800"/>
              </a:spcAft>
              <a:buSzPct val="100000"/>
              <a:buChar char="•"/>
            </a:pPr>
            <a:r>
              <a:rPr lang="en-US" sz="1500" dirty="0">
                <a:solidFill>
                  <a:schemeClr val="tx1"/>
                </a:solidFill>
              </a:rPr>
              <a:t>Deploy job on my laptop runner: Helm upgrade with the commit SHA</a:t>
            </a:r>
            <a:endParaRPr lang="en-US" sz="1500" dirty="0"/>
          </a:p>
          <a:p>
            <a:pPr marL="342900" indent="-342900">
              <a:spcAft>
                <a:spcPts val="800"/>
              </a:spcAft>
              <a:buSzPct val="100000"/>
              <a:buChar char="•"/>
            </a:pPr>
            <a:r>
              <a:rPr lang="en-US" sz="1500" dirty="0">
                <a:solidFill>
                  <a:schemeClr val="tx1"/>
                </a:solidFill>
              </a:rPr>
              <a:t>Actions pinned to commit SHAs; write access only on the image job</a:t>
            </a:r>
            <a:endParaRPr lang="en-US" sz="15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Pipeline run and GHCR</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M5</a:t>
            </a:r>
            <a:endParaRPr lang="en-US" sz="1400" dirty="0"/>
          </a:p>
        </p:txBody>
      </p:sp>
      <p:sp>
        <p:nvSpPr>
          <p:cNvPr id="5" name="Actions run frame"/>
          <p:cNvSpPr/>
          <p:nvPr/>
        </p:nvSpPr>
        <p:spPr>
          <a:xfrm>
            <a:off x="420624" y="1064260"/>
            <a:ext cx="4462272" cy="2816352"/>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GitHub Actions run 4, all five jobs green">    </p:cNvPr>
          <p:cNvPicPr>
            <a:picLocks noChangeAspect="1"/>
          </p:cNvPicPr>
          <p:nvPr/>
        </p:nvPicPr>
        <p:blipFill>
          <a:blip r:embed="rId1"/>
          <a:stretch>
            <a:fillRect/>
          </a:stretch>
        </p:blipFill>
        <p:spPr>
          <a:xfrm>
            <a:off x="457200" y="1100836"/>
            <a:ext cx="4389120" cy="2743200"/>
          </a:xfrm>
          <a:prstGeom prst="rect">
            <a:avLst/>
          </a:prstGeom>
        </p:spPr>
      </p:pic>
      <p:sp>
        <p:nvSpPr>
          <p:cNvPr id="7" name="GHCR backend frame"/>
          <p:cNvSpPr/>
          <p:nvPr/>
        </p:nvSpPr>
        <p:spPr>
          <a:xfrm>
            <a:off x="5120640" y="1060704"/>
            <a:ext cx="3555853" cy="1347724"/>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HCR page for placetrack-backend with the commit SHA tag">    </p:cNvPr>
          <p:cNvPicPr>
            <a:picLocks noChangeAspect="1"/>
          </p:cNvPicPr>
          <p:nvPr/>
        </p:nvPicPr>
        <p:blipFill>
          <a:blip r:embed="rId2"/>
          <a:stretch>
            <a:fillRect/>
          </a:stretch>
        </p:blipFill>
        <p:spPr>
          <a:xfrm>
            <a:off x="5157216" y="1097280"/>
            <a:ext cx="3482701" cy="1274572"/>
          </a:xfrm>
          <a:prstGeom prst="rect">
            <a:avLst/>
          </a:prstGeom>
        </p:spPr>
      </p:pic>
      <p:sp>
        <p:nvSpPr>
          <p:cNvPr id="20" name="GHCR frontend frame"/>
          <p:cNvSpPr/>
          <p:nvPr/>
        </p:nvSpPr>
        <p:spPr>
          <a:xfrm>
            <a:off x="5120640" y="2536444"/>
            <a:ext cx="3555853" cy="1347724"/>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21" name="Image 2" descr="GHCR page for placetrack-frontend with the commit SHA tag">    </p:cNvPr>
          <p:cNvPicPr>
            <a:picLocks noChangeAspect="1"/>
          </p:cNvPicPr>
          <p:nvPr/>
        </p:nvPicPr>
        <p:blipFill>
          <a:blip r:embed="rId5"/>
          <a:stretch>
            <a:fillRect/>
          </a:stretch>
        </p:blipFill>
        <p:spPr>
          <a:xfrm>
            <a:off x="5157216" y="2573020"/>
            <a:ext cx="3482701" cy="1274572"/>
          </a:xfrm>
          <a:prstGeom prst="rect">
            <a:avLst/>
          </a:prstGeom>
        </p:spPr>
      </p:pic>
      <p:sp>
        <p:nvSpPr>
          <p:cNvPr id="9" name="Text 5"/>
          <p:cNvSpPr txBox="1"/>
          <p:nvPr/>
        </p:nvSpPr>
        <p:spPr>
          <a:xfrm>
            <a:off x="457200" y="4069080"/>
            <a:ext cx="8229600" cy="6400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Run #4: tests, frontend build, both image builds with Trivy, and the deploy job all passed</a:t>
            </a:r>
            <a:endParaRPr lang="en-US" sz="1400" dirty="0"/>
          </a:p>
          <a:p>
            <a:pPr marL="342900" indent="-342900">
              <a:spcAft>
                <a:spcPts val="800"/>
              </a:spcAft>
              <a:buSzPct val="100000"/>
              <a:buChar char="•"/>
            </a:pPr>
            <a:r>
              <a:rPr lang="en-US" sz="1400" dirty="0">
                <a:solidFill>
                  <a:schemeClr val="tx1"/>
                </a:solidFill>
              </a:rPr>
              <a:t>Both images are public in GHCR and tagged with the commit SHA</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Security scan</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M6</a:t>
            </a:r>
            <a:endParaRPr lang="en-US" sz="1400" dirty="0"/>
          </a:p>
        </p:txBody>
      </p:sp>
      <p:sp>
        <p:nvSpPr>
          <p:cNvPr id="5" name="Trivy findings before the fix frame"/>
          <p:cNvSpPr/>
          <p:nvPr/>
        </p:nvSpPr>
        <p:spPr>
          <a:xfrm>
            <a:off x="420624" y="1060704"/>
            <a:ext cx="4919472" cy="2566988"/>
          </a:xfrm>
          <a:prstGeom prst="roundRect">
            <a:avLst>
              <a:gd name="adj" fmla="val 243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Trivy scan step in the pipeline run, backend image, 0 vulnerabilities">    </p:cNvPr>
          <p:cNvPicPr>
            <a:picLocks noChangeAspect="1"/>
          </p:cNvPicPr>
          <p:nvPr/>
        </p:nvPicPr>
        <p:blipFill>
          <a:blip r:embed="rId1"/>
          <a:stretch>
            <a:fillRect/>
          </a:stretch>
        </p:blipFill>
        <p:spPr>
          <a:xfrm>
            <a:off x="457200" y="1097280"/>
            <a:ext cx="4846320" cy="2493836"/>
          </a:xfrm>
          <a:prstGeom prst="rect">
            <a:avLst/>
          </a:prstGeom>
        </p:spPr>
      </p:pic>
      <p:sp>
        <p:nvSpPr>
          <p:cNvPr id="7" name="Text 4"/>
          <p:cNvSpPr txBox="1"/>
          <p:nvPr/>
        </p:nvSpPr>
        <p:spPr>
          <a:xfrm>
            <a:off x="5577840" y="1097280"/>
            <a:ext cx="3108960" cy="731520"/>
          </a:xfrm>
          <a:prstGeom prst="rect">
            <a:avLst/>
          </a:prstGeom>
          <a:noFill/>
          <a:ln/>
        </p:spPr>
        <p:txBody>
          <a:bodyPr wrap="square" lIns="0" tIns="0" rIns="0" bIns="0" rtlCol="0" anchor="ctr"/>
          <a:lstStyle/>
          <a:p>
            <a:pPr indent="0" marL="0">
              <a:buNone/>
            </a:pPr>
            <a:r>
              <a:rPr lang="en-US" sz="4800" b="1" dirty="0">
                <a:solidFill>
                  <a:schemeClr val="accent1"/>
                </a:solidFill>
                <a:latin typeface="Cambria" pitchFamily="34" charset="0"/>
                <a:ea typeface="Cambria" pitchFamily="34" charset="-122"/>
                <a:cs typeface="Cambria" pitchFamily="34" charset="-120"/>
              </a:rPr>
              <a:t>3 → 0</a:t>
            </a:r>
            <a:endParaRPr lang="en-US" sz="4800" dirty="0"/>
          </a:p>
        </p:txBody>
      </p:sp>
      <p:sp>
        <p:nvSpPr>
          <p:cNvPr id="8" name="Text 5"/>
          <p:cNvSpPr txBox="1"/>
          <p:nvPr/>
        </p:nvSpPr>
        <p:spPr>
          <a:xfrm>
            <a:off x="5577840" y="182880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backend HIGH findings (Starlette)</a:t>
            </a:r>
            <a:endParaRPr lang="en-US" sz="1400" dirty="0"/>
          </a:p>
        </p:txBody>
      </p:sp>
      <p:sp>
        <p:nvSpPr>
          <p:cNvPr id="9" name="Text 6"/>
          <p:cNvSpPr txBox="1"/>
          <p:nvPr/>
        </p:nvSpPr>
        <p:spPr>
          <a:xfrm>
            <a:off x="5577840" y="2514600"/>
            <a:ext cx="3108960" cy="731520"/>
          </a:xfrm>
          <a:prstGeom prst="rect">
            <a:avLst/>
          </a:prstGeom>
          <a:noFill/>
          <a:ln/>
        </p:spPr>
        <p:txBody>
          <a:bodyPr wrap="square" lIns="0" tIns="0" rIns="0" bIns="0" rtlCol="0" anchor="ctr"/>
          <a:lstStyle/>
          <a:p>
            <a:pPr indent="0" marL="0">
              <a:buNone/>
            </a:pPr>
            <a:r>
              <a:rPr lang="en-US" sz="4800" b="1" dirty="0">
                <a:solidFill>
                  <a:schemeClr val="accent4"/>
                </a:solidFill>
                <a:latin typeface="Cambria" pitchFamily="34" charset="0"/>
                <a:ea typeface="Cambria" pitchFamily="34" charset="-122"/>
                <a:cs typeface="Cambria" pitchFamily="34" charset="-120"/>
              </a:rPr>
              <a:t>42 → 0</a:t>
            </a:r>
            <a:endParaRPr lang="en-US" sz="4800" dirty="0"/>
          </a:p>
        </p:txBody>
      </p:sp>
      <p:sp>
        <p:nvSpPr>
          <p:cNvPr id="10" name="Text 7"/>
          <p:cNvSpPr txBox="1"/>
          <p:nvPr/>
        </p:nvSpPr>
        <p:spPr>
          <a:xfrm>
            <a:off x="5577840" y="3246120"/>
            <a:ext cx="3108960" cy="457200"/>
          </a:xfrm>
          <a:prstGeom prst="rect">
            <a:avLst/>
          </a:prstGeom>
          <a:noFill/>
          <a:ln/>
        </p:spPr>
        <p:txBody>
          <a:bodyPr wrap="square" lIns="0" tIns="0" rIns="0" bIns="0" rtlCol="0" anchor="t"/>
          <a:lstStyle/>
          <a:p>
            <a:pPr indent="0" marL="0">
              <a:buNone/>
            </a:pPr>
            <a:r>
              <a:rPr lang="en-US" sz="1400" dirty="0">
                <a:solidFill>
                  <a:schemeClr val="accent6"/>
                </a:solidFill>
              </a:rPr>
              <a:t>frontend HIGH + CRITICAL (Alpine libs)</a:t>
            </a:r>
            <a:endParaRPr lang="en-US" sz="1400" dirty="0"/>
          </a:p>
        </p:txBody>
      </p:sp>
      <p:sp>
        <p:nvSpPr>
          <p:cNvPr id="11" name="Text 8"/>
          <p:cNvSpPr txBox="1"/>
          <p:nvPr/>
        </p:nvSpPr>
        <p:spPr>
          <a:xfrm>
            <a:off x="457200" y="4251960"/>
            <a:ext cx="8229600" cy="457200"/>
          </a:xfrm>
          <a:prstGeom prst="rect">
            <a:avLst/>
          </a:prstGeom>
          <a:noFill/>
          <a:ln/>
        </p:spPr>
        <p:txBody>
          <a:bodyPr wrap="square" lIns="0" tIns="0" rIns="0" bIns="0" rtlCol="0" anchor="t"/>
          <a:lstStyle/>
          <a:p>
            <a:pPr indent="0" marL="0">
              <a:buNone/>
            </a:pPr>
            <a:r>
              <a:rPr lang="en-US" sz="1200" dirty="0">
                <a:solidFill>
                  <a:schemeClr val="tx1"/>
                </a:solidFill>
              </a:rPr>
              <a:t>Example: CVE-2025-62727, Starlette denial of service through crafted Range headers. Fixed by upgrading FastAPI and the nginx base image, then scanning again: exit code 0.</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Terraform on AWS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Text 3"/>
          <p:cNvSpPr txBox="1"/>
          <p:nvPr/>
        </p:nvSpPr>
        <p:spPr>
          <a:xfrm>
            <a:off x="457200" y="1097280"/>
            <a:ext cx="8229600" cy="10972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with 2 public subnets in 2 availability zones</a:t>
            </a:r>
            <a:endParaRPr lang="en-US" sz="1300" dirty="0"/>
          </a:p>
          <a:p>
            <a:pPr marL="342900" indent="-342900">
              <a:spcAft>
                <a:spcPts val="800"/>
              </a:spcAft>
              <a:buSzPct val="100000"/>
              <a:buChar char="•"/>
            </a:pPr>
            <a:r>
              <a:rPr lang="en-US" sz="1300" dirty="0">
                <a:solidFill>
                  <a:schemeClr val="tx1"/>
                </a:solidFill>
              </a:rPr>
              <a:t>EKS 1.35 cluster + managed node group, 2 x t3.small, API limited to my IP</a:t>
            </a:r>
            <a:endParaRPr lang="en-US" sz="1300" dirty="0"/>
          </a:p>
          <a:p>
            <a:pPr marL="342900" indent="-342900">
              <a:spcAft>
                <a:spcPts val="800"/>
              </a:spcAft>
              <a:buSzPct val="100000"/>
              <a:buChar char="•"/>
            </a:pPr>
            <a:r>
              <a:rPr lang="en-US" sz="1300" dirty="0">
                <a:solidFill>
                  <a:schemeClr val="tx1"/>
                </a:solidFill>
              </a:rPr>
              <a:t>Plan: 49 to add. Apply created all 49, destroy removed all 49</a:t>
            </a:r>
            <a:endParaRPr lang="en-US" sz="1300" dirty="0"/>
          </a:p>
        </p:txBody>
      </p:sp>
      <p:sp>
        <p:nvSpPr>
          <p:cNvPr id="6" name="terraform plan output frame"/>
          <p:cNvSpPr/>
          <p:nvPr/>
        </p:nvSpPr>
        <p:spPr>
          <a:xfrm>
            <a:off x="420624" y="2249424"/>
            <a:ext cx="3825345" cy="2404872"/>
          </a:xfrm>
          <a:prstGeom prst="roundRect">
            <a:avLst>
              <a:gd name="adj" fmla="val 195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7" name="Image 0" descr="terraform plan output">    </p:cNvPr>
          <p:cNvPicPr>
            <a:picLocks noChangeAspect="1"/>
          </p:cNvPicPr>
          <p:nvPr/>
        </p:nvPicPr>
        <p:blipFill>
          <a:blip r:embed="rId1"/>
          <a:stretch>
            <a:fillRect/>
          </a:stretch>
        </p:blipFill>
        <p:spPr>
          <a:xfrm>
            <a:off x="457200" y="2286000"/>
            <a:ext cx="3752193" cy="2331720"/>
          </a:xfrm>
          <a:prstGeom prst="rect">
            <a:avLst/>
          </a:prstGeom>
        </p:spPr>
      </p:pic>
      <p:sp>
        <p:nvSpPr>
          <p:cNvPr id="8" name="terraform apply output frame"/>
          <p:cNvSpPr/>
          <p:nvPr/>
        </p:nvSpPr>
        <p:spPr>
          <a:xfrm>
            <a:off x="4672584" y="2249424"/>
            <a:ext cx="3825345" cy="2404872"/>
          </a:xfrm>
          <a:prstGeom prst="roundRect">
            <a:avLst>
              <a:gd name="adj" fmla="val 190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9" name="Image 1" descr="terraform destroy output">    </p:cNvPr>
          <p:cNvPicPr>
            <a:picLocks noChangeAspect="1"/>
          </p:cNvPicPr>
          <p:nvPr/>
        </p:nvPicPr>
        <p:blipFill>
          <a:blip r:embed="rId2"/>
          <a:stretch>
            <a:fillRect/>
          </a:stretch>
        </p:blipFill>
        <p:spPr>
          <a:xfrm>
            <a:off x="4709160" y="2286000"/>
            <a:ext cx="3752193" cy="2331720"/>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AWS Console</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M7</a:t>
            </a:r>
            <a:endParaRPr lang="en-US" sz="1400" dirty="0"/>
          </a:p>
        </p:txBody>
      </p:sp>
      <p:sp>
        <p:nvSpPr>
          <p:cNvPr id="5" name="AWS Console: VPC with two public subnets frame"/>
          <p:cNvSpPr/>
          <p:nvPr/>
        </p:nvSpPr>
        <p:spPr>
          <a:xfrm>
            <a:off x="420624" y="1060704"/>
            <a:ext cx="3908753"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AWS Console: VPC with two public subnets">    </p:cNvPr>
          <p:cNvPicPr>
            <a:picLocks noChangeAspect="1"/>
          </p:cNvPicPr>
          <p:nvPr/>
        </p:nvPicPr>
        <p:blipFill>
          <a:blip r:embed="rId1"/>
          <a:stretch>
            <a:fillRect/>
          </a:stretch>
        </p:blipFill>
        <p:spPr>
          <a:xfrm>
            <a:off x="457200" y="1097280"/>
            <a:ext cx="3835601" cy="2398249"/>
          </a:xfrm>
          <a:prstGeom prst="rect">
            <a:avLst/>
          </a:prstGeom>
        </p:spPr>
      </p:pic>
      <p:sp>
        <p:nvSpPr>
          <p:cNvPr id="7" name="AWS Console: EKS cluster frame"/>
          <p:cNvSpPr/>
          <p:nvPr/>
        </p:nvSpPr>
        <p:spPr>
          <a:xfrm>
            <a:off x="4672584" y="1060704"/>
            <a:ext cx="3910350" cy="2471401"/>
          </a:xfrm>
          <a:prstGeom prst="roundRect">
            <a:avLst>
              <a:gd name="adj" fmla="val 1850"/>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AWS Console: EKS cluster">    </p:cNvPr>
          <p:cNvPicPr>
            <a:picLocks noChangeAspect="1"/>
          </p:cNvPicPr>
          <p:nvPr/>
        </p:nvPicPr>
        <p:blipFill>
          <a:blip r:embed="rId2"/>
          <a:stretch>
            <a:fillRect/>
          </a:stretch>
        </p:blipFill>
        <p:spPr>
          <a:xfrm>
            <a:off x="4709160" y="1097280"/>
            <a:ext cx="3837198" cy="2398249"/>
          </a:xfrm>
          <a:prstGeom prst="rect">
            <a:avLst/>
          </a:prstGeom>
        </p:spPr>
      </p:pic>
      <p:sp>
        <p:nvSpPr>
          <p:cNvPr id="9" name="Text 5"/>
          <p:cNvSpPr txBox="1"/>
          <p:nvPr/>
        </p:nvSpPr>
        <p:spPr>
          <a:xfrm>
            <a:off x="457200" y="3703320"/>
            <a:ext cx="8229600" cy="10058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chemeClr val="tx1"/>
                </a:solidFill>
              </a:rPr>
              <a:t>VPC placetrack-vpc with subnets in ap-south-1a and ap-south-1b</a:t>
            </a:r>
            <a:endParaRPr lang="en-US" sz="1300" dirty="0"/>
          </a:p>
          <a:p>
            <a:pPr marL="342900" indent="-342900">
              <a:spcAft>
                <a:spcPts val="800"/>
              </a:spcAft>
              <a:buSzPct val="100000"/>
              <a:buChar char="•"/>
            </a:pPr>
            <a:r>
              <a:rPr lang="en-US" sz="1300" dirty="0">
                <a:solidFill>
                  <a:schemeClr val="tx1"/>
                </a:solidFill>
              </a:rPr>
              <a:t>EKS 1.35 cluster Active, 1 node group, 2 nodes Ready</a:t>
            </a:r>
            <a:endParaRPr lang="en-US" sz="1300" dirty="0"/>
          </a:p>
          <a:p>
            <a:pPr marL="342900" indent="-342900">
              <a:spcAft>
                <a:spcPts val="800"/>
              </a:spcAft>
              <a:buSzPct val="100000"/>
              <a:buChar char="•"/>
            </a:pPr>
            <a:r>
              <a:rPr lang="en-US" sz="1300" dirty="0">
                <a:solidFill>
                  <a:schemeClr val="tx1"/>
                </a:solidFill>
              </a:rPr>
              <a:t>terraform destroy removed everything, so nothing is left to bill</a:t>
            </a:r>
            <a:endParaRPr lang="en-US" sz="13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Kubernetes and Helm</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kubectl get pods frame"/>
          <p:cNvSpPr/>
          <p:nvPr/>
        </p:nvSpPr>
        <p:spPr>
          <a:xfrm>
            <a:off x="420624" y="1646083"/>
            <a:ext cx="8302752" cy="2468553"/>
          </a:xfrm>
          <a:prstGeom prst="roundRect">
            <a:avLst>
              <a:gd name="adj" fmla="val 2591"/>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kubectl get pods, svc, helm list, ingress and hpa">    </p:cNvPr>
          <p:cNvPicPr>
            <a:picLocks noChangeAspect="1"/>
          </p:cNvPicPr>
          <p:nvPr/>
        </p:nvPicPr>
        <p:blipFill>
          <a:blip r:embed="rId1"/>
          <a:stretch>
            <a:fillRect/>
          </a:stretch>
        </p:blipFill>
        <p:spPr>
          <a:xfrm>
            <a:off x="457200" y="1682659"/>
            <a:ext cx="8229600" cy="2395401"/>
          </a:xfrm>
          <a:prstGeom prst="rect">
            <a:avLst/>
          </a:prstGeom>
        </p:spPr>
      </p:pic>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Through the Ingress</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M8</a:t>
            </a:r>
            <a:endParaRPr lang="en-US" sz="1400" dirty="0"/>
          </a:p>
        </p:txBody>
      </p:sp>
      <p:sp>
        <p:nvSpPr>
          <p:cNvPr id="5" name="PlaceTrack served through the Ingress frame"/>
          <p:cNvSpPr/>
          <p:nvPr/>
        </p:nvSpPr>
        <p:spPr>
          <a:xfrm>
            <a:off x="420624" y="1060704"/>
            <a:ext cx="5468112" cy="3445002"/>
          </a:xfrm>
          <a:prstGeom prst="roundRect">
            <a:avLst>
              <a:gd name="adj" fmla="val 132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laceTrack served through the Ingress">    </p:cNvPr>
          <p:cNvPicPr>
            <a:picLocks noChangeAspect="1"/>
          </p:cNvPicPr>
          <p:nvPr/>
        </p:nvPicPr>
        <p:blipFill>
          <a:blip r:embed="rId1"/>
          <a:stretch>
            <a:fillRect/>
          </a:stretch>
        </p:blipFill>
        <p:spPr>
          <a:xfrm>
            <a:off x="457200" y="1097280"/>
            <a:ext cx="5394960" cy="3371850"/>
          </a:xfrm>
          <a:prstGeom prst="rect">
            <a:avLst/>
          </a:prstGeom>
        </p:spPr>
      </p:pic>
      <p:sp>
        <p:nvSpPr>
          <p:cNvPr id="7" name="Text 4"/>
          <p:cNvSpPr txBox="1"/>
          <p:nvPr/>
        </p:nvSpPr>
        <p:spPr>
          <a:xfrm>
            <a:off x="6126480" y="1188720"/>
            <a:ext cx="2560320" cy="31089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Ingress sends / to the frontend and /api to the backend, which uses Postgres</a:t>
            </a:r>
            <a:endParaRPr lang="en-US" sz="1400" dirty="0"/>
          </a:p>
          <a:p>
            <a:pPr marL="342900" indent="-342900">
              <a:spcAft>
                <a:spcPts val="800"/>
              </a:spcAft>
              <a:buSzPct val="100000"/>
              <a:buChar char="•"/>
            </a:pPr>
            <a:r>
              <a:rPr lang="en-US" sz="1400" dirty="0">
                <a:solidFill>
                  <a:schemeClr val="tx1"/>
                </a:solidFill>
              </a:rPr>
              <a:t>Live data written through /api</a:t>
            </a:r>
            <a:endParaRPr lang="en-US" sz="1400" dirty="0"/>
          </a:p>
          <a:p>
            <a:pPr marL="342900" indent="-342900">
              <a:spcAft>
                <a:spcPts val="800"/>
              </a:spcAft>
              <a:buSzPct val="100000"/>
              <a:buChar char="•"/>
            </a:pPr>
            <a:r>
              <a:rPr lang="en-US" sz="1400" dirty="0">
                <a:solidFill>
                  <a:schemeClr val="tx1"/>
                </a:solidFill>
              </a:rPr>
              <a:t>Deployed with one helm command</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Observability</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M9</a:t>
            </a:r>
            <a:endParaRPr lang="en-US" sz="1400" dirty="0"/>
          </a:p>
        </p:txBody>
      </p:sp>
      <p:sp>
        <p:nvSpPr>
          <p:cNvPr id="5" name="Prometheus targets, both backend pods UP frame"/>
          <p:cNvSpPr/>
          <p:nvPr/>
        </p:nvSpPr>
        <p:spPr>
          <a:xfrm>
            <a:off x="42062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6" name="Image 0" descr="Prometheus targets, both backend pods UP">    </p:cNvPr>
          <p:cNvPicPr>
            <a:picLocks noChangeAspect="1"/>
          </p:cNvPicPr>
          <p:nvPr/>
        </p:nvPicPr>
        <p:blipFill>
          <a:blip r:embed="rId1"/>
          <a:stretch>
            <a:fillRect/>
          </a:stretch>
        </p:blipFill>
        <p:spPr>
          <a:xfrm>
            <a:off x="457200" y="1097280"/>
            <a:ext cx="3977640" cy="2486025"/>
          </a:xfrm>
          <a:prstGeom prst="rect">
            <a:avLst/>
          </a:prstGeom>
        </p:spPr>
      </p:pic>
      <p:sp>
        <p:nvSpPr>
          <p:cNvPr id="7" name="Grafana dashboard with live panels frame"/>
          <p:cNvSpPr/>
          <p:nvPr/>
        </p:nvSpPr>
        <p:spPr>
          <a:xfrm>
            <a:off x="4672584" y="1060704"/>
            <a:ext cx="4050792" cy="2559177"/>
          </a:xfrm>
          <a:prstGeom prst="roundRect">
            <a:avLst>
              <a:gd name="adj" fmla="val 1787"/>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1" descr="Grafana dashboard with live panels">    </p:cNvPr>
          <p:cNvPicPr>
            <a:picLocks noChangeAspect="1"/>
          </p:cNvPicPr>
          <p:nvPr/>
        </p:nvPicPr>
        <p:blipFill>
          <a:blip r:embed="rId2"/>
          <a:stretch>
            <a:fillRect/>
          </a:stretch>
        </p:blipFill>
        <p:spPr>
          <a:xfrm>
            <a:off x="4709160" y="1097280"/>
            <a:ext cx="3977640" cy="2486025"/>
          </a:xfrm>
          <a:prstGeom prst="rect">
            <a:avLst/>
          </a:prstGeom>
        </p:spPr>
      </p:pic>
      <p:sp>
        <p:nvSpPr>
          <p:cNvPr id="9" name="Text 5"/>
          <p:cNvSpPr txBox="1"/>
          <p:nvPr/>
        </p:nvSpPr>
        <p:spPr>
          <a:xfrm>
            <a:off x="457200" y="3794760"/>
            <a:ext cx="8229600" cy="914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/metrics exposed by FastAPI; ServiceMonitor makes Prometheus scrape both pods</a:t>
            </a:r>
            <a:endParaRPr lang="en-US" sz="1400" dirty="0"/>
          </a:p>
          <a:p>
            <a:pPr marL="342900" indent="-342900">
              <a:spcAft>
                <a:spcPts val="800"/>
              </a:spcAft>
              <a:buSzPct val="100000"/>
              <a:buChar char="•"/>
            </a:pPr>
            <a:r>
              <a:rPr lang="en-US" sz="1400" dirty="0">
                <a:solidFill>
                  <a:schemeClr val="tx1"/>
                </a:solidFill>
              </a:rPr>
              <a:t>Dashboard: request rate, p95 latency, error responses, pods up (3 after the HPA scaled out)</a:t>
            </a:r>
            <a:endParaRPr lang="en-US" sz="14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1280160" y="365760"/>
            <a:ext cx="7406640" cy="566928"/>
          </a:xfrm>
          <a:prstGeom prst="rect">
            <a:avLst/>
          </a:prstGeom>
          <a:noFill/>
          <a:ln/>
        </p:spPr>
        <p:txBody>
          <a:bodyPr wrap="square" lIns="0" tIns="0" rIns="0" bIns="0" rtlCol="0" anchor="ctr"/>
          <a:lstStyle/>
          <a:p>
            <a:pPr algn="l" indent="0" marL="0">
              <a:buNone/>
            </a:pPr>
            <a:r>
              <a:rPr lang="en-US" sz="3200" b="1" dirty="0">
                <a:solidFill>
                  <a:schemeClr val="tx1"/>
                </a:solidFill>
              </a:rPr>
              <a:t>Troubleshooting</a:t>
            </a:r>
            <a:endParaRPr lang="en-US" sz="3200" dirty="0"/>
          </a:p>
        </p:txBody>
      </p:sp>
      <p:sp>
        <p:nvSpPr>
          <p:cNvPr id="3" name="Module chip"/>
          <p:cNvSpPr/>
          <p:nvPr/>
        </p:nvSpPr>
        <p:spPr>
          <a:xfrm>
            <a:off x="457200" y="420624"/>
            <a:ext cx="640080" cy="457200"/>
          </a:xfrm>
          <a:prstGeom prst="roundRect">
            <a:avLst>
              <a:gd name="adj" fmla="val 20000"/>
            </a:avLst>
          </a:prstGeom>
          <a:solidFill>
            <a:schemeClr val="accent1"/>
          </a:solidFill>
          <a:ln/>
        </p:spPr>
      </p:sp>
      <p:sp>
        <p:nvSpPr>
          <p:cNvPr id="4" name="Text 2"/>
          <p:cNvSpPr txBox="1"/>
          <p:nvPr/>
        </p:nvSpPr>
        <p:spPr>
          <a:xfrm>
            <a:off x="457200" y="420624"/>
            <a:ext cx="640080" cy="457200"/>
          </a:xfrm>
          <a:prstGeom prst="rect">
            <a:avLst/>
          </a:prstGeom>
          <a:noFill/>
          <a:ln/>
        </p:spPr>
        <p:txBody>
          <a:bodyPr wrap="square" lIns="0" tIns="0" rIns="0" bIns="0" rtlCol="0" anchor="ctr"/>
          <a:lstStyle/>
          <a:p>
            <a:pPr algn="ctr" indent="0" marL="0">
              <a:buNone/>
            </a:pPr>
            <a:r>
              <a:rPr lang="en-US" sz="1400" b="1" dirty="0">
                <a:solidFill>
                  <a:schemeClr val="bg1"/>
                </a:solidFill>
              </a:rPr>
              <a:t>FIX</a:t>
            </a:r>
            <a:endParaRPr lang="en-US" sz="1400" dirty="0"/>
          </a:p>
        </p:txBody>
      </p:sp>
      <p:sp>
        <p:nvSpPr>
          <p:cNvPr id="5" name="Incident 1"/>
          <p:cNvSpPr/>
          <p:nvPr/>
        </p:nvSpPr>
        <p:spPr>
          <a:xfrm>
            <a:off x="457200" y="1143000"/>
            <a:ext cx="4023360" cy="3429000"/>
          </a:xfrm>
          <a:prstGeom prst="roundRect">
            <a:avLst>
              <a:gd name="adj" fmla="val 2667"/>
            </a:avLst>
          </a:prstGeom>
          <a:solidFill>
            <a:schemeClr val="bg2"/>
          </a:solidFill>
          <a:ln/>
        </p:spPr>
      </p:sp>
      <p:sp>
        <p:nvSpPr>
          <p:cNvPr id="6" name="Text 4"/>
          <p:cNvSpPr txBox="1"/>
          <p:nvPr/>
        </p:nvSpPr>
        <p:spPr>
          <a:xfrm>
            <a:off x="64008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Bad image tag</a:t>
            </a:r>
            <a:endParaRPr lang="en-US" sz="1800" dirty="0"/>
          </a:p>
        </p:txBody>
      </p:sp>
      <p:sp>
        <p:nvSpPr>
          <p:cNvPr id="7" name="Bad image tag terminal output frame"/>
          <p:cNvSpPr/>
          <p:nvPr/>
        </p:nvSpPr>
        <p:spPr>
          <a:xfrm>
            <a:off x="603504" y="1655064"/>
            <a:ext cx="3730752" cy="918319"/>
          </a:xfrm>
          <a:prstGeom prst="roundRect">
            <a:avLst>
              <a:gd name="adj" fmla="val 4905"/>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8" name="Image 0" descr="Bad image tag terminal output">    </p:cNvPr>
          <p:cNvPicPr>
            <a:picLocks noChangeAspect="1"/>
          </p:cNvPicPr>
          <p:nvPr/>
        </p:nvPicPr>
        <p:blipFill>
          <a:blip r:embed="rId1"/>
          <a:stretch>
            <a:fillRect/>
          </a:stretch>
        </p:blipFill>
        <p:spPr>
          <a:xfrm>
            <a:off x="640080" y="1691640"/>
            <a:ext cx="3657600" cy="845167"/>
          </a:xfrm>
          <a:prstGeom prst="rect">
            <a:avLst/>
          </a:prstGeom>
        </p:spPr>
      </p:pic>
      <p:sp>
        <p:nvSpPr>
          <p:cNvPr id="9" name="Text 6"/>
          <p:cNvSpPr txBox="1"/>
          <p:nvPr/>
        </p:nvSpPr>
        <p:spPr>
          <a:xfrm>
            <a:off x="64008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ImagePullBackOff</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Tag does not exist in the registry</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Point the Deployment at a real tag</a:t>
            </a:r>
            <a:endParaRPr lang="en-US" sz="1200" dirty="0"/>
          </a:p>
        </p:txBody>
      </p:sp>
      <p:sp>
        <p:nvSpPr>
          <p:cNvPr id="10" name="Incident 2"/>
          <p:cNvSpPr/>
          <p:nvPr/>
        </p:nvSpPr>
        <p:spPr>
          <a:xfrm>
            <a:off x="4663440" y="1143000"/>
            <a:ext cx="4023360" cy="3429000"/>
          </a:xfrm>
          <a:prstGeom prst="roundRect">
            <a:avLst>
              <a:gd name="adj" fmla="val 2667"/>
            </a:avLst>
          </a:prstGeom>
          <a:solidFill>
            <a:schemeClr val="bg2"/>
          </a:solidFill>
          <a:ln/>
        </p:spPr>
      </p:sp>
      <p:sp>
        <p:nvSpPr>
          <p:cNvPr id="11" name="Text 8"/>
          <p:cNvSpPr txBox="1"/>
          <p:nvPr/>
        </p:nvSpPr>
        <p:spPr>
          <a:xfrm>
            <a:off x="4846320" y="1234440"/>
            <a:ext cx="3657600" cy="3657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Selector mismatch</a:t>
            </a:r>
            <a:endParaRPr lang="en-US" sz="1800" dirty="0"/>
          </a:p>
        </p:txBody>
      </p:sp>
      <p:sp>
        <p:nvSpPr>
          <p:cNvPr id="12" name="Selector mismatch terminal output frame"/>
          <p:cNvSpPr/>
          <p:nvPr/>
        </p:nvSpPr>
        <p:spPr>
          <a:xfrm>
            <a:off x="4809744" y="1655064"/>
            <a:ext cx="3730752" cy="991471"/>
          </a:xfrm>
          <a:prstGeom prst="roundRect">
            <a:avLst>
              <a:gd name="adj" fmla="val 2976"/>
            </a:avLst>
          </a:prstGeom>
          <a:solidFill>
            <a:schemeClr val="bg1"/>
          </a:solidFill>
          <a:ln w="9525">
            <a:solidFill>
              <a:schemeClr val="accent6"/>
            </a:solidFill>
            <a:prstDash val="solid"/>
          </a:ln>
          <a:effectLst>
            <a:outerShdw sx="100000" sy="100000" kx="0" ky="0" algn="bl" rotWithShape="0" blurRad="76200" dist="25400" dir="5400000">
              <a:srgbClr val="000000">
                <a:alpha val="18000"/>
              </a:srgbClr>
            </a:outerShdw>
          </a:effectLst>
        </p:spPr>
      </p:sp>
      <p:pic>
        <p:nvPicPr>
          <p:cNvPr id="13" name="Image 1" descr="Selector mismatch terminal output">    </p:cNvPr>
          <p:cNvPicPr>
            <a:picLocks noChangeAspect="1"/>
          </p:cNvPicPr>
          <p:nvPr/>
        </p:nvPicPr>
        <p:blipFill>
          <a:blip r:embed="rId2"/>
          <a:stretch>
            <a:fillRect/>
          </a:stretch>
        </p:blipFill>
        <p:spPr>
          <a:xfrm>
            <a:off x="4846320" y="1691640"/>
            <a:ext cx="3657600" cy="918319"/>
          </a:xfrm>
          <a:prstGeom prst="rect">
            <a:avLst/>
          </a:prstGeom>
        </p:spPr>
      </p:pic>
      <p:sp>
        <p:nvSpPr>
          <p:cNvPr id="14" name="Text 10"/>
          <p:cNvSpPr txBox="1"/>
          <p:nvPr/>
        </p:nvSpPr>
        <p:spPr>
          <a:xfrm>
            <a:off x="4846320" y="3291840"/>
            <a:ext cx="3657600" cy="1188720"/>
          </a:xfrm>
          <a:prstGeom prst="rect">
            <a:avLst/>
          </a:prstGeom>
          <a:noFill/>
          <a:ln/>
        </p:spPr>
        <p:txBody>
          <a:bodyPr wrap="square" lIns="0" tIns="0" rIns="0" bIns="0" rtlCol="0" anchor="t"/>
          <a:lstStyle/>
          <a:p>
            <a:pPr indent="0" marL="0">
              <a:spcAft>
                <a:spcPts val="400"/>
              </a:spcAft>
              <a:buNone/>
            </a:pPr>
            <a:r>
              <a:rPr lang="en-US" sz="1200" b="1" dirty="0">
                <a:solidFill>
                  <a:schemeClr val="tx1"/>
                </a:solidFill>
              </a:rPr>
              <a:t>Symptom: </a:t>
            </a:r>
            <a:pPr indent="0" marL="0">
              <a:spcAft>
                <a:spcPts val="400"/>
              </a:spcAft>
              <a:buNone/>
            </a:pPr>
            <a:r>
              <a:rPr lang="en-US" sz="1200" dirty="0">
                <a:solidFill>
                  <a:schemeClr val="tx1"/>
                </a:solidFill>
              </a:rPr>
              <a:t>Pod Running, endpoints &lt;none&gt;</a:t>
            </a:r>
            <a:endParaRPr lang="en-US" sz="1200" dirty="0"/>
          </a:p>
          <a:p>
            <a:pPr indent="0" marL="0">
              <a:spcAft>
                <a:spcPts val="400"/>
              </a:spcAft>
              <a:buNone/>
            </a:pPr>
            <a:r>
              <a:rPr lang="en-US" sz="1200" b="1" dirty="0">
                <a:solidFill>
                  <a:schemeClr val="tx1"/>
                </a:solidFill>
              </a:rPr>
              <a:t>Cause: </a:t>
            </a:r>
            <a:pPr indent="0" marL="0">
              <a:spcAft>
                <a:spcPts val="400"/>
              </a:spcAft>
              <a:buNone/>
            </a:pPr>
            <a:r>
              <a:rPr lang="en-US" sz="1200" dirty="0">
                <a:solidFill>
                  <a:schemeClr val="tx1"/>
                </a:solidFill>
              </a:rPr>
              <a:t>Service selector app=tb-service, pod label app=tb-svc</a:t>
            </a:r>
            <a:endParaRPr lang="en-US" sz="1200" dirty="0"/>
          </a:p>
          <a:p>
            <a:pPr indent="0" marL="0">
              <a:spcAft>
                <a:spcPts val="400"/>
              </a:spcAft>
              <a:buNone/>
            </a:pPr>
            <a:r>
              <a:rPr lang="en-US" sz="1200" b="1" dirty="0">
                <a:solidFill>
                  <a:schemeClr val="tx1"/>
                </a:solidFill>
              </a:rPr>
              <a:t>Fix: </a:t>
            </a:r>
            <a:pPr indent="0" marL="0">
              <a:spcAft>
                <a:spcPts val="400"/>
              </a:spcAft>
              <a:buNone/>
            </a:pPr>
            <a:r>
              <a:rPr lang="en-US" sz="1200" dirty="0">
                <a:solidFill>
                  <a:schemeClr val="tx1"/>
                </a:solidFill>
              </a:rPr>
              <a:t>Patch the selector to match</a:t>
            </a:r>
            <a:endParaRPr lang="en-US" sz="12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1417320" y="365760"/>
            <a:ext cx="7269480" cy="566928"/>
          </a:xfrm>
          <a:prstGeom prst="rect">
            <a:avLst/>
          </a:prstGeom>
          <a:noFill/>
          <a:ln/>
        </p:spPr>
        <p:txBody>
          <a:bodyPr wrap="square" lIns="0" tIns="0" rIns="0" bIns="0" rtlCol="0" anchor="ctr"/>
          <a:lstStyle/>
          <a:p>
            <a:pPr algn="l" indent="0" marL="0">
              <a:buNone/>
            </a:pPr>
            <a:r>
              <a:rPr lang="en-US" sz="3200" b="1" dirty="0">
                <a:solidFill>
                  <a:schemeClr val="tx1"/>
                </a:solidFill>
              </a:rPr>
              <a:t>Live demo flow</a:t>
            </a:r>
            <a:endParaRPr lang="en-US" sz="3200" dirty="0"/>
          </a:p>
        </p:txBody>
      </p:sp>
      <p:sp>
        <p:nvSpPr>
          <p:cNvPr id="3" name="Module chip"/>
          <p:cNvSpPr/>
          <p:nvPr/>
        </p:nvSpPr>
        <p:spPr>
          <a:xfrm>
            <a:off x="457200" y="420624"/>
            <a:ext cx="777240" cy="457200"/>
          </a:xfrm>
          <a:prstGeom prst="roundRect">
            <a:avLst>
              <a:gd name="adj" fmla="val 20000"/>
            </a:avLst>
          </a:prstGeom>
          <a:solidFill>
            <a:schemeClr val="accent1"/>
          </a:solidFill>
          <a:ln/>
        </p:spPr>
      </p:sp>
      <p:sp>
        <p:nvSpPr>
          <p:cNvPr id="4" name="Text 2"/>
          <p:cNvSpPr txBox="1"/>
          <p:nvPr/>
        </p:nvSpPr>
        <p:spPr>
          <a:xfrm>
            <a:off x="457200" y="420624"/>
            <a:ext cx="777240" cy="457200"/>
          </a:xfrm>
          <a:prstGeom prst="rect">
            <a:avLst/>
          </a:prstGeom>
          <a:noFill/>
          <a:ln/>
        </p:spPr>
        <p:txBody>
          <a:bodyPr wrap="square" lIns="0" tIns="0" rIns="0" bIns="0" rtlCol="0" anchor="ctr"/>
          <a:lstStyle/>
          <a:p>
            <a:pPr algn="ctr" indent="0" marL="0">
              <a:buNone/>
            </a:pPr>
            <a:r>
              <a:rPr lang="en-US" sz="1400" b="1" dirty="0">
                <a:solidFill>
                  <a:schemeClr val="bg1"/>
                </a:solidFill>
              </a:rPr>
              <a:t>DEMO</a:t>
            </a:r>
            <a:endParaRPr lang="en-US" sz="1400" dirty="0"/>
          </a:p>
        </p:txBody>
      </p:sp>
      <p:sp>
        <p:nvSpPr>
          <p:cNvPr id="5" name="Demo step 1"/>
          <p:cNvSpPr/>
          <p:nvPr/>
        </p:nvSpPr>
        <p:spPr>
          <a:xfrm>
            <a:off x="960120" y="1325880"/>
            <a:ext cx="548640" cy="548640"/>
          </a:xfrm>
          <a:prstGeom prst="ellipse">
            <a:avLst/>
          </a:prstGeom>
          <a:solidFill>
            <a:schemeClr val="accent1"/>
          </a:solidFill>
          <a:ln/>
        </p:spPr>
      </p:sp>
      <p:sp>
        <p:nvSpPr>
          <p:cNvPr id="6" name="Text 4"/>
          <p:cNvSpPr txBox="1"/>
          <p:nvPr/>
        </p:nvSpPr>
        <p:spPr>
          <a:xfrm>
            <a:off x="960120"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457200"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Edit a visible string</a:t>
            </a:r>
            <a:endParaRPr lang="en-US" sz="1400" dirty="0"/>
          </a:p>
        </p:txBody>
      </p:sp>
      <p:sp>
        <p:nvSpPr>
          <p:cNvPr id="8" name="Text 6"/>
          <p:cNvSpPr txBox="1"/>
          <p:nvPr/>
        </p:nvSpPr>
        <p:spPr>
          <a:xfrm>
            <a:off x="457200"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frontend/src/App.jsx</a:t>
            </a:r>
            <a:endParaRPr lang="en-US" sz="1200" dirty="0"/>
          </a:p>
        </p:txBody>
      </p:sp>
      <p:sp>
        <p:nvSpPr>
          <p:cNvPr id="9" name="Demo step 2"/>
          <p:cNvSpPr/>
          <p:nvPr/>
        </p:nvSpPr>
        <p:spPr>
          <a:xfrm>
            <a:off x="2624328" y="1325880"/>
            <a:ext cx="548640" cy="548640"/>
          </a:xfrm>
          <a:prstGeom prst="ellipse">
            <a:avLst/>
          </a:prstGeom>
          <a:solidFill>
            <a:schemeClr val="accent1"/>
          </a:solidFill>
          <a:ln/>
        </p:spPr>
      </p:sp>
      <p:sp>
        <p:nvSpPr>
          <p:cNvPr id="10" name="Text 8"/>
          <p:cNvSpPr txBox="1"/>
          <p:nvPr/>
        </p:nvSpPr>
        <p:spPr>
          <a:xfrm>
            <a:off x="2624328"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1" name="Text 9"/>
          <p:cNvSpPr txBox="1"/>
          <p:nvPr/>
        </p:nvSpPr>
        <p:spPr>
          <a:xfrm>
            <a:off x="2121408"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git commit and push</a:t>
            </a:r>
            <a:endParaRPr lang="en-US" sz="1400" dirty="0"/>
          </a:p>
        </p:txBody>
      </p:sp>
      <p:sp>
        <p:nvSpPr>
          <p:cNvPr id="12" name="Text 10"/>
          <p:cNvSpPr txBox="1"/>
          <p:nvPr/>
        </p:nvSpPr>
        <p:spPr>
          <a:xfrm>
            <a:off x="2121408"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triggers Actions</a:t>
            </a:r>
            <a:endParaRPr lang="en-US" sz="1200" dirty="0"/>
          </a:p>
        </p:txBody>
      </p:sp>
      <p:sp>
        <p:nvSpPr>
          <p:cNvPr id="13" name="Demo step 3"/>
          <p:cNvSpPr/>
          <p:nvPr/>
        </p:nvSpPr>
        <p:spPr>
          <a:xfrm>
            <a:off x="4288536" y="1325880"/>
            <a:ext cx="548640" cy="548640"/>
          </a:xfrm>
          <a:prstGeom prst="ellipse">
            <a:avLst/>
          </a:prstGeom>
          <a:solidFill>
            <a:schemeClr val="accent1"/>
          </a:solidFill>
          <a:ln/>
        </p:spPr>
      </p:sp>
      <p:sp>
        <p:nvSpPr>
          <p:cNvPr id="14" name="Text 12"/>
          <p:cNvSpPr txBox="1"/>
          <p:nvPr/>
        </p:nvSpPr>
        <p:spPr>
          <a:xfrm>
            <a:off x="4288536"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5" name="Text 13"/>
          <p:cNvSpPr txBox="1"/>
          <p:nvPr/>
        </p:nvSpPr>
        <p:spPr>
          <a:xfrm>
            <a:off x="3785616"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Pipeline runs</a:t>
            </a:r>
            <a:endParaRPr lang="en-US" sz="1400" dirty="0"/>
          </a:p>
        </p:txBody>
      </p:sp>
      <p:sp>
        <p:nvSpPr>
          <p:cNvPr id="16" name="Text 14"/>
          <p:cNvSpPr txBox="1"/>
          <p:nvPr/>
        </p:nvSpPr>
        <p:spPr>
          <a:xfrm>
            <a:off x="3785616"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tests, build, Trivy, push</a:t>
            </a:r>
            <a:endParaRPr lang="en-US" sz="1200" dirty="0"/>
          </a:p>
        </p:txBody>
      </p:sp>
      <p:sp>
        <p:nvSpPr>
          <p:cNvPr id="17" name="Demo step 4"/>
          <p:cNvSpPr/>
          <p:nvPr/>
        </p:nvSpPr>
        <p:spPr>
          <a:xfrm>
            <a:off x="5952744" y="1325880"/>
            <a:ext cx="548640" cy="548640"/>
          </a:xfrm>
          <a:prstGeom prst="ellipse">
            <a:avLst/>
          </a:prstGeom>
          <a:solidFill>
            <a:schemeClr val="accent1"/>
          </a:solidFill>
          <a:ln/>
        </p:spPr>
      </p:sp>
      <p:sp>
        <p:nvSpPr>
          <p:cNvPr id="18" name="Text 16"/>
          <p:cNvSpPr txBox="1"/>
          <p:nvPr/>
        </p:nvSpPr>
        <p:spPr>
          <a:xfrm>
            <a:off x="5952744"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9" name="Text 17"/>
          <p:cNvSpPr txBox="1"/>
          <p:nvPr/>
        </p:nvSpPr>
        <p:spPr>
          <a:xfrm>
            <a:off x="5449824"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Deploy job runs</a:t>
            </a:r>
            <a:endParaRPr lang="en-US" sz="1400" dirty="0"/>
          </a:p>
        </p:txBody>
      </p:sp>
      <p:sp>
        <p:nvSpPr>
          <p:cNvPr id="20" name="Text 18"/>
          <p:cNvSpPr txBox="1"/>
          <p:nvPr/>
        </p:nvSpPr>
        <p:spPr>
          <a:xfrm>
            <a:off x="5449824"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laptop runner: helm upgrade with the SHA</a:t>
            </a:r>
            <a:endParaRPr lang="en-US" sz="1200" dirty="0"/>
          </a:p>
        </p:txBody>
      </p:sp>
      <p:sp>
        <p:nvSpPr>
          <p:cNvPr id="21" name="Demo step 5"/>
          <p:cNvSpPr/>
          <p:nvPr/>
        </p:nvSpPr>
        <p:spPr>
          <a:xfrm>
            <a:off x="7616952" y="1325880"/>
            <a:ext cx="548640" cy="548640"/>
          </a:xfrm>
          <a:prstGeom prst="ellipse">
            <a:avLst/>
          </a:prstGeom>
          <a:solidFill>
            <a:schemeClr val="accent1"/>
          </a:solidFill>
          <a:ln/>
        </p:spPr>
      </p:sp>
      <p:sp>
        <p:nvSpPr>
          <p:cNvPr id="22" name="Text 20"/>
          <p:cNvSpPr txBox="1"/>
          <p:nvPr/>
        </p:nvSpPr>
        <p:spPr>
          <a:xfrm>
            <a:off x="7616952" y="1325880"/>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3" name="Text 21"/>
          <p:cNvSpPr txBox="1"/>
          <p:nvPr/>
        </p:nvSpPr>
        <p:spPr>
          <a:xfrm>
            <a:off x="7114032" y="2057400"/>
            <a:ext cx="1554480" cy="731520"/>
          </a:xfrm>
          <a:prstGeom prst="rect">
            <a:avLst/>
          </a:prstGeom>
          <a:noFill/>
          <a:ln/>
        </p:spPr>
        <p:txBody>
          <a:bodyPr wrap="square" lIns="0" tIns="0" rIns="0" bIns="0" rtlCol="0" anchor="t"/>
          <a:lstStyle/>
          <a:p>
            <a:pPr algn="ctr" indent="0" marL="0">
              <a:buNone/>
            </a:pPr>
            <a:r>
              <a:rPr lang="en-US" sz="1400" b="1" dirty="0">
                <a:solidFill>
                  <a:schemeClr val="tx1"/>
                </a:solidFill>
              </a:rPr>
              <a:t>Refresh the browser</a:t>
            </a:r>
            <a:endParaRPr lang="en-US" sz="1400" dirty="0"/>
          </a:p>
        </p:txBody>
      </p:sp>
      <p:sp>
        <p:nvSpPr>
          <p:cNvPr id="24" name="Text 22"/>
          <p:cNvSpPr txBox="1"/>
          <p:nvPr/>
        </p:nvSpPr>
        <p:spPr>
          <a:xfrm>
            <a:off x="7114032" y="2788920"/>
            <a:ext cx="1554480" cy="640080"/>
          </a:xfrm>
          <a:prstGeom prst="rect">
            <a:avLst/>
          </a:prstGeom>
          <a:noFill/>
          <a:ln/>
        </p:spPr>
        <p:txBody>
          <a:bodyPr wrap="square" lIns="0" tIns="0" rIns="0" bIns="0" rtlCol="0" anchor="t"/>
          <a:lstStyle/>
          <a:p>
            <a:pPr algn="ctr" indent="0" marL="0">
              <a:buNone/>
            </a:pPr>
            <a:r>
              <a:rPr lang="en-US" sz="1200" dirty="0">
                <a:solidFill>
                  <a:schemeClr val="accent6"/>
                </a:solidFill>
              </a:rPr>
              <a:t>new text is live</a:t>
            </a:r>
            <a:endParaRPr lang="en-US" sz="1200" dirty="0"/>
          </a:p>
        </p:txBody>
      </p:sp>
      <p:sp>
        <p:nvSpPr>
          <p:cNvPr id="26" name="Text 23"/>
          <p:cNvSpPr txBox="1"/>
          <p:nvPr/>
        </p:nvSpPr>
        <p:spPr>
          <a:xfrm>
            <a:off x="457200" y="3840480"/>
            <a:ext cx="8229600" cy="457200"/>
          </a:xfrm>
          <a:prstGeom prst="rect">
            <a:avLst/>
          </a:prstGeom>
          <a:noFill/>
          <a:ln/>
        </p:spPr>
        <p:txBody>
          <a:bodyPr wrap="square" lIns="0" tIns="0" rIns="0" bIns="0" rtlCol="0" anchor="ctr"/>
          <a:lstStyle/>
          <a:p>
            <a:pPr indent="0" marL="0">
              <a:buNone/>
            </a:pPr>
            <a:r>
              <a:rPr lang="en-US" sz="1600" i="1" dirty="0">
                <a:solidFill>
                  <a:schemeClr val="accent1"/>
                </a:solidFill>
              </a:rPr>
              <a:t>Commit a change, watch the pipeline run, see the deployment update.</a:t>
            </a:r>
            <a:endParaRPr lang="en-US" sz="1600" dirty="0"/>
          </a:p>
        </p:txBody>
      </p:sp>
      <p:sp>
        <p:nvSpPr>
          <p:cNvPr id="25" name="Slide Number Placeholder 0"/>
          <p:cNvSpPr>
            <a:spLocks noGrp="1"/>
          </p:cNvSpPr>
          <p:nvPr>
            <p:ph type="sldNum" sz="quarter" idx="4294967295"/>
          </p:nvPr>
        </p:nvSpPr>
        <p:spPr>
          <a:xfrm>
            <a:off x="8229600" y="477316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822960"/>
          </a:xfrm>
          <a:prstGeom prst="rect">
            <a:avLst/>
          </a:prstGeom>
          <a:noFill/>
          <a:ln/>
        </p:spPr>
        <p:txBody>
          <a:bodyPr wrap="square" lIns="0" tIns="0" rIns="0" bIns="0" rtlCol="0" anchor="ctr"/>
          <a:lstStyle/>
          <a:p>
            <a:pPr algn="l" indent="0" marL="0">
              <a:buNone/>
            </a:pPr>
            <a:r>
              <a:rPr lang="en-US" sz="4000" b="1" dirty="0">
                <a:solidFill>
                  <a:schemeClr val="bg1"/>
                </a:solidFill>
              </a:rPr>
              <a:t>What I learned</a:t>
            </a:r>
            <a:endParaRPr lang="en-US" sz="4000" dirty="0"/>
          </a:p>
        </p:txBody>
      </p:sp>
      <p:sp>
        <p:nvSpPr>
          <p:cNvPr id="3" name="Lesson 1"/>
          <p:cNvSpPr/>
          <p:nvPr/>
        </p:nvSpPr>
        <p:spPr>
          <a:xfrm>
            <a:off x="548640" y="1508760"/>
            <a:ext cx="457200" cy="457200"/>
          </a:xfrm>
          <a:prstGeom prst="ellipse">
            <a:avLst/>
          </a:prstGeom>
          <a:solidFill>
            <a:schemeClr val="accent1"/>
          </a:solidFill>
          <a:ln/>
        </p:spPr>
        <p:txBody>
          <a:bodyPr/>
          <a:p/>
        </p:txBody>
      </p:sp>
      <p:sp>
        <p:nvSpPr>
          <p:cNvPr id="4" name="Text 2"/>
          <p:cNvSpPr txBox="1"/>
          <p:nvPr/>
        </p:nvSpPr>
        <p:spPr>
          <a:xfrm>
            <a:off x="548640" y="15087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188720" y="14630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passing build is not a secure build: Trivy failed my first images</a:t>
            </a:r>
            <a:endParaRPr lang="en-US" sz="1600" dirty="0"/>
          </a:p>
        </p:txBody>
      </p:sp>
      <p:sp>
        <p:nvSpPr>
          <p:cNvPr id="6" name="Lesson 2"/>
          <p:cNvSpPr/>
          <p:nvPr/>
        </p:nvSpPr>
        <p:spPr>
          <a:xfrm>
            <a:off x="548640" y="2194560"/>
            <a:ext cx="457200" cy="457200"/>
          </a:xfrm>
          <a:prstGeom prst="ellipse">
            <a:avLst/>
          </a:prstGeom>
          <a:solidFill>
            <a:schemeClr val="accent1"/>
          </a:solidFill>
          <a:ln/>
        </p:spPr>
        <p:txBody>
          <a:bodyPr/>
          <a:p/>
        </p:txBody>
      </p:sp>
      <p:sp>
        <p:nvSpPr>
          <p:cNvPr id="7" name="Text 5"/>
          <p:cNvSpPr txBox="1"/>
          <p:nvPr/>
        </p:nvSpPr>
        <p:spPr>
          <a:xfrm>
            <a:off x="548640" y="21945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Text 6"/>
          <p:cNvSpPr txBox="1"/>
          <p:nvPr/>
        </p:nvSpPr>
        <p:spPr>
          <a:xfrm>
            <a:off x="1188720" y="2148840"/>
            <a:ext cx="7406640" cy="548640"/>
          </a:xfrm>
          <a:prstGeom prst="rect">
            <a:avLst/>
          </a:prstGeom>
          <a:noFill/>
          <a:ln/>
        </p:spPr>
        <p:txBody>
          <a:bodyPr wrap="square" lIns="0" tIns="0" rIns="0" bIns="0" rtlCol="0" anchor="ctr"/>
          <a:lstStyle/>
          <a:p>
            <a:pPr indent="0" marL="0">
              <a:buNone/>
            </a:pPr>
            <a:r>
              <a:rPr lang="en-US" sz="1600" dirty="0">
                <a:solidFill>
                  <a:schemeClr val="bg1"/>
                </a:solidFill>
              </a:rPr>
              <a:t>nginx needs a runtime resolver and the full Service DNS name (502 became 200)</a:t>
            </a:r>
            <a:endParaRPr lang="en-US" sz="1600" dirty="0"/>
          </a:p>
        </p:txBody>
      </p:sp>
      <p:sp>
        <p:nvSpPr>
          <p:cNvPr id="9" name="Lesson 3"/>
          <p:cNvSpPr/>
          <p:nvPr/>
        </p:nvSpPr>
        <p:spPr>
          <a:xfrm>
            <a:off x="548640" y="2880360"/>
            <a:ext cx="457200" cy="457200"/>
          </a:xfrm>
          <a:prstGeom prst="ellipse">
            <a:avLst/>
          </a:prstGeom>
          <a:solidFill>
            <a:schemeClr val="accent1"/>
          </a:solidFill>
          <a:ln/>
        </p:spPr>
        <p:txBody>
          <a:bodyPr/>
          <a:p/>
        </p:txBody>
      </p:sp>
      <p:sp>
        <p:nvSpPr>
          <p:cNvPr id="10" name="Text 8"/>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Text 9"/>
          <p:cNvSpPr txBox="1"/>
          <p:nvPr/>
        </p:nvSpPr>
        <p:spPr>
          <a:xfrm>
            <a:off x="1188720" y="2834640"/>
            <a:ext cx="7406640" cy="548640"/>
          </a:xfrm>
          <a:prstGeom prst="rect">
            <a:avLst/>
          </a:prstGeom>
          <a:noFill/>
          <a:ln/>
        </p:spPr>
        <p:txBody>
          <a:bodyPr wrap="square" lIns="0" tIns="0" rIns="0" bIns="0" rtlCol="0" anchor="ctr"/>
          <a:lstStyle/>
          <a:p>
            <a:pPr indent="0" marL="0">
              <a:buNone/>
            </a:pPr>
            <a:r>
              <a:rPr lang="en-US" sz="1600" dirty="0">
                <a:solidFill>
                  <a:schemeClr val="bg1"/>
                </a:solidFill>
              </a:rPr>
              <a:t>A pod can be Running but not Ready until it reaches the database</a:t>
            </a:r>
            <a:endParaRPr lang="en-US" sz="1600" dirty="0"/>
          </a:p>
        </p:txBody>
      </p:sp>
      <p:sp>
        <p:nvSpPr>
          <p:cNvPr id="12" name="Lesson 4"/>
          <p:cNvSpPr/>
          <p:nvPr/>
        </p:nvSpPr>
        <p:spPr>
          <a:xfrm>
            <a:off x="548640" y="3566160"/>
            <a:ext cx="457200" cy="457200"/>
          </a:xfrm>
          <a:prstGeom prst="ellipse">
            <a:avLst/>
          </a:prstGeom>
          <a:solidFill>
            <a:schemeClr val="accent1"/>
          </a:solidFill>
          <a:ln/>
        </p:spPr>
        <p:txBody>
          <a:bodyPr/>
          <a:p/>
        </p:txBody>
      </p:sp>
      <p:sp>
        <p:nvSpPr>
          <p:cNvPr id="13" name="Text 11"/>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Text 12"/>
          <p:cNvSpPr txBox="1"/>
          <p:nvPr/>
        </p:nvSpPr>
        <p:spPr>
          <a:xfrm>
            <a:off x="1188720" y="3520440"/>
            <a:ext cx="7406640" cy="548640"/>
          </a:xfrm>
          <a:prstGeom prst="rect">
            <a:avLst/>
          </a:prstGeom>
          <a:noFill/>
          <a:ln/>
        </p:spPr>
        <p:txBody>
          <a:bodyPr wrap="square" lIns="0" tIns="0" rIns="0" bIns="0" rtlCol="0" anchor="ctr"/>
          <a:lstStyle/>
          <a:p>
            <a:pPr indent="0" marL="0">
              <a:buNone/>
            </a:pPr>
            <a:r>
              <a:rPr lang="en-US" sz="1600" dirty="0">
                <a:solidFill>
                  <a:schemeClr val="bg1"/>
                </a:solidFill>
              </a:rPr>
              <a:t>Secrets are generated, never committed</a:t>
            </a:r>
            <a:endParaRPr lang="en-US" sz="1600" dirty="0"/>
          </a:p>
        </p:txBody>
      </p:sp>
      <p:sp>
        <p:nvSpPr>
          <p:cNvPr id="15" name="Text 13"/>
          <p:cNvSpPr txBox="1"/>
          <p:nvPr/>
        </p:nvSpPr>
        <p:spPr>
          <a:xfrm>
            <a:off x="548640" y="4343400"/>
            <a:ext cx="8046720" cy="457200"/>
          </a:xfrm>
          <a:prstGeom prst="rect">
            <a:avLst/>
          </a:prstGeom>
          <a:noFill/>
          <a:ln/>
        </p:spPr>
        <p:txBody>
          <a:bodyPr wrap="square" lIns="0" tIns="0" rIns="0" bIns="0" rtlCol="0" anchor="ctr"/>
          <a:lstStyle/>
          <a:p>
            <a:pPr indent="0" marL="0">
              <a:buNone/>
            </a:pPr>
            <a:r>
              <a:rPr lang="en-US" sz="2400" b="1" dirty="0">
                <a:solidFill>
                  <a:schemeClr val="accent2"/>
                </a:solidFill>
                <a:latin typeface="Cambria" pitchFamily="34" charset="0"/>
                <a:ea typeface="Cambria" pitchFamily="34" charset="-122"/>
                <a:cs typeface="Cambria" pitchFamily="34" charset="-120"/>
              </a:rPr>
              <a:t>Thank you</a:t>
            </a:r>
            <a:endParaRPr lang="en-US" sz="2400" dirty="0"/>
          </a:p>
        </p:txBody>
      </p:sp>
    </p:spTree>
  </p:cSld>
  <p:clrMapOvr>
    <a:masterClrMapping/>
  </p:clrMapOvr>
</p:sld>
</file>

<file path=ppt/theme/theme1.xml><?xml version="1.0" encoding="utf-8"?>
<a:theme xmlns:a="http://schemas.openxmlformats.org/drawingml/2006/main" name="PlaceTrack">
  <a:themeElements>
    <a:clrScheme name="PlaceTrack">
      <a:dk1>
        <a:srgbClr val="0F172A"/>
      </a:dk1>
      <a:lt1>
        <a:srgbClr val="FFFFFF"/>
      </a:lt1>
      <a:dk2>
        <a:srgbClr val="1E293B"/>
      </a:dk2>
      <a:lt2>
        <a:srgbClr val="F1F5F9"/>
      </a:lt2>
      <a:accent1>
        <a:srgbClr val="0D9488"/>
      </a:accent1>
      <a:accent2>
        <a:srgbClr val="F59E0B"/>
      </a:accent2>
      <a:accent3>
        <a:srgbClr val="6366F1"/>
      </a:accent3>
      <a:accent4>
        <a:srgbClr val="DC2626"/>
      </a:accent4>
      <a:accent5>
        <a:srgbClr val="16A34A"/>
      </a:accent5>
      <a:accent6>
        <a:srgbClr val="64748B"/>
      </a:accent6>
      <a:hlink>
        <a:srgbClr val="0EA5E9"/>
      </a:hlink>
      <a:folHlink>
        <a:srgbClr val="7C3AED"/>
      </a:folHlink>
    </a:clrScheme>
    <a:fontScheme name="Place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PlaceTrack - DevOps Capstone</dc:title>
  <dc:subject>DevOps Final Capstone</dc:subject>
  <dc:creator>Raghavendra</dc:creator>
  <cp:lastModifiedBy>Raghavendra</cp:lastModifiedBy>
  <cp:revision>1</cp:revision>
  <dcterms:created xsi:type="dcterms:W3CDTF">2026-10-08T17:11:48Z</dcterms:created>
  <dcterms:modified xsi:type="dcterms:W3CDTF">2026-10-16T10:00:00Z</dcterms:modified>
</cp:coreProperties>
</file>