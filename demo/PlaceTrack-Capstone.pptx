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d1038d1-00d5-b30f-0d68-0849c81e4f65}">
          <p14:sldIdLst>
            <p14:sldId id="256"/>
            <p14:sldId id="257"/>
            <p14:sldId id="258"/>
          </p14:sldIdLst>
        </p14:section>
        <p14:section name="Build" id="{0dac57b2-2db8-724e-6aee-025798dbaa89}">
          <p14:sldIdLst>
            <p14:sldId id="259"/>
            <p14:sldId id="260"/>
            <p14:sldId id="261"/>
          </p14:sldIdLst>
        </p14:section>
        <p14:section name="Ship" id="{822b1441-c3f1-2685-5262-f65023d64847}">
          <p14:sldIdLst>
            <p14:sldId id="262"/>
            <p14:sldId id="263"/>
            <p14:sldId id="264"/>
            <p14:sldId id="265"/>
            <p14:sldId id="266"/>
          </p14:sldIdLst>
        </p14:section>
        <p14:section name="Cloud" id="{b679af5e-23da-bba7-fb23-a4a7ca743e65}">
          <p14:sldIdLst>
            <p14:sldId id="267"/>
            <p14:sldId id="268"/>
          </p14:sldIdLst>
        </p14:section>
        <p14:section name="Run" id="{958dddad-9d7d-0b6c-46ca-884b40e34a0b}">
          <p14:sldIdLst>
            <p14:sldId id="269"/>
            <p14:sldId id="270"/>
            <p14:sldId id="271"/>
            <p14:sldId id="272"/>
            <p14:sldId id="273"/>
          </p14:sldIdLst>
        </p14:section>
        <p14:section name="Wrap up" id="{1b6c5f07-467d-d410-bc36-4af2b874bf4f}">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Raghavendra. This is PlaceTrack, a small app that keeps track of job and internship applications, and the DevOps work I built around it for the final capstone. I will go through it in the same order as the course flow: the app, git, the pipeline, Docker, the security scan, the registry, Terraform, Kubernetes, Helm, ingress, autoscaling, monitoring and troubleshooting. At the end I will make a small change, push it, and watch it reach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PlaceTrack because I was applying for internships and my spreadsheet got messy. I kept losing track of which company was at which stage. Now I add a company and a role, and move it through applied, interview, offer or rejected, with counts at the top and a filter for each status. The app is simple on purpose. I wanted most of my time to go into everything around it: tests, containers, the pipeline, the cloud, Kubernetes and monitoring. This screenshot is the app running with Docker Compose at localhost:3000.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picture. I push code to GitHub, and GitHub Actions runs the tests, builds both images and scans them with Trivy. If everything passes, the images go to GHCR tagged with the commit SHA, and Helm deploys that exact tag into Kubernetes. I ran Kubernetes on minikube on my laptop to keep the AWS bill low, with an Ingress, two replicas each for the frontend and backend, an autoscaler and Postgres. Prometheus and Grafana watch the backend. Terraform is a separate lane: it built the VPC and the EKS cluster on AWS, I checked them in the console, and then I destroyed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FastAPI with SQLAlchemy and Postgres. These are the endpoints I wrote: list and create jobs, get, update and delete one job, and a stats endpoint that feeds the counters at the top of the page. There are also health, ready and metrics endpoints for Kubernetes and Prometheus, and the ready endpoint checks the database, which turned out to matter later. The jobs table is created by an Alembic migration so the schema is versioned instead of being created by hand. The frontend is React with Vite. I made sure the UI is usable on a small screen, and that is the phone-width screenshot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16 pytest tests. They cover every endpoint, bad input, missing ids that should return 404, the metrics endpoint, and that the ready check returns 503 when the database is down. The tests use an in-memory SQLite database through a dependency override, so they never touch the Postgres database. The settings are in pytest.ini. The line at the bottom says 16 passed. These tests are the first gate in the pipeline, so a failing test stops everything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worked in small commits and tried to write what each commit changes in the message, so the history reads like a log of the project. The zoomed part shows the latest messages, for example adding a deploy job on a self-hosted runner. The gitignore keeps env files, pycache, node modules, the virtual environment and the Terraform state out of the repo. I also ran Gitleaks over the whole history and it found no secrets, and the AWS value for my IP lives in terraform.tfvars, which is not committed. Keep the short commit hashes in mind. The image tags in the registry later are the same commit SHAs.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pipeline in .github/workflows/ci-cd.yml, and it runs on every push to main. First pytest and the frontend build run in parallel. If both pass, the backend and frontend images are built and Trivy scans them, and a fixable HIGH or CRITICAL problem fails the job so nothing is pushed. Then the images go to GHCR with the commit SHA as the tag, not latest, so I always know which code is running. The last job is a deploy on a self-hosted runner on my laptop that does the Helm upgrade, and I only turn it on with a repository variable when my laptop is ready. I also pinned the third-party actions to commit SHAs.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run of that pipeline from the Actions tab, and all five jobs are green, including the deploy job. The zoomed part shows the status as Success and the total time as 2 minutes. Test took about 20 seconds, the frontend build 16 seconds, and the deploy 39 seconds. The two image jobs are the matrix, one for the backend and one for the frontend, and each includes the build, the Trivy scan and the push. The commit that triggered it is 9e9a23c, the same one at the top of the git log and in the registry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images run as a normal user instead of root. The backend is python 3.12 slim and runs as user 10001. The frontend Dockerfile has two stages: Node builds the React app, and only the built files are copied into an unprivileged nginx image that runs as user 101, which keeps build tools out of the final image. With Docker Compose, one command starts Postgres, the backend and the frontend. The backend waits for Postgres to be healthy, runs the Alembic migration and then starts Uvicorn, which is the zoomed part under the log. The pipeline builds these same two Dockerfiles.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both images in the pipeline and fails the job on fixable HIGH or CRITICAL findings. My first scan failed, and I fixed what it found. The backend had 3 HIGH findings in Starlette 0.41.3, for example CVE-2025-62727, where specially crafted Range headers can be used for a denial of service, and I upgraded FastAPI, which pulled in a newer Starlette. The frontend's old Alpine nginx image had 42 HIGH and CRITICAL findings in OpenSSL, libexpat and libxml2, so I moved to nginx-unprivileged 1.30.5. Now both tables show 0 vulnerabilities. A clean result only means nothing fixable was known on that day, which is why the scan runs on every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scan passes, the pipeline pushes both images to GitHub Container Registry. Both packages are public. The tag is the full commit SHA, and the recent tags in the zoomed part are the same commits as in the git log, starting with 9e9a23c. I do not use latest, because latest does not tell me which code is running. If a deploy goes wrong, I can point Helm back at an older SHA and I know exactly what that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Terraform code describes a VPC with two public subnets in two availability zones, and an EKS 1.35 cluster with a node group of two t3.small nodes, in ap-south-1. Only my own IP is allowed to reach the cluster API, and that value lives in terraform.tfvars, which is not committed, next to a tfvars example file without values from my account. The plan wanted to create 49 resources, you can see that line in the zoomed output. I applied it and checked the result in the console, which is the next slide. Then I ran terraform destroy and all 49 resources were removed. The check at the bottom shows no cluster, no VPC and an empty state, because EKS costs money every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terraform apply I checked everything in the AWS Console, in the Mumbai region. The VPC placetrack-vpc has two public subnets, one in ap-south-1a and one in ap-south-1b. The EKS cluster is Active on Kubernetes 1.35, and the node group has two t3.small nodes, both Ready. I destroyed all of it right after, as you saw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keep the AWS bill low I ran the Kubernetes part on minikube on my laptop, using the images the pipeline pushed to GHCR. The Helm chart in helm/placetrack creates the backend and the frontend with 2 replicas each, ClusterIP services, Postgres, a Job that runs the migration, an HPA for the backend, a ServiceMonitor and an Ingress. One helm upgrade install command with the image tag deploys all of it, and the namespace comes from k8s/namespace.yaml. In the zoomed output you can see five pods all Running with no restarts, three ClusterIP services, and the Helm release in the deployed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Ingress handles traffic for the host placetrack.local. Slash goes to the frontend service and slash api goes to the backend service, and both are ClusterIP services inside the cluster. On minikube I port-forward the ingress controller to port 8080 and added placetrack.local to my hosts file, so the address in the browser is placetrack.local:8080. This is the same app you saw at the start, but now it is served from the cluster, through the ingress, from the images in GHCR.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has a Horizontal Pod Autoscaler with a minimum of 2 pods, a maximum of 4, and a target of 60 percent CPU. When I ran the load test script, CPU went above the target and the HPA added a third backend pod. The events at the bottom show it: new size 3, because CPU utilization is above target. The same event list shows it going back to 2 when all metrics were below target. This works because the pods have CPU requests set in the chart, and the minikube metrics-server addon is enabled.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slash metrics in Prometheus format. The first screenshot shows the request counters per endpoint, with method and status. The ServiceMonitor in my chart tells Prometheus to scrape the backend pods, and the targets page shows both pods up, 2 of 2. I made a small Grafana dashboard with requests per second, p95 latency, error responses and the number of backend pods. At this moment it shows 0 errors, and 3 pods because the HPA had just scaled up. So monitoring and autoscaling connect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broke two things on purpose to practise finding problems, and I used the same steps each time: identify, investigate, root cause, fix, verify. First, a bad image tag: the pod was stuck in ErrImagePull because the tag does-not-exist is not in GHCR, so the container never started. I fixed it with kubectl set image to a SHA tag that exists in GHCR, and the new pod went to 1 of 1 Running. Second, a service with no endpoints: the pod was Running, but the Service selector was app equals tb-service while the pod label was app equals tb-svc. A Service only sends traffic to pods whose labels match exactly, so I patched the selector and the endpoint 10.244.0.23 appeared. The full write-up is in the troubleshooting folder of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 I start with the app open at placetrack.local:8080. I change the subtitle in frontend/src/App.jsx, the line under the PlaceTrack heading, then git commit and git push to main. In GitHub Actions the pipeline runs: test, frontend build, then the two images with the Trivy scan and the push to GHCR. When that is green, the deploy job runs scripts/deploy.sh with the commit SHA on my laptop, which does the helm upgrade, and I watch the pods change with kubectl get pods -w. Then I refresh the browser and the new subtitle is there. That is one commit going all the way to the running cluster without me touching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things I learned. A build that passes can still be insecure: Trivy failed my first images even though every test was green. nginx looks up the backend name only once when it starts and ignores the Kubernetes search domains, so I got a 502 until I used the full service name. A pod can be Running but not Ready: my backend stayed at 0 of 1 until it could reach Postgres, because the ready endpoint checks the database. The database password Secret has to survive helm uninstall because the Postgres volume still has the old password, and the cluster passwords are generated at install time and never committed. Thank you for listening,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621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74520"/>
            <a:ext cx="530352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640080" y="3246120"/>
            <a:ext cx="5120640" cy="1005840"/>
          </a:xfrm>
          <a:prstGeom prst="rect">
            <a:avLst/>
          </a:prstGeom>
          <a:noFill/>
          <a:ln/>
        </p:spPr>
        <p:txBody>
          <a:bodyPr wrap="square" rtlCol="0"/>
          <a:lstStyle>
            <a:lvl1pPr algn="l" indent="0" marL="0">
              <a:buNone/>
              <a:defRPr lang="en-US" sz="2400" dirty="0">
                <a:solidFill>
                  <a:schemeClr val="bg2"/>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28232"/>
            <a:ext cx="3657600" cy="274320"/>
          </a:xfrm>
          <a:prstGeom prst="rect">
            <a:avLst/>
          </a:prstGeom>
          <a:noFill/>
          <a:ln/>
        </p:spPr>
        <p:txBody>
          <a:bodyPr wrap="square" lIns="0" tIns="0" rIns="0" bIns="0" rtlCol="0" anchor="ctr"/>
          <a:lstStyle/>
          <a:p>
            <a:pPr indent="0" marL="0">
              <a:buNone/>
            </a:pPr>
            <a:r>
              <a:rPr lang="en-US" sz="1100" dirty="0">
                <a:solidFill>
                  <a:schemeClr val="accent5"/>
                </a:solidFill>
              </a:rPr>
              <a:t>PlaceTrack | Raghavendra</a:t>
            </a:r>
            <a:endParaRPr lang="en-US" sz="11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621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74520"/>
            <a:ext cx="5303520" cy="1188720"/>
          </a:xfrm>
          <a:prstGeom prst="rect">
            <a:avLst/>
          </a:prstGeom>
          <a:noFill/>
          <a:ln/>
        </p:spPr>
        <p:txBody>
          <a:bodyPr wrap="square" lIns="0" tIns="0" rIns="0" bIns="0" rtlCol="0" anchor="b"/>
          <a:lstStyle/>
          <a:p>
            <a:pPr algn="l" indent="0" marL="0">
              <a:buNone/>
            </a:pPr>
            <a:r>
              <a:rPr lang="en-US" sz="6000" b="1" dirty="0">
                <a:solidFill>
                  <a:schemeClr val="bg1"/>
                </a:solidFill>
              </a:rPr>
              <a:t>PlaceTrack</a:t>
            </a:r>
            <a:endParaRPr lang="en-US" sz="6000" dirty="0"/>
          </a:p>
        </p:txBody>
      </p:sp>
      <p:sp>
        <p:nvSpPr>
          <p:cNvPr id="3" name="Text 0"/>
          <p:cNvSpPr/>
          <p:nvPr>
            <p:ph idx="101" type="body" hasCustomPrompt="1"/>
          </p:nvPr>
        </p:nvSpPr>
        <p:spPr>
          <a:xfrm>
            <a:off x="640080" y="3246120"/>
            <a:ext cx="5120640" cy="1005840"/>
          </a:xfrm>
          <a:prstGeom prst="rect">
            <a:avLst/>
          </a:prstGeom>
          <a:noFill/>
          <a:ln/>
        </p:spPr>
        <p:txBody>
          <a:bodyPr wrap="square" lIns="0" tIns="0" rIns="0" bIns="0" rtlCol="0" anchor="t"/>
          <a:lstStyle/>
          <a:p>
            <a:pPr algn="l" indent="0" marL="0">
              <a:buNone/>
            </a:pPr>
            <a:r>
              <a:rPr lang="en-US" sz="2400" dirty="0">
                <a:solidFill>
                  <a:schemeClr val="bg2"/>
                </a:solidFill>
              </a:rPr>
              <a:t>Track every job application in one place</a:t>
            </a:r>
            <a:endParaRPr lang="en-US" sz="2400" dirty="0"/>
          </a:p>
        </p:txBody>
      </p:sp>
      <p:sp>
        <p:nvSpPr>
          <p:cNvPr id="4" name="Text 2"/>
          <p:cNvSpPr txBox="1"/>
          <p:nvPr/>
        </p:nvSpPr>
        <p:spPr>
          <a:xfrm>
            <a:off x="640080" y="4526280"/>
            <a:ext cx="5120640" cy="365760"/>
          </a:xfrm>
          <a:prstGeom prst="rect">
            <a:avLst/>
          </a:prstGeom>
          <a:noFill/>
          <a:ln/>
        </p:spPr>
        <p:txBody>
          <a:bodyPr wrap="square" lIns="0" tIns="0" rIns="0" bIns="0" rtlCol="0" anchor="t"/>
          <a:lstStyle/>
          <a:p>
            <a:pPr indent="0" marL="0">
              <a:buNone/>
            </a:pPr>
            <a:r>
              <a:rPr lang="en-US" sz="2000" b="1" dirty="0">
                <a:solidFill>
                  <a:schemeClr val="accent2"/>
                </a:solidFill>
              </a:rPr>
              <a:t>DevOps Final Capstone</a:t>
            </a:r>
            <a:endParaRPr lang="en-US" sz="2000" dirty="0"/>
          </a:p>
        </p:txBody>
      </p:sp>
      <p:sp>
        <p:nvSpPr>
          <p:cNvPr id="5" name="Text 3"/>
          <p:cNvSpPr txBox="1"/>
          <p:nvPr/>
        </p:nvSpPr>
        <p:spPr>
          <a:xfrm>
            <a:off x="640080" y="4937760"/>
            <a:ext cx="5120640" cy="365760"/>
          </a:xfrm>
          <a:prstGeom prst="rect">
            <a:avLst/>
          </a:prstGeom>
          <a:noFill/>
          <a:ln/>
        </p:spPr>
        <p:txBody>
          <a:bodyPr wrap="square" lIns="0" tIns="0" rIns="0" bIns="0" rtlCol="0" anchor="t"/>
          <a:lstStyle/>
          <a:p>
            <a:pPr indent="0" marL="0">
              <a:buNone/>
            </a:pPr>
            <a:r>
              <a:rPr lang="en-US" sz="1800" dirty="0">
                <a:solidFill>
                  <a:schemeClr val="bg2"/>
                </a:solidFill>
              </a:rPr>
              <a:t>Raghavendra | 24BCS10250</a:t>
            </a:r>
            <a:endParaRPr lang="en-US" sz="1800" dirty="0"/>
          </a:p>
        </p:txBody>
      </p:sp>
      <p:sp>
        <p:nvSpPr>
          <p:cNvPr id="6" name="Frame title-app"/>
          <p:cNvSpPr/>
          <p:nvPr/>
        </p:nvSpPr>
        <p:spPr>
          <a:xfrm>
            <a:off x="6300216" y="1362456"/>
            <a:ext cx="5367528" cy="3701487"/>
          </a:xfrm>
          <a:prstGeom prst="roundRect">
            <a:avLst>
              <a:gd name="adj" fmla="val 2223"/>
            </a:avLst>
          </a:prstGeom>
          <a:solidFill>
            <a:srgbClr val="FFFFF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7" name="Screenshot title-app" descr="PlaceTrack app showing counts per status and a table of applications">    </p:cNvPr>
          <p:cNvPicPr>
            <a:picLocks noChangeAspect="1"/>
          </p:cNvPicPr>
          <p:nvPr/>
        </p:nvPicPr>
        <p:blipFill>
          <a:blip r:embed="rId1"/>
          <a:stretch>
            <a:fillRect/>
          </a:stretch>
        </p:blipFill>
        <p:spPr>
          <a:xfrm>
            <a:off x="6355080" y="1417320"/>
            <a:ext cx="5257800" cy="35917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Why I built PlaceTrack</a:t>
            </a:r>
            <a:endParaRPr lang="en-US" sz="3400" dirty="0"/>
          </a:p>
        </p:txBody>
      </p:sp>
      <p:sp>
        <p:nvSpPr>
          <p:cNvPr id="3" name="Text 1"/>
          <p:cNvSpPr txBox="1"/>
          <p:nvPr/>
        </p:nvSpPr>
        <p:spPr>
          <a:xfrm>
            <a:off x="548640" y="1417320"/>
            <a:ext cx="4160520" cy="2560320"/>
          </a:xfrm>
          <a:prstGeom prst="rect">
            <a:avLst/>
          </a:prstGeom>
          <a:noFill/>
          <a:ln/>
        </p:spPr>
        <p:txBody>
          <a:bodyPr wrap="square" lIns="0" tIns="0" rIns="0" bIns="0" rtlCol="0" anchor="t"/>
          <a:lstStyle/>
          <a:p>
            <a:pPr indent="0" marL="0">
              <a:spcAft>
                <a:spcPts val="1400"/>
              </a:spcAft>
              <a:buNone/>
            </a:pPr>
            <a:r>
              <a:rPr lang="en-US" sz="2000" dirty="0">
                <a:solidFill>
                  <a:schemeClr val="tx1"/>
                </a:solidFill>
              </a:rPr>
              <a:t>I was applying for internships.</a:t>
            </a:r>
            <a:endParaRPr lang="en-US" sz="2000" dirty="0"/>
          </a:p>
          <a:p>
            <a:pPr indent="0" marL="0">
              <a:spcAft>
                <a:spcPts val="1400"/>
              </a:spcAft>
              <a:buNone/>
            </a:pPr>
            <a:r>
              <a:rPr lang="en-US" sz="2000" dirty="0">
                <a:solidFill>
                  <a:schemeClr val="tx1"/>
                </a:solidFill>
              </a:rPr>
              <a:t>My spreadsheet turned into a mess: which company, which round, what next?</a:t>
            </a:r>
            <a:endParaRPr lang="en-US" sz="2000" dirty="0"/>
          </a:p>
          <a:p>
            <a:pPr indent="0" marL="0">
              <a:buNone/>
            </a:pPr>
            <a:r>
              <a:rPr lang="en-US" sz="2000" dirty="0">
                <a:solidFill>
                  <a:schemeClr val="tx1"/>
                </a:solidFill>
              </a:rPr>
              <a:t>So I built a tracker. Add a company and a role, then move it through four stages.</a:t>
            </a:r>
            <a:endParaRPr lang="en-US" sz="2000" dirty="0"/>
          </a:p>
        </p:txBody>
      </p:sp>
      <p:sp>
        <p:nvSpPr>
          <p:cNvPr id="4" name="Status Applied"/>
          <p:cNvSpPr/>
          <p:nvPr/>
        </p:nvSpPr>
        <p:spPr>
          <a:xfrm>
            <a:off x="548640" y="4160520"/>
            <a:ext cx="932688" cy="365760"/>
          </a:xfrm>
          <a:prstGeom prst="roundRect">
            <a:avLst>
              <a:gd name="adj" fmla="val 42500"/>
            </a:avLst>
          </a:prstGeom>
          <a:solidFill>
            <a:srgbClr val="E4E6FB"/>
          </a:solidFill>
          <a:ln/>
        </p:spPr>
        <p:txBody>
          <a:bodyPr wrap="square" lIns="0" tIns="0" rIns="0" bIns="0" rtlCol="0" anchor="ctr"/>
          <a:lstStyle/>
          <a:p>
            <a:pPr algn="ctr" indent="0" marL="0">
              <a:buNone/>
            </a:pPr>
            <a:r>
              <a:rPr lang="en-US" sz="1300" b="1" dirty="0">
                <a:solidFill>
                  <a:srgbClr val="2B2F8F"/>
                </a:solidFill>
              </a:rPr>
              <a:t>Applied</a:t>
            </a:r>
            <a:endParaRPr lang="en-US" sz="1300" dirty="0"/>
          </a:p>
        </p:txBody>
      </p:sp>
      <p:sp>
        <p:nvSpPr>
          <p:cNvPr id="5" name="Status Interview"/>
          <p:cNvSpPr/>
          <p:nvPr/>
        </p:nvSpPr>
        <p:spPr>
          <a:xfrm>
            <a:off x="1572768" y="4160520"/>
            <a:ext cx="932688" cy="365760"/>
          </a:xfrm>
          <a:prstGeom prst="roundRect">
            <a:avLst>
              <a:gd name="adj" fmla="val 42500"/>
            </a:avLst>
          </a:prstGeom>
          <a:solidFill>
            <a:srgbClr val="FDF0C2"/>
          </a:solidFill>
          <a:ln/>
        </p:spPr>
        <p:txBody>
          <a:bodyPr wrap="square" lIns="0" tIns="0" rIns="0" bIns="0" rtlCol="0" anchor="ctr"/>
          <a:lstStyle/>
          <a:p>
            <a:pPr algn="ctr" indent="0" marL="0">
              <a:buNone/>
            </a:pPr>
            <a:r>
              <a:rPr lang="en-US" sz="1300" b="1" dirty="0">
                <a:solidFill>
                  <a:srgbClr val="7A5200"/>
                </a:solidFill>
              </a:rPr>
              <a:t>Interview</a:t>
            </a:r>
            <a:endParaRPr lang="en-US" sz="1300" dirty="0"/>
          </a:p>
        </p:txBody>
      </p:sp>
      <p:sp>
        <p:nvSpPr>
          <p:cNvPr id="6" name="Status Offer"/>
          <p:cNvSpPr/>
          <p:nvPr/>
        </p:nvSpPr>
        <p:spPr>
          <a:xfrm>
            <a:off x="2596896" y="4160520"/>
            <a:ext cx="932688" cy="365760"/>
          </a:xfrm>
          <a:prstGeom prst="roundRect">
            <a:avLst>
              <a:gd name="adj" fmla="val 42500"/>
            </a:avLst>
          </a:prstGeom>
          <a:solidFill>
            <a:srgbClr val="DDF3E4"/>
          </a:solidFill>
          <a:ln/>
        </p:spPr>
        <p:txBody>
          <a:bodyPr wrap="square" lIns="0" tIns="0" rIns="0" bIns="0" rtlCol="0" anchor="ctr"/>
          <a:lstStyle/>
          <a:p>
            <a:pPr algn="ctr" indent="0" marL="0">
              <a:buNone/>
            </a:pPr>
            <a:r>
              <a:rPr lang="en-US" sz="1300" b="1" dirty="0">
                <a:solidFill>
                  <a:srgbClr val="1E6B3A"/>
                </a:solidFill>
              </a:rPr>
              <a:t>Offer</a:t>
            </a:r>
            <a:endParaRPr lang="en-US" sz="1300" dirty="0"/>
          </a:p>
        </p:txBody>
      </p:sp>
      <p:sp>
        <p:nvSpPr>
          <p:cNvPr id="7" name="Status Rejected"/>
          <p:cNvSpPr/>
          <p:nvPr/>
        </p:nvSpPr>
        <p:spPr>
          <a:xfrm>
            <a:off x="3621024" y="4160520"/>
            <a:ext cx="932688" cy="365760"/>
          </a:xfrm>
          <a:prstGeom prst="roundRect">
            <a:avLst>
              <a:gd name="adj" fmla="val 42500"/>
            </a:avLst>
          </a:prstGeom>
          <a:solidFill>
            <a:srgbClr val="FBDADA"/>
          </a:solidFill>
          <a:ln/>
        </p:spPr>
        <p:txBody>
          <a:bodyPr wrap="square" lIns="0" tIns="0" rIns="0" bIns="0" rtlCol="0" anchor="ctr"/>
          <a:lstStyle/>
          <a:p>
            <a:pPr algn="ctr" indent="0" marL="0">
              <a:buNone/>
            </a:pPr>
            <a:r>
              <a:rPr lang="en-US" sz="1300" b="1" dirty="0">
                <a:solidFill>
                  <a:srgbClr val="9B1C1C"/>
                </a:solidFill>
              </a:rPr>
              <a:t>Rejected</a:t>
            </a:r>
            <a:endParaRPr lang="en-US" sz="1300" dirty="0"/>
          </a:p>
        </p:txBody>
      </p:sp>
      <p:sp>
        <p:nvSpPr>
          <p:cNvPr id="8" name="Text 6"/>
          <p:cNvSpPr txBox="1"/>
          <p:nvPr/>
        </p:nvSpPr>
        <p:spPr>
          <a:xfrm>
            <a:off x="548640" y="5029200"/>
            <a:ext cx="4160520" cy="822960"/>
          </a:xfrm>
          <a:prstGeom prst="rect">
            <a:avLst/>
          </a:prstGeom>
          <a:noFill/>
          <a:ln/>
        </p:spPr>
        <p:txBody>
          <a:bodyPr wrap="square" lIns="0" tIns="0" rIns="0" bIns="0" rtlCol="0" anchor="t"/>
          <a:lstStyle/>
          <a:p>
            <a:pPr indent="0" marL="0">
              <a:buNone/>
            </a:pPr>
            <a:r>
              <a:rPr lang="en-US" sz="1800" i="1" dirty="0">
                <a:solidFill>
                  <a:schemeClr val="tx2"/>
                </a:solidFill>
                <a:latin typeface="+mj-lt" pitchFamily="34" charset="0"/>
                <a:ea typeface="+mj-lt" pitchFamily="34" charset="-122"/>
                <a:cs typeface="+mj-lt" pitchFamily="34" charset="-120"/>
              </a:rPr>
              <a:t>The app is simple on purpose. The DevOps around it is the project.</a:t>
            </a:r>
            <a:endParaRPr lang="en-US" sz="1800" dirty="0"/>
          </a:p>
        </p:txBody>
      </p:sp>
      <p:sp>
        <p:nvSpPr>
          <p:cNvPr id="9" name="Frame 01-app-compose"/>
          <p:cNvSpPr/>
          <p:nvPr/>
        </p:nvSpPr>
        <p:spPr>
          <a:xfrm>
            <a:off x="5020056" y="1362456"/>
            <a:ext cx="6675120" cy="4213098"/>
          </a:xfrm>
          <a:prstGeom prst="roundRect">
            <a:avLst>
              <a:gd name="adj" fmla="val 1953"/>
            </a:avLst>
          </a:prstGeom>
          <a:solidFill>
            <a:srgbClr val="FFFFF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10" name="Screenshot 01-app-compose" descr="PlaceTrack in the browser at localhost:3000">    </p:cNvPr>
          <p:cNvPicPr>
            <a:picLocks noChangeAspect="1"/>
          </p:cNvPicPr>
          <p:nvPr/>
        </p:nvPicPr>
        <p:blipFill>
          <a:blip r:embed="rId1"/>
          <a:stretch>
            <a:fillRect/>
          </a:stretch>
        </p:blipFill>
        <p:spPr>
          <a:xfrm>
            <a:off x="5074920" y="1417320"/>
            <a:ext cx="6565392" cy="4103370"/>
          </a:xfrm>
          <a:prstGeom prst="rect">
            <a:avLst/>
          </a:prstGeom>
        </p:spPr>
      </p:pic>
      <p:sp>
        <p:nvSpPr>
          <p:cNvPr id="11" name="Text 8"/>
          <p:cNvSpPr txBox="1"/>
          <p:nvPr/>
        </p:nvSpPr>
        <p:spPr>
          <a:xfrm>
            <a:off x="5074920" y="5721858"/>
            <a:ext cx="6565392" cy="365760"/>
          </a:xfrm>
          <a:prstGeom prst="rect">
            <a:avLst/>
          </a:prstGeom>
          <a:noFill/>
          <a:ln/>
        </p:spPr>
        <p:txBody>
          <a:bodyPr wrap="square" lIns="0" tIns="0" rIns="0" bIns="0" rtlCol="0" anchor="t"/>
          <a:lstStyle/>
          <a:p>
            <a:pPr indent="0" marL="0">
              <a:buNone/>
            </a:pPr>
            <a:r>
              <a:rPr lang="en-US" sz="1300" dirty="0">
                <a:solidFill>
                  <a:schemeClr val="accent5"/>
                </a:solidFill>
              </a:rPr>
              <a:t>React frontend and FastAPI backend, running with Docker Compose at localhost:3000</a:t>
            </a:r>
            <a:endParaRPr lang="en-US" sz="13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How it all fits together</a:t>
            </a:r>
            <a:endParaRPr lang="en-US" sz="3400" dirty="0"/>
          </a:p>
        </p:txBody>
      </p:sp>
      <p:sp>
        <p:nvSpPr>
          <p:cNvPr id="3" name="Text 1"/>
          <p:cNvSpPr txBox="1"/>
          <p:nvPr/>
        </p:nvSpPr>
        <p:spPr>
          <a:xfrm>
            <a:off x="548640" y="1371600"/>
            <a:ext cx="237744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BUILD AND SHIP</a:t>
            </a:r>
            <a:endParaRPr lang="en-US" sz="1200" dirty="0"/>
          </a:p>
        </p:txBody>
      </p:sp>
      <p:sp>
        <p:nvSpPr>
          <p:cNvPr id="4" name="Box Code"/>
          <p:cNvSpPr/>
          <p:nvPr/>
        </p:nvSpPr>
        <p:spPr>
          <a:xfrm>
            <a:off x="548640" y="1965960"/>
            <a:ext cx="1920240" cy="1188720"/>
          </a:xfrm>
          <a:prstGeom prst="roundRect">
            <a:avLst>
              <a:gd name="adj" fmla="val 7692"/>
            </a:avLst>
          </a:prstGeom>
          <a:solidFill>
            <a:schemeClr val="bg2"/>
          </a:solidFill>
          <a:ln/>
        </p:spPr>
        <p:txBody>
          <a:bodyPr wrap="square" lIns="762" tIns="762" rIns="762" bIns="762" rtlCol="0" anchor="ctr"/>
          <a:lstStyle/>
          <a:p>
            <a:pPr algn="ctr" indent="0" marL="0">
              <a:buNone/>
            </a:pPr>
            <a:r>
              <a:rPr lang="en-US" sz="1600" b="1" dirty="0">
                <a:solidFill>
                  <a:schemeClr val="tx1"/>
                </a:solidFill>
              </a:rPr>
              <a:t>Code</a:t>
            </a:r>
            <a:endParaRPr lang="en-US" sz="1600" dirty="0"/>
          </a:p>
          <a:p>
            <a:pPr algn="ctr" indent="0" marL="0">
              <a:buNone/>
            </a:pPr>
            <a:r>
              <a:rPr lang="en-US" sz="1250" dirty="0">
                <a:solidFill>
                  <a:schemeClr val="tx1"/>
                </a:solidFill>
              </a:rPr>
              <a:t>React, FastAPI, Dockerfiles, Helm chart</a:t>
            </a:r>
            <a:endParaRPr lang="en-US" sz="1600" dirty="0"/>
          </a:p>
        </p:txBody>
      </p:sp>
      <p:sp>
        <p:nvSpPr>
          <p:cNvPr id="5" name="Arrow"/>
          <p:cNvSpPr/>
          <p:nvPr/>
        </p:nvSpPr>
        <p:spPr>
          <a:xfrm>
            <a:off x="2468880" y="2560320"/>
            <a:ext cx="640080" cy="0"/>
          </a:xfrm>
          <a:prstGeom prst="line">
            <a:avLst/>
          </a:prstGeom>
          <a:noFill/>
          <a:ln w="25400">
            <a:solidFill>
              <a:schemeClr val="accent5"/>
            </a:solidFill>
            <a:prstDash val="solid"/>
            <a:tailEnd type="triangle"/>
          </a:ln>
        </p:spPr>
      </p:sp>
      <p:sp>
        <p:nvSpPr>
          <p:cNvPr id="6" name="Text 4"/>
          <p:cNvSpPr txBox="1"/>
          <p:nvPr/>
        </p:nvSpPr>
        <p:spPr>
          <a:xfrm>
            <a:off x="2468880" y="2212848"/>
            <a:ext cx="640080" cy="228600"/>
          </a:xfrm>
          <a:prstGeom prst="rect">
            <a:avLst/>
          </a:prstGeom>
          <a:noFill/>
          <a:ln/>
        </p:spPr>
        <p:txBody>
          <a:bodyPr wrap="square" lIns="0" tIns="0" rIns="0" bIns="0" rtlCol="0" anchor="t"/>
          <a:lstStyle/>
          <a:p>
            <a:pPr algn="ctr" indent="0" marL="0">
              <a:buNone/>
            </a:pPr>
            <a:r>
              <a:rPr lang="en-US" sz="1100" dirty="0">
                <a:solidFill>
                  <a:schemeClr val="accent5"/>
                </a:solidFill>
              </a:rPr>
              <a:t>git push</a:t>
            </a:r>
            <a:endParaRPr lang="en-US" sz="1100" dirty="0"/>
          </a:p>
        </p:txBody>
      </p:sp>
      <p:sp>
        <p:nvSpPr>
          <p:cNvPr id="7" name="GitHub Actions container"/>
          <p:cNvSpPr/>
          <p:nvPr/>
        </p:nvSpPr>
        <p:spPr>
          <a:xfrm>
            <a:off x="3108960" y="1417320"/>
            <a:ext cx="2560320" cy="2286000"/>
          </a:xfrm>
          <a:prstGeom prst="roundRect">
            <a:avLst>
              <a:gd name="adj" fmla="val 4000"/>
            </a:avLst>
          </a:prstGeom>
          <a:solidFill>
            <a:schemeClr val="bg2"/>
          </a:solidFill>
          <a:ln/>
        </p:spPr>
      </p:sp>
      <p:sp>
        <p:nvSpPr>
          <p:cNvPr id="8" name="Text 6"/>
          <p:cNvSpPr txBox="1"/>
          <p:nvPr/>
        </p:nvSpPr>
        <p:spPr>
          <a:xfrm>
            <a:off x="3108960" y="1490472"/>
            <a:ext cx="2560320" cy="320040"/>
          </a:xfrm>
          <a:prstGeom prst="rect">
            <a:avLst/>
          </a:prstGeom>
          <a:noFill/>
          <a:ln/>
        </p:spPr>
        <p:txBody>
          <a:bodyPr wrap="square" lIns="0" tIns="0" rIns="0" bIns="0" rtlCol="0" anchor="t"/>
          <a:lstStyle/>
          <a:p>
            <a:pPr algn="ctr" indent="0" marL="0">
              <a:buNone/>
            </a:pPr>
            <a:r>
              <a:rPr lang="en-US" sz="1600" b="1" dirty="0">
                <a:solidFill>
                  <a:schemeClr val="tx1"/>
                </a:solidFill>
              </a:rPr>
              <a:t>GitHub Actions</a:t>
            </a:r>
            <a:endParaRPr lang="en-US" sz="1600" dirty="0"/>
          </a:p>
        </p:txBody>
      </p:sp>
      <p:sp>
        <p:nvSpPr>
          <p:cNvPr id="9" name="Step pytest"/>
          <p:cNvSpPr/>
          <p:nvPr/>
        </p:nvSpPr>
        <p:spPr>
          <a:xfrm>
            <a:off x="3246120" y="1901952"/>
            <a:ext cx="2286000" cy="365760"/>
          </a:xfrm>
          <a:prstGeom prst="roundRect">
            <a:avLst>
              <a:gd name="adj" fmla="val 20000"/>
            </a:avLst>
          </a:prstGeom>
          <a:solidFill>
            <a:schemeClr val="bg1"/>
          </a:solidFill>
          <a:ln/>
        </p:spPr>
        <p:txBody>
          <a:bodyPr wrap="square" lIns="0" tIns="0" rIns="0" bIns="0" rtlCol="0" anchor="ctr"/>
          <a:lstStyle/>
          <a:p>
            <a:pPr algn="ctr" indent="0" marL="0">
              <a:buNone/>
            </a:pPr>
            <a:r>
              <a:rPr lang="en-US" sz="1400" dirty="0">
                <a:solidFill>
                  <a:schemeClr val="tx1"/>
                </a:solidFill>
              </a:rPr>
              <a:t>pytest</a:t>
            </a:r>
            <a:endParaRPr lang="en-US" sz="1400" dirty="0"/>
          </a:p>
        </p:txBody>
      </p:sp>
      <p:sp>
        <p:nvSpPr>
          <p:cNvPr id="10" name="Step frontend build"/>
          <p:cNvSpPr/>
          <p:nvPr/>
        </p:nvSpPr>
        <p:spPr>
          <a:xfrm>
            <a:off x="3246120" y="2331720"/>
            <a:ext cx="2286000" cy="365760"/>
          </a:xfrm>
          <a:prstGeom prst="roundRect">
            <a:avLst>
              <a:gd name="adj" fmla="val 20000"/>
            </a:avLst>
          </a:prstGeom>
          <a:solidFill>
            <a:schemeClr val="bg1"/>
          </a:solidFill>
          <a:ln/>
        </p:spPr>
        <p:txBody>
          <a:bodyPr wrap="square" lIns="0" tIns="0" rIns="0" bIns="0" rtlCol="0" anchor="ctr"/>
          <a:lstStyle/>
          <a:p>
            <a:pPr algn="ctr" indent="0" marL="0">
              <a:buNone/>
            </a:pPr>
            <a:r>
              <a:rPr lang="en-US" sz="1400" dirty="0">
                <a:solidFill>
                  <a:schemeClr val="tx1"/>
                </a:solidFill>
              </a:rPr>
              <a:t>frontend build</a:t>
            </a:r>
            <a:endParaRPr lang="en-US" sz="1400" dirty="0"/>
          </a:p>
        </p:txBody>
      </p:sp>
      <p:sp>
        <p:nvSpPr>
          <p:cNvPr id="11" name="Step docker build x2"/>
          <p:cNvSpPr/>
          <p:nvPr/>
        </p:nvSpPr>
        <p:spPr>
          <a:xfrm>
            <a:off x="3246120" y="2761488"/>
            <a:ext cx="2286000" cy="365760"/>
          </a:xfrm>
          <a:prstGeom prst="roundRect">
            <a:avLst>
              <a:gd name="adj" fmla="val 20000"/>
            </a:avLst>
          </a:prstGeom>
          <a:solidFill>
            <a:schemeClr val="bg1"/>
          </a:solidFill>
          <a:ln/>
        </p:spPr>
        <p:txBody>
          <a:bodyPr wrap="square" lIns="0" tIns="0" rIns="0" bIns="0" rtlCol="0" anchor="ctr"/>
          <a:lstStyle/>
          <a:p>
            <a:pPr algn="ctr" indent="0" marL="0">
              <a:buNone/>
            </a:pPr>
            <a:r>
              <a:rPr lang="en-US" sz="1400" dirty="0">
                <a:solidFill>
                  <a:schemeClr val="tx1"/>
                </a:solidFill>
              </a:rPr>
              <a:t>docker build x2</a:t>
            </a:r>
            <a:endParaRPr lang="en-US" sz="1400" dirty="0"/>
          </a:p>
        </p:txBody>
      </p:sp>
      <p:sp>
        <p:nvSpPr>
          <p:cNvPr id="12" name="Step Trivy scan"/>
          <p:cNvSpPr/>
          <p:nvPr/>
        </p:nvSpPr>
        <p:spPr>
          <a:xfrm>
            <a:off x="3246120" y="3191256"/>
            <a:ext cx="2286000" cy="365760"/>
          </a:xfrm>
          <a:prstGeom prst="roundRect">
            <a:avLst>
              <a:gd name="adj" fmla="val 20000"/>
            </a:avLst>
          </a:prstGeom>
          <a:solidFill>
            <a:schemeClr val="accent2"/>
          </a:solidFill>
          <a:ln/>
        </p:spPr>
        <p:txBody>
          <a:bodyPr wrap="square" lIns="0" tIns="0" rIns="0" bIns="0" rtlCol="0" anchor="ctr"/>
          <a:lstStyle/>
          <a:p>
            <a:pPr algn="ctr" indent="0" marL="0">
              <a:buNone/>
            </a:pPr>
            <a:r>
              <a:rPr lang="en-US" sz="1400" b="1" dirty="0">
                <a:solidFill>
                  <a:schemeClr val="tx1"/>
                </a:solidFill>
              </a:rPr>
              <a:t>Trivy scan</a:t>
            </a:r>
            <a:endParaRPr lang="en-US" sz="1400" dirty="0"/>
          </a:p>
        </p:txBody>
      </p:sp>
      <p:sp>
        <p:nvSpPr>
          <p:cNvPr id="13" name="Arrow"/>
          <p:cNvSpPr/>
          <p:nvPr/>
        </p:nvSpPr>
        <p:spPr>
          <a:xfrm>
            <a:off x="5669280" y="2560320"/>
            <a:ext cx="640080" cy="0"/>
          </a:xfrm>
          <a:prstGeom prst="line">
            <a:avLst/>
          </a:prstGeom>
          <a:noFill/>
          <a:ln w="25400">
            <a:solidFill>
              <a:schemeClr val="accent5"/>
            </a:solidFill>
            <a:prstDash val="solid"/>
            <a:tailEnd type="triangle"/>
          </a:ln>
        </p:spPr>
      </p:sp>
      <p:sp>
        <p:nvSpPr>
          <p:cNvPr id="14" name="Text 12"/>
          <p:cNvSpPr txBox="1"/>
          <p:nvPr/>
        </p:nvSpPr>
        <p:spPr>
          <a:xfrm>
            <a:off x="5669280" y="2212848"/>
            <a:ext cx="640080" cy="228600"/>
          </a:xfrm>
          <a:prstGeom prst="rect">
            <a:avLst/>
          </a:prstGeom>
          <a:noFill/>
          <a:ln/>
        </p:spPr>
        <p:txBody>
          <a:bodyPr wrap="square" lIns="0" tIns="0" rIns="0" bIns="0" rtlCol="0" anchor="t"/>
          <a:lstStyle/>
          <a:p>
            <a:pPr algn="ctr" indent="0" marL="0">
              <a:buNone/>
            </a:pPr>
            <a:r>
              <a:rPr lang="en-US" sz="1100" dirty="0">
                <a:solidFill>
                  <a:schemeClr val="accent5"/>
                </a:solidFill>
              </a:rPr>
              <a:t>push</a:t>
            </a:r>
            <a:endParaRPr lang="en-US" sz="1100" dirty="0"/>
          </a:p>
        </p:txBody>
      </p:sp>
      <p:sp>
        <p:nvSpPr>
          <p:cNvPr id="15" name="Box GHCR"/>
          <p:cNvSpPr/>
          <p:nvPr/>
        </p:nvSpPr>
        <p:spPr>
          <a:xfrm>
            <a:off x="6309360" y="1965960"/>
            <a:ext cx="1920240" cy="1188720"/>
          </a:xfrm>
          <a:prstGeom prst="roundRect">
            <a:avLst>
              <a:gd name="adj" fmla="val 7692"/>
            </a:avLst>
          </a:prstGeom>
          <a:solidFill>
            <a:schemeClr val="bg2"/>
          </a:solidFill>
          <a:ln/>
        </p:spPr>
        <p:txBody>
          <a:bodyPr wrap="square" lIns="762" tIns="762" rIns="762" bIns="762" rtlCol="0" anchor="ctr"/>
          <a:lstStyle/>
          <a:p>
            <a:pPr algn="ctr" indent="0" marL="0">
              <a:buNone/>
            </a:pPr>
            <a:r>
              <a:rPr lang="en-US" sz="1600" b="1" dirty="0">
                <a:solidFill>
                  <a:schemeClr val="tx1"/>
                </a:solidFill>
              </a:rPr>
              <a:t>GHCR</a:t>
            </a:r>
            <a:endParaRPr lang="en-US" sz="1600" dirty="0"/>
          </a:p>
          <a:p>
            <a:pPr algn="ctr" indent="0" marL="0">
              <a:buNone/>
            </a:pPr>
            <a:r>
              <a:rPr lang="en-US" sz="1250" dirty="0">
                <a:solidFill>
                  <a:schemeClr val="tx1"/>
                </a:solidFill>
              </a:rPr>
              <a:t>images tagged with the commit SHA</a:t>
            </a:r>
            <a:endParaRPr lang="en-US" sz="1600" dirty="0"/>
          </a:p>
        </p:txBody>
      </p:sp>
      <p:sp>
        <p:nvSpPr>
          <p:cNvPr id="16" name="Arrow"/>
          <p:cNvSpPr/>
          <p:nvPr/>
        </p:nvSpPr>
        <p:spPr>
          <a:xfrm>
            <a:off x="7269480" y="3154680"/>
            <a:ext cx="0" cy="1005840"/>
          </a:xfrm>
          <a:prstGeom prst="line">
            <a:avLst/>
          </a:prstGeom>
          <a:noFill/>
          <a:ln w="25400">
            <a:solidFill>
              <a:schemeClr val="accent5"/>
            </a:solidFill>
            <a:prstDash val="solid"/>
            <a:tailEnd type="triangle"/>
          </a:ln>
        </p:spPr>
      </p:sp>
      <p:sp>
        <p:nvSpPr>
          <p:cNvPr id="17" name="Text 15"/>
          <p:cNvSpPr txBox="1"/>
          <p:nvPr/>
        </p:nvSpPr>
        <p:spPr>
          <a:xfrm>
            <a:off x="7379208" y="3520440"/>
            <a:ext cx="868680" cy="228600"/>
          </a:xfrm>
          <a:prstGeom prst="rect">
            <a:avLst/>
          </a:prstGeom>
          <a:noFill/>
          <a:ln/>
        </p:spPr>
        <p:txBody>
          <a:bodyPr wrap="square" lIns="0" tIns="0" rIns="0" bIns="0" rtlCol="0" anchor="t"/>
          <a:lstStyle/>
          <a:p>
            <a:pPr indent="0" marL="0">
              <a:buNone/>
            </a:pPr>
            <a:r>
              <a:rPr lang="en-US" sz="1100" dirty="0">
                <a:solidFill>
                  <a:schemeClr val="accent5"/>
                </a:solidFill>
              </a:rPr>
              <a:t>deploy job</a:t>
            </a:r>
            <a:endParaRPr lang="en-US" sz="1100" dirty="0"/>
          </a:p>
        </p:txBody>
      </p:sp>
      <p:sp>
        <p:nvSpPr>
          <p:cNvPr id="18" name="Box Helm"/>
          <p:cNvSpPr/>
          <p:nvPr/>
        </p:nvSpPr>
        <p:spPr>
          <a:xfrm>
            <a:off x="6309360" y="4160520"/>
            <a:ext cx="1920240" cy="1005840"/>
          </a:xfrm>
          <a:prstGeom prst="roundRect">
            <a:avLst>
              <a:gd name="adj" fmla="val 9091"/>
            </a:avLst>
          </a:prstGeom>
          <a:solidFill>
            <a:schemeClr val="tx2"/>
          </a:solidFill>
          <a:ln/>
        </p:spPr>
        <p:txBody>
          <a:bodyPr wrap="square" lIns="762" tIns="762" rIns="762" bIns="762" rtlCol="0" anchor="ctr"/>
          <a:lstStyle/>
          <a:p>
            <a:pPr algn="ctr" indent="0" marL="0">
              <a:buNone/>
            </a:pPr>
            <a:r>
              <a:rPr lang="en-US" sz="1600" b="1" dirty="0">
                <a:solidFill>
                  <a:schemeClr val="bg1"/>
                </a:solidFill>
              </a:rPr>
              <a:t>Helm</a:t>
            </a:r>
            <a:endParaRPr lang="en-US" sz="1600" dirty="0"/>
          </a:p>
          <a:p>
            <a:pPr algn="ctr" indent="0" marL="0">
              <a:buNone/>
            </a:pPr>
            <a:r>
              <a:rPr lang="en-US" sz="1250" dirty="0">
                <a:solidFill>
                  <a:schemeClr val="bg1"/>
                </a:solidFill>
              </a:rPr>
              <a:t>helm upgrade --install</a:t>
            </a:r>
            <a:endParaRPr lang="en-US" sz="1600" dirty="0"/>
          </a:p>
        </p:txBody>
      </p:sp>
      <p:sp>
        <p:nvSpPr>
          <p:cNvPr id="19" name="Arrow"/>
          <p:cNvSpPr/>
          <p:nvPr/>
        </p:nvSpPr>
        <p:spPr>
          <a:xfrm>
            <a:off x="8229600" y="4663440"/>
            <a:ext cx="548640" cy="0"/>
          </a:xfrm>
          <a:prstGeom prst="line">
            <a:avLst/>
          </a:prstGeom>
          <a:noFill/>
          <a:ln w="25400">
            <a:solidFill>
              <a:schemeClr val="accent5"/>
            </a:solidFill>
            <a:prstDash val="solid"/>
            <a:tailEnd type="triangle"/>
          </a:ln>
        </p:spPr>
      </p:sp>
      <p:sp>
        <p:nvSpPr>
          <p:cNvPr id="20" name="Text 18"/>
          <p:cNvSpPr txBox="1"/>
          <p:nvPr/>
        </p:nvSpPr>
        <p:spPr>
          <a:xfrm>
            <a:off x="548640" y="4251960"/>
            <a:ext cx="274320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INFRASTRUCTURE</a:t>
            </a:r>
            <a:endParaRPr lang="en-US" sz="1200" dirty="0"/>
          </a:p>
        </p:txBody>
      </p:sp>
      <p:sp>
        <p:nvSpPr>
          <p:cNvPr id="21" name="Box Terraform"/>
          <p:cNvSpPr/>
          <p:nvPr/>
        </p:nvSpPr>
        <p:spPr>
          <a:xfrm>
            <a:off x="548640" y="4617720"/>
            <a:ext cx="1920240" cy="1097280"/>
          </a:xfrm>
          <a:prstGeom prst="roundRect">
            <a:avLst>
              <a:gd name="adj" fmla="val 8333"/>
            </a:avLst>
          </a:prstGeom>
          <a:solidFill>
            <a:schemeClr val="bg2"/>
          </a:solidFill>
          <a:ln/>
        </p:spPr>
        <p:txBody>
          <a:bodyPr wrap="square" lIns="762" tIns="762" rIns="762" bIns="762" rtlCol="0" anchor="ctr"/>
          <a:lstStyle/>
          <a:p>
            <a:pPr algn="ctr" indent="0" marL="0">
              <a:buNone/>
            </a:pPr>
            <a:r>
              <a:rPr lang="en-US" sz="1600" b="1" dirty="0">
                <a:solidFill>
                  <a:schemeClr val="tx1"/>
                </a:solidFill>
              </a:rPr>
              <a:t>Terraform</a:t>
            </a:r>
            <a:endParaRPr lang="en-US" sz="1600" dirty="0"/>
          </a:p>
          <a:p>
            <a:pPr algn="ctr" indent="0" marL="0">
              <a:buNone/>
            </a:pPr>
            <a:r>
              <a:rPr lang="en-US" sz="1300" dirty="0">
                <a:solidFill>
                  <a:schemeClr val="tx1"/>
                </a:solidFill>
              </a:rPr>
              <a:t>VPC + EKS as code</a:t>
            </a:r>
            <a:endParaRPr lang="en-US" sz="1600" dirty="0"/>
          </a:p>
        </p:txBody>
      </p:sp>
      <p:sp>
        <p:nvSpPr>
          <p:cNvPr id="22" name="Arrow"/>
          <p:cNvSpPr/>
          <p:nvPr/>
        </p:nvSpPr>
        <p:spPr>
          <a:xfrm>
            <a:off x="2468880" y="5166360"/>
            <a:ext cx="640080" cy="0"/>
          </a:xfrm>
          <a:prstGeom prst="line">
            <a:avLst/>
          </a:prstGeom>
          <a:noFill/>
          <a:ln w="25400">
            <a:solidFill>
              <a:schemeClr val="accent5"/>
            </a:solidFill>
            <a:prstDash val="solid"/>
            <a:tailEnd type="triangle"/>
          </a:ln>
        </p:spPr>
      </p:sp>
      <p:sp>
        <p:nvSpPr>
          <p:cNvPr id="23" name="Box AWS, ap-south-1"/>
          <p:cNvSpPr/>
          <p:nvPr/>
        </p:nvSpPr>
        <p:spPr>
          <a:xfrm>
            <a:off x="3108960" y="4617720"/>
            <a:ext cx="2560320" cy="1097280"/>
          </a:xfrm>
          <a:prstGeom prst="roundRect">
            <a:avLst>
              <a:gd name="adj" fmla="val 8333"/>
            </a:avLst>
          </a:prstGeom>
          <a:solidFill>
            <a:schemeClr val="bg2"/>
          </a:solidFill>
          <a:ln/>
        </p:spPr>
        <p:txBody>
          <a:bodyPr wrap="square" lIns="762" tIns="762" rIns="762" bIns="762" rtlCol="0" anchor="ctr"/>
          <a:lstStyle/>
          <a:p>
            <a:pPr algn="ctr" indent="0" marL="0">
              <a:buNone/>
            </a:pPr>
            <a:r>
              <a:rPr lang="en-US" sz="1600" b="1" dirty="0">
                <a:solidFill>
                  <a:schemeClr val="tx1"/>
                </a:solidFill>
              </a:rPr>
              <a:t>AWS, ap-south-1</a:t>
            </a:r>
            <a:endParaRPr lang="en-US" sz="1600" dirty="0"/>
          </a:p>
          <a:p>
            <a:pPr algn="ctr" indent="0" marL="0">
              <a:buNone/>
            </a:pPr>
            <a:r>
              <a:rPr lang="en-US" sz="1250" dirty="0">
                <a:solidFill>
                  <a:schemeClr val="tx1"/>
                </a:solidFill>
              </a:rPr>
              <a:t>VPC, 2 subnets, EKS 1.35, 2 nodes. Destroyed after I checked it.</a:t>
            </a:r>
            <a:endParaRPr lang="en-US" sz="1600" dirty="0"/>
          </a:p>
        </p:txBody>
      </p:sp>
      <p:sp>
        <p:nvSpPr>
          <p:cNvPr id="24" name="Kubernetes container"/>
          <p:cNvSpPr/>
          <p:nvPr/>
        </p:nvSpPr>
        <p:spPr>
          <a:xfrm>
            <a:off x="8778240" y="1371600"/>
            <a:ext cx="2862072" cy="4892040"/>
          </a:xfrm>
          <a:prstGeom prst="roundRect">
            <a:avLst>
              <a:gd name="adj" fmla="val 3195"/>
            </a:avLst>
          </a:prstGeom>
          <a:solidFill>
            <a:schemeClr val="bg2"/>
          </a:solidFill>
          <a:ln/>
        </p:spPr>
      </p:sp>
      <p:sp>
        <p:nvSpPr>
          <p:cNvPr id="25" name="Text 23"/>
          <p:cNvSpPr txBox="1"/>
          <p:nvPr/>
        </p:nvSpPr>
        <p:spPr>
          <a:xfrm>
            <a:off x="8778240" y="1463040"/>
            <a:ext cx="2862072" cy="320040"/>
          </a:xfrm>
          <a:prstGeom prst="rect">
            <a:avLst/>
          </a:prstGeom>
          <a:noFill/>
          <a:ln/>
        </p:spPr>
        <p:txBody>
          <a:bodyPr wrap="square" lIns="0" tIns="0" rIns="0" bIns="0" rtlCol="0" anchor="t"/>
          <a:lstStyle/>
          <a:p>
            <a:pPr algn="ctr" indent="0" marL="0">
              <a:buNone/>
            </a:pPr>
            <a:r>
              <a:rPr lang="en-US" sz="1600" b="1" dirty="0">
                <a:solidFill>
                  <a:schemeClr val="tx1"/>
                </a:solidFill>
              </a:rPr>
              <a:t>Kubernetes (minikube)</a:t>
            </a:r>
            <a:endParaRPr lang="en-US" sz="1600" dirty="0"/>
          </a:p>
        </p:txBody>
      </p:sp>
      <p:sp>
        <p:nvSpPr>
          <p:cNvPr id="26" name="Box Ingress"/>
          <p:cNvSpPr/>
          <p:nvPr/>
        </p:nvSpPr>
        <p:spPr>
          <a:xfrm>
            <a:off x="8961120" y="1920240"/>
            <a:ext cx="2496312" cy="566928"/>
          </a:xfrm>
          <a:prstGeom prst="roundRect">
            <a:avLst>
              <a:gd name="adj" fmla="val 16129"/>
            </a:avLst>
          </a:prstGeom>
          <a:solidFill>
            <a:schemeClr val="bg1"/>
          </a:solidFill>
          <a:ln/>
        </p:spPr>
        <p:txBody>
          <a:bodyPr wrap="square" lIns="762" tIns="762" rIns="762" bIns="762" rtlCol="0" anchor="ctr"/>
          <a:lstStyle/>
          <a:p>
            <a:pPr algn="ctr" indent="0" marL="0">
              <a:buNone/>
            </a:pPr>
            <a:r>
              <a:rPr lang="en-US" sz="1500" b="1" dirty="0">
                <a:solidFill>
                  <a:schemeClr val="tx1"/>
                </a:solidFill>
              </a:rPr>
              <a:t>Ingress</a:t>
            </a:r>
            <a:endParaRPr lang="en-US" sz="1500" dirty="0"/>
          </a:p>
          <a:p>
            <a:pPr algn="ctr" indent="0" marL="0">
              <a:buNone/>
            </a:pPr>
            <a:r>
              <a:rPr lang="en-US" sz="1250" dirty="0">
                <a:solidFill>
                  <a:schemeClr val="tx1"/>
                </a:solidFill>
              </a:rPr>
              <a:t>placetrack.local</a:t>
            </a:r>
            <a:endParaRPr lang="en-US" sz="1500" dirty="0"/>
          </a:p>
        </p:txBody>
      </p:sp>
      <p:sp>
        <p:nvSpPr>
          <p:cNvPr id="27" name="Arrow"/>
          <p:cNvSpPr/>
          <p:nvPr/>
        </p:nvSpPr>
        <p:spPr>
          <a:xfrm>
            <a:off x="9546336" y="2487168"/>
            <a:ext cx="0" cy="457200"/>
          </a:xfrm>
          <a:prstGeom prst="line">
            <a:avLst/>
          </a:prstGeom>
          <a:noFill/>
          <a:ln w="25400">
            <a:solidFill>
              <a:schemeClr val="accent5"/>
            </a:solidFill>
            <a:prstDash val="solid"/>
            <a:tailEnd type="triangle"/>
          </a:ln>
        </p:spPr>
      </p:sp>
      <p:sp>
        <p:nvSpPr>
          <p:cNvPr id="28" name="Arrow"/>
          <p:cNvSpPr/>
          <p:nvPr/>
        </p:nvSpPr>
        <p:spPr>
          <a:xfrm>
            <a:off x="10872216" y="2487168"/>
            <a:ext cx="0" cy="457200"/>
          </a:xfrm>
          <a:prstGeom prst="line">
            <a:avLst/>
          </a:prstGeom>
          <a:noFill/>
          <a:ln w="25400">
            <a:solidFill>
              <a:schemeClr val="accent5"/>
            </a:solidFill>
            <a:prstDash val="solid"/>
            <a:tailEnd type="triangle"/>
          </a:ln>
        </p:spPr>
      </p:sp>
      <p:sp>
        <p:nvSpPr>
          <p:cNvPr id="29" name="Box frontend"/>
          <p:cNvSpPr/>
          <p:nvPr/>
        </p:nvSpPr>
        <p:spPr>
          <a:xfrm>
            <a:off x="8961120" y="2944368"/>
            <a:ext cx="1170432" cy="868680"/>
          </a:xfrm>
          <a:prstGeom prst="roundRect">
            <a:avLst>
              <a:gd name="adj" fmla="val 10526"/>
            </a:avLst>
          </a:prstGeom>
          <a:solidFill>
            <a:schemeClr val="bg1"/>
          </a:solidFill>
          <a:ln/>
        </p:spPr>
        <p:txBody>
          <a:bodyPr wrap="square" lIns="762" tIns="762" rIns="762" bIns="762" rtlCol="0" anchor="ctr"/>
          <a:lstStyle/>
          <a:p>
            <a:pPr algn="ctr" indent="0" marL="0">
              <a:buNone/>
            </a:pPr>
            <a:r>
              <a:rPr lang="en-US" sz="1500" b="1" dirty="0">
                <a:solidFill>
                  <a:schemeClr val="tx1"/>
                </a:solidFill>
              </a:rPr>
              <a:t>frontend</a:t>
            </a:r>
            <a:endParaRPr lang="en-US" sz="1500" dirty="0"/>
          </a:p>
          <a:p>
            <a:pPr algn="ctr" indent="0" marL="0">
              <a:buNone/>
            </a:pPr>
            <a:r>
              <a:rPr lang="en-US" sz="1250" dirty="0">
                <a:solidFill>
                  <a:schemeClr val="tx1"/>
                </a:solidFill>
              </a:rPr>
              <a:t>2 replicas</a:t>
            </a:r>
            <a:endParaRPr lang="en-US" sz="1500" dirty="0"/>
          </a:p>
        </p:txBody>
      </p:sp>
      <p:sp>
        <p:nvSpPr>
          <p:cNvPr id="30" name="Box backend"/>
          <p:cNvSpPr/>
          <p:nvPr/>
        </p:nvSpPr>
        <p:spPr>
          <a:xfrm>
            <a:off x="10287000" y="2944368"/>
            <a:ext cx="1170432" cy="868680"/>
          </a:xfrm>
          <a:prstGeom prst="roundRect">
            <a:avLst>
              <a:gd name="adj" fmla="val 10526"/>
            </a:avLst>
          </a:prstGeom>
          <a:solidFill>
            <a:schemeClr val="bg1"/>
          </a:solidFill>
          <a:ln/>
        </p:spPr>
        <p:txBody>
          <a:bodyPr wrap="square" lIns="762" tIns="762" rIns="762" bIns="762" rtlCol="0" anchor="ctr"/>
          <a:lstStyle/>
          <a:p>
            <a:pPr algn="ctr" indent="0" marL="0">
              <a:buNone/>
            </a:pPr>
            <a:r>
              <a:rPr lang="en-US" sz="1500" b="1" dirty="0">
                <a:solidFill>
                  <a:schemeClr val="tx1"/>
                </a:solidFill>
              </a:rPr>
              <a:t>backend</a:t>
            </a:r>
            <a:endParaRPr lang="en-US" sz="1500" dirty="0"/>
          </a:p>
          <a:p>
            <a:pPr algn="ctr" indent="0" marL="0">
              <a:buNone/>
            </a:pPr>
            <a:r>
              <a:rPr lang="en-US" sz="1200" dirty="0">
                <a:solidFill>
                  <a:schemeClr val="tx1"/>
                </a:solidFill>
              </a:rPr>
              <a:t>2 replicas + HPA</a:t>
            </a:r>
            <a:endParaRPr lang="en-US" sz="1500" dirty="0"/>
          </a:p>
        </p:txBody>
      </p:sp>
      <p:sp>
        <p:nvSpPr>
          <p:cNvPr id="31" name="Arrow"/>
          <p:cNvSpPr/>
          <p:nvPr/>
        </p:nvSpPr>
        <p:spPr>
          <a:xfrm>
            <a:off x="10872216" y="3813048"/>
            <a:ext cx="0" cy="502920"/>
          </a:xfrm>
          <a:prstGeom prst="line">
            <a:avLst/>
          </a:prstGeom>
          <a:noFill/>
          <a:ln w="25400">
            <a:solidFill>
              <a:schemeClr val="accent5"/>
            </a:solidFill>
            <a:prstDash val="solid"/>
            <a:tailEnd type="triangle"/>
          </a:ln>
        </p:spPr>
      </p:sp>
      <p:sp>
        <p:nvSpPr>
          <p:cNvPr id="32" name="Box Postgres"/>
          <p:cNvSpPr/>
          <p:nvPr/>
        </p:nvSpPr>
        <p:spPr>
          <a:xfrm>
            <a:off x="8961120" y="4315968"/>
            <a:ext cx="2496312" cy="640080"/>
          </a:xfrm>
          <a:prstGeom prst="roundRect">
            <a:avLst>
              <a:gd name="adj" fmla="val 14286"/>
            </a:avLst>
          </a:prstGeom>
          <a:solidFill>
            <a:schemeClr val="bg1"/>
          </a:solidFill>
          <a:ln/>
        </p:spPr>
        <p:txBody>
          <a:bodyPr wrap="square" lIns="762" tIns="762" rIns="762" bIns="762" rtlCol="0" anchor="ctr"/>
          <a:lstStyle/>
          <a:p>
            <a:pPr algn="ctr" indent="0" marL="0">
              <a:buNone/>
            </a:pPr>
            <a:r>
              <a:rPr lang="en-US" sz="1500" b="1" dirty="0">
                <a:solidFill>
                  <a:schemeClr val="tx1"/>
                </a:solidFill>
              </a:rPr>
              <a:t>Postgres</a:t>
            </a:r>
            <a:endParaRPr lang="en-US" sz="1500" dirty="0"/>
          </a:p>
        </p:txBody>
      </p:sp>
      <p:sp>
        <p:nvSpPr>
          <p:cNvPr id="33" name="Box Prometheus + Grafana"/>
          <p:cNvSpPr/>
          <p:nvPr/>
        </p:nvSpPr>
        <p:spPr>
          <a:xfrm>
            <a:off x="8961120" y="5257800"/>
            <a:ext cx="2496312" cy="777240"/>
          </a:xfrm>
          <a:prstGeom prst="roundRect">
            <a:avLst>
              <a:gd name="adj" fmla="val 11765"/>
            </a:avLst>
          </a:prstGeom>
          <a:solidFill>
            <a:schemeClr val="bg1"/>
          </a:solidFill>
          <a:ln/>
        </p:spPr>
        <p:txBody>
          <a:bodyPr wrap="square" lIns="762" tIns="762" rIns="762" bIns="762" rtlCol="0" anchor="ctr"/>
          <a:lstStyle/>
          <a:p>
            <a:pPr algn="ctr" indent="0" marL="0">
              <a:buNone/>
            </a:pPr>
            <a:r>
              <a:rPr lang="en-US" sz="1500" b="1" dirty="0">
                <a:solidFill>
                  <a:schemeClr val="tx1"/>
                </a:solidFill>
              </a:rPr>
              <a:t>Prometheus + Grafana</a:t>
            </a:r>
            <a:endParaRPr lang="en-US" sz="1500" dirty="0"/>
          </a:p>
          <a:p>
            <a:pPr algn="ctr" indent="0" marL="0">
              <a:buNone/>
            </a:pPr>
            <a:r>
              <a:rPr lang="en-US" sz="1250" dirty="0">
                <a:solidFill>
                  <a:schemeClr val="tx1"/>
                </a:solidFill>
              </a:rPr>
              <a:t>scrape the backend /metrics</a:t>
            </a:r>
            <a:endParaRPr lang="en-US" sz="15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The app: API, database, UI</a:t>
            </a:r>
            <a:endParaRPr lang="en-US" sz="3400" dirty="0"/>
          </a:p>
        </p:txBody>
      </p:sp>
      <p:sp>
        <p:nvSpPr>
          <p:cNvPr id="3" name="Endpoints card"/>
          <p:cNvSpPr/>
          <p:nvPr/>
        </p:nvSpPr>
        <p:spPr>
          <a:xfrm>
            <a:off x="548640" y="1371600"/>
            <a:ext cx="4846320" cy="4892040"/>
          </a:xfrm>
          <a:prstGeom prst="roundRect">
            <a:avLst>
              <a:gd name="adj" fmla="val 1887"/>
            </a:avLst>
          </a:prstGeom>
          <a:solidFill>
            <a:schemeClr val="bg2"/>
          </a:solidFill>
          <a:ln/>
        </p:spPr>
      </p:sp>
      <p:sp>
        <p:nvSpPr>
          <p:cNvPr id="4" name="Text 2"/>
          <p:cNvSpPr txBox="1"/>
          <p:nvPr/>
        </p:nvSpPr>
        <p:spPr>
          <a:xfrm>
            <a:off x="822960" y="1554480"/>
            <a:ext cx="429768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REST API (FastAPI)</a:t>
            </a:r>
            <a:endParaRPr lang="en-US" sz="1800" dirty="0"/>
          </a:p>
        </p:txBody>
      </p:sp>
      <p:sp>
        <p:nvSpPr>
          <p:cNvPr id="5" name="Method GET"/>
          <p:cNvSpPr/>
          <p:nvPr/>
        </p:nvSpPr>
        <p:spPr>
          <a:xfrm>
            <a:off x="822960" y="2103120"/>
            <a:ext cx="868680" cy="329184"/>
          </a:xfrm>
          <a:prstGeom prst="roundRect">
            <a:avLst>
              <a:gd name="adj" fmla="val 19444"/>
            </a:avLst>
          </a:prstGeom>
          <a:solidFill>
            <a:schemeClr val="accent4"/>
          </a:solidFill>
          <a:ln/>
        </p:spPr>
        <p:txBody>
          <a:bodyPr wrap="square" lIns="0" tIns="0" rIns="0" bIns="0" rtlCol="0" anchor="ctr"/>
          <a:lstStyle/>
          <a:p>
            <a:pPr algn="ctr" indent="0" marL="0">
              <a:buNone/>
            </a:pPr>
            <a:r>
              <a:rPr lang="en-US" sz="1200" b="1" dirty="0">
                <a:solidFill>
                  <a:schemeClr val="bg1"/>
                </a:solidFill>
              </a:rPr>
              <a:t>GET</a:t>
            </a:r>
            <a:endParaRPr lang="en-US" sz="1200" dirty="0"/>
          </a:p>
        </p:txBody>
      </p:sp>
      <p:sp>
        <p:nvSpPr>
          <p:cNvPr id="6" name="Text 4"/>
          <p:cNvSpPr txBox="1"/>
          <p:nvPr/>
        </p:nvSpPr>
        <p:spPr>
          <a:xfrm>
            <a:off x="1874520" y="2103120"/>
            <a:ext cx="3291840" cy="329184"/>
          </a:xfrm>
          <a:prstGeom prst="rect">
            <a:avLst/>
          </a:prstGeom>
          <a:noFill/>
          <a:ln/>
        </p:spPr>
        <p:txBody>
          <a:bodyPr wrap="square" lIns="0" tIns="0" rIns="0" bIns="0" rtlCol="0" anchor="ctr"/>
          <a:lstStyle/>
          <a:p>
            <a:pPr indent="0" marL="0">
              <a:buNone/>
            </a:pPr>
            <a:r>
              <a:rPr lang="en-US" sz="1600" dirty="0">
                <a:solidFill>
                  <a:schemeClr val="tx1"/>
                </a:solidFill>
                <a:latin typeface="Courier New" pitchFamily="34" charset="0"/>
                <a:ea typeface="Courier New" pitchFamily="34" charset="-122"/>
                <a:cs typeface="Courier New" pitchFamily="34" charset="-120"/>
              </a:rPr>
              <a:t>/api/jobs</a:t>
            </a:r>
            <a:endParaRPr lang="en-US" sz="1600" dirty="0"/>
          </a:p>
        </p:txBody>
      </p:sp>
      <p:sp>
        <p:nvSpPr>
          <p:cNvPr id="7" name="Method POST"/>
          <p:cNvSpPr/>
          <p:nvPr/>
        </p:nvSpPr>
        <p:spPr>
          <a:xfrm>
            <a:off x="822960" y="2615184"/>
            <a:ext cx="868680" cy="329184"/>
          </a:xfrm>
          <a:prstGeom prst="roundRect">
            <a:avLst>
              <a:gd name="adj" fmla="val 19444"/>
            </a:avLst>
          </a:prstGeom>
          <a:solidFill>
            <a:schemeClr val="accent1"/>
          </a:solidFill>
          <a:ln/>
        </p:spPr>
        <p:txBody>
          <a:bodyPr wrap="square" lIns="0" tIns="0" rIns="0" bIns="0" rtlCol="0" anchor="ctr"/>
          <a:lstStyle/>
          <a:p>
            <a:pPr algn="ctr" indent="0" marL="0">
              <a:buNone/>
            </a:pPr>
            <a:r>
              <a:rPr lang="en-US" sz="1200" b="1" dirty="0">
                <a:solidFill>
                  <a:schemeClr val="bg1"/>
                </a:solidFill>
              </a:rPr>
              <a:t>POST</a:t>
            </a:r>
            <a:endParaRPr lang="en-US" sz="1200" dirty="0"/>
          </a:p>
        </p:txBody>
      </p:sp>
      <p:sp>
        <p:nvSpPr>
          <p:cNvPr id="8" name="Text 6"/>
          <p:cNvSpPr txBox="1"/>
          <p:nvPr/>
        </p:nvSpPr>
        <p:spPr>
          <a:xfrm>
            <a:off x="1874520" y="2615184"/>
            <a:ext cx="3291840" cy="329184"/>
          </a:xfrm>
          <a:prstGeom prst="rect">
            <a:avLst/>
          </a:prstGeom>
          <a:noFill/>
          <a:ln/>
        </p:spPr>
        <p:txBody>
          <a:bodyPr wrap="square" lIns="0" tIns="0" rIns="0" bIns="0" rtlCol="0" anchor="ctr"/>
          <a:lstStyle/>
          <a:p>
            <a:pPr indent="0" marL="0">
              <a:buNone/>
            </a:pPr>
            <a:r>
              <a:rPr lang="en-US" sz="1600" dirty="0">
                <a:solidFill>
                  <a:schemeClr val="tx1"/>
                </a:solidFill>
                <a:latin typeface="Courier New" pitchFamily="34" charset="0"/>
                <a:ea typeface="Courier New" pitchFamily="34" charset="-122"/>
                <a:cs typeface="Courier New" pitchFamily="34" charset="-120"/>
              </a:rPr>
              <a:t>/api/jobs</a:t>
            </a:r>
            <a:endParaRPr lang="en-US" sz="1600" dirty="0"/>
          </a:p>
        </p:txBody>
      </p:sp>
      <p:sp>
        <p:nvSpPr>
          <p:cNvPr id="9" name="Method GET"/>
          <p:cNvSpPr/>
          <p:nvPr/>
        </p:nvSpPr>
        <p:spPr>
          <a:xfrm>
            <a:off x="822960" y="3127248"/>
            <a:ext cx="868680" cy="329184"/>
          </a:xfrm>
          <a:prstGeom prst="roundRect">
            <a:avLst>
              <a:gd name="adj" fmla="val 19444"/>
            </a:avLst>
          </a:prstGeom>
          <a:solidFill>
            <a:schemeClr val="accent4"/>
          </a:solidFill>
          <a:ln/>
        </p:spPr>
        <p:txBody>
          <a:bodyPr wrap="square" lIns="0" tIns="0" rIns="0" bIns="0" rtlCol="0" anchor="ctr"/>
          <a:lstStyle/>
          <a:p>
            <a:pPr algn="ctr" indent="0" marL="0">
              <a:buNone/>
            </a:pPr>
            <a:r>
              <a:rPr lang="en-US" sz="1200" b="1" dirty="0">
                <a:solidFill>
                  <a:schemeClr val="bg1"/>
                </a:solidFill>
              </a:rPr>
              <a:t>GET</a:t>
            </a:r>
            <a:endParaRPr lang="en-US" sz="1200" dirty="0"/>
          </a:p>
        </p:txBody>
      </p:sp>
      <p:sp>
        <p:nvSpPr>
          <p:cNvPr id="10" name="Text 8"/>
          <p:cNvSpPr txBox="1"/>
          <p:nvPr/>
        </p:nvSpPr>
        <p:spPr>
          <a:xfrm>
            <a:off x="1874520" y="3127248"/>
            <a:ext cx="3291840" cy="329184"/>
          </a:xfrm>
          <a:prstGeom prst="rect">
            <a:avLst/>
          </a:prstGeom>
          <a:noFill/>
          <a:ln/>
        </p:spPr>
        <p:txBody>
          <a:bodyPr wrap="square" lIns="0" tIns="0" rIns="0" bIns="0" rtlCol="0" anchor="ctr"/>
          <a:lstStyle/>
          <a:p>
            <a:pPr indent="0" marL="0">
              <a:buNone/>
            </a:pPr>
            <a:r>
              <a:rPr lang="en-US" sz="1600" dirty="0">
                <a:solidFill>
                  <a:schemeClr val="tx1"/>
                </a:solidFill>
                <a:latin typeface="Courier New" pitchFamily="34" charset="0"/>
                <a:ea typeface="Courier New" pitchFamily="34" charset="-122"/>
                <a:cs typeface="Courier New" pitchFamily="34" charset="-120"/>
              </a:rPr>
              <a:t>/api/jobs/{id}</a:t>
            </a:r>
            <a:endParaRPr lang="en-US" sz="1600" dirty="0"/>
          </a:p>
        </p:txBody>
      </p:sp>
      <p:sp>
        <p:nvSpPr>
          <p:cNvPr id="11" name="Method PUT"/>
          <p:cNvSpPr/>
          <p:nvPr/>
        </p:nvSpPr>
        <p:spPr>
          <a:xfrm>
            <a:off x="822960" y="3639312"/>
            <a:ext cx="868680" cy="329184"/>
          </a:xfrm>
          <a:prstGeom prst="roundRect">
            <a:avLst>
              <a:gd name="adj" fmla="val 19444"/>
            </a:avLst>
          </a:prstGeom>
          <a:solidFill>
            <a:schemeClr val="accent2"/>
          </a:solidFill>
          <a:ln/>
        </p:spPr>
        <p:txBody>
          <a:bodyPr wrap="square" lIns="0" tIns="0" rIns="0" bIns="0" rtlCol="0" anchor="ctr"/>
          <a:lstStyle/>
          <a:p>
            <a:pPr algn="ctr" indent="0" marL="0">
              <a:buNone/>
            </a:pPr>
            <a:r>
              <a:rPr lang="en-US" sz="1200" b="1" dirty="0">
                <a:solidFill>
                  <a:schemeClr val="tx1"/>
                </a:solidFill>
              </a:rPr>
              <a:t>PUT</a:t>
            </a:r>
            <a:endParaRPr lang="en-US" sz="1200" dirty="0"/>
          </a:p>
        </p:txBody>
      </p:sp>
      <p:sp>
        <p:nvSpPr>
          <p:cNvPr id="12" name="Text 10"/>
          <p:cNvSpPr txBox="1"/>
          <p:nvPr/>
        </p:nvSpPr>
        <p:spPr>
          <a:xfrm>
            <a:off x="1874520" y="3639312"/>
            <a:ext cx="3291840" cy="329184"/>
          </a:xfrm>
          <a:prstGeom prst="rect">
            <a:avLst/>
          </a:prstGeom>
          <a:noFill/>
          <a:ln/>
        </p:spPr>
        <p:txBody>
          <a:bodyPr wrap="square" lIns="0" tIns="0" rIns="0" bIns="0" rtlCol="0" anchor="ctr"/>
          <a:lstStyle/>
          <a:p>
            <a:pPr indent="0" marL="0">
              <a:buNone/>
            </a:pPr>
            <a:r>
              <a:rPr lang="en-US" sz="1600" dirty="0">
                <a:solidFill>
                  <a:schemeClr val="tx1"/>
                </a:solidFill>
                <a:latin typeface="Courier New" pitchFamily="34" charset="0"/>
                <a:ea typeface="Courier New" pitchFamily="34" charset="-122"/>
                <a:cs typeface="Courier New" pitchFamily="34" charset="-120"/>
              </a:rPr>
              <a:t>/api/jobs/{id}</a:t>
            </a:r>
            <a:endParaRPr lang="en-US" sz="1600" dirty="0"/>
          </a:p>
        </p:txBody>
      </p:sp>
      <p:sp>
        <p:nvSpPr>
          <p:cNvPr id="13" name="Method DELETE"/>
          <p:cNvSpPr/>
          <p:nvPr/>
        </p:nvSpPr>
        <p:spPr>
          <a:xfrm>
            <a:off x="822960" y="4151376"/>
            <a:ext cx="868680" cy="329184"/>
          </a:xfrm>
          <a:prstGeom prst="roundRect">
            <a:avLst>
              <a:gd name="adj" fmla="val 19444"/>
            </a:avLst>
          </a:prstGeom>
          <a:solidFill>
            <a:schemeClr val="accent3"/>
          </a:solidFill>
          <a:ln/>
        </p:spPr>
        <p:txBody>
          <a:bodyPr wrap="square" lIns="0" tIns="0" rIns="0" bIns="0" rtlCol="0" anchor="ctr"/>
          <a:lstStyle/>
          <a:p>
            <a:pPr algn="ctr" indent="0" marL="0">
              <a:buNone/>
            </a:pPr>
            <a:r>
              <a:rPr lang="en-US" sz="1200" b="1" dirty="0">
                <a:solidFill>
                  <a:schemeClr val="bg1"/>
                </a:solidFill>
              </a:rPr>
              <a:t>DELETE</a:t>
            </a:r>
            <a:endParaRPr lang="en-US" sz="1200" dirty="0"/>
          </a:p>
        </p:txBody>
      </p:sp>
      <p:sp>
        <p:nvSpPr>
          <p:cNvPr id="14" name="Text 12"/>
          <p:cNvSpPr txBox="1"/>
          <p:nvPr/>
        </p:nvSpPr>
        <p:spPr>
          <a:xfrm>
            <a:off x="1874520" y="4151376"/>
            <a:ext cx="3291840" cy="329184"/>
          </a:xfrm>
          <a:prstGeom prst="rect">
            <a:avLst/>
          </a:prstGeom>
          <a:noFill/>
          <a:ln/>
        </p:spPr>
        <p:txBody>
          <a:bodyPr wrap="square" lIns="0" tIns="0" rIns="0" bIns="0" rtlCol="0" anchor="ctr"/>
          <a:lstStyle/>
          <a:p>
            <a:pPr indent="0" marL="0">
              <a:buNone/>
            </a:pPr>
            <a:r>
              <a:rPr lang="en-US" sz="1600" dirty="0">
                <a:solidFill>
                  <a:schemeClr val="tx1"/>
                </a:solidFill>
                <a:latin typeface="Courier New" pitchFamily="34" charset="0"/>
                <a:ea typeface="Courier New" pitchFamily="34" charset="-122"/>
                <a:cs typeface="Courier New" pitchFamily="34" charset="-120"/>
              </a:rPr>
              <a:t>/api/jobs/{id}</a:t>
            </a:r>
            <a:endParaRPr lang="en-US" sz="1600" dirty="0"/>
          </a:p>
        </p:txBody>
      </p:sp>
      <p:sp>
        <p:nvSpPr>
          <p:cNvPr id="15" name="Method GET"/>
          <p:cNvSpPr/>
          <p:nvPr/>
        </p:nvSpPr>
        <p:spPr>
          <a:xfrm>
            <a:off x="822960" y="4663440"/>
            <a:ext cx="868680" cy="329184"/>
          </a:xfrm>
          <a:prstGeom prst="roundRect">
            <a:avLst>
              <a:gd name="adj" fmla="val 19444"/>
            </a:avLst>
          </a:prstGeom>
          <a:solidFill>
            <a:schemeClr val="accent4"/>
          </a:solidFill>
          <a:ln/>
        </p:spPr>
        <p:txBody>
          <a:bodyPr wrap="square" lIns="0" tIns="0" rIns="0" bIns="0" rtlCol="0" anchor="ctr"/>
          <a:lstStyle/>
          <a:p>
            <a:pPr algn="ctr" indent="0" marL="0">
              <a:buNone/>
            </a:pPr>
            <a:r>
              <a:rPr lang="en-US" sz="1200" b="1" dirty="0">
                <a:solidFill>
                  <a:schemeClr val="bg1"/>
                </a:solidFill>
              </a:rPr>
              <a:t>GET</a:t>
            </a:r>
            <a:endParaRPr lang="en-US" sz="1200" dirty="0"/>
          </a:p>
        </p:txBody>
      </p:sp>
      <p:sp>
        <p:nvSpPr>
          <p:cNvPr id="16" name="Text 14"/>
          <p:cNvSpPr txBox="1"/>
          <p:nvPr/>
        </p:nvSpPr>
        <p:spPr>
          <a:xfrm>
            <a:off x="1874520" y="4663440"/>
            <a:ext cx="3291840" cy="329184"/>
          </a:xfrm>
          <a:prstGeom prst="rect">
            <a:avLst/>
          </a:prstGeom>
          <a:noFill/>
          <a:ln/>
        </p:spPr>
        <p:txBody>
          <a:bodyPr wrap="square" lIns="0" tIns="0" rIns="0" bIns="0" rtlCol="0" anchor="ctr"/>
          <a:lstStyle/>
          <a:p>
            <a:pPr indent="0" marL="0">
              <a:buNone/>
            </a:pPr>
            <a:r>
              <a:rPr lang="en-US" sz="1600" dirty="0">
                <a:solidFill>
                  <a:schemeClr val="tx1"/>
                </a:solidFill>
                <a:latin typeface="Courier New" pitchFamily="34" charset="0"/>
                <a:ea typeface="Courier New" pitchFamily="34" charset="-122"/>
                <a:cs typeface="Courier New" pitchFamily="34" charset="-120"/>
              </a:rPr>
              <a:t>/api/jobs/stats</a:t>
            </a:r>
            <a:endParaRPr lang="en-US" sz="1600" dirty="0"/>
          </a:p>
        </p:txBody>
      </p:sp>
      <p:sp>
        <p:nvSpPr>
          <p:cNvPr id="17" name="Text 15"/>
          <p:cNvSpPr txBox="1"/>
          <p:nvPr/>
        </p:nvSpPr>
        <p:spPr>
          <a:xfrm>
            <a:off x="822960" y="5285232"/>
            <a:ext cx="4297680" cy="274320"/>
          </a:xfrm>
          <a:prstGeom prst="rect">
            <a:avLst/>
          </a:prstGeom>
          <a:noFill/>
          <a:ln/>
        </p:spPr>
        <p:txBody>
          <a:bodyPr wrap="square" lIns="0" tIns="0" rIns="0" bIns="0" rtlCol="0" anchor="t"/>
          <a:lstStyle/>
          <a:p>
            <a:pPr indent="0" marL="0">
              <a:buNone/>
            </a:pPr>
            <a:r>
              <a:rPr lang="en-US" sz="1300" b="1" dirty="0">
                <a:solidFill>
                  <a:schemeClr val="accent5"/>
                </a:solidFill>
              </a:rPr>
              <a:t>For Kubernetes and Prometheus</a:t>
            </a:r>
            <a:endParaRPr lang="en-US" sz="1300" dirty="0"/>
          </a:p>
        </p:txBody>
      </p:sp>
      <p:sp>
        <p:nvSpPr>
          <p:cNvPr id="18" name="Probe /health"/>
          <p:cNvSpPr/>
          <p:nvPr/>
        </p:nvSpPr>
        <p:spPr>
          <a:xfrm>
            <a:off x="822960" y="5605272"/>
            <a:ext cx="1280160" cy="365760"/>
          </a:xfrm>
          <a:prstGeom prst="roundRect">
            <a:avLst>
              <a:gd name="adj" fmla="val 17500"/>
            </a:avLst>
          </a:prstGeom>
          <a:solidFill>
            <a:schemeClr val="bg1"/>
          </a:solid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/health</a:t>
            </a:r>
            <a:endParaRPr lang="en-US" sz="1400" dirty="0"/>
          </a:p>
        </p:txBody>
      </p:sp>
      <p:sp>
        <p:nvSpPr>
          <p:cNvPr id="19" name="Probe /ready"/>
          <p:cNvSpPr/>
          <p:nvPr/>
        </p:nvSpPr>
        <p:spPr>
          <a:xfrm>
            <a:off x="2194560" y="5605272"/>
            <a:ext cx="1280160" cy="365760"/>
          </a:xfrm>
          <a:prstGeom prst="roundRect">
            <a:avLst>
              <a:gd name="adj" fmla="val 17500"/>
            </a:avLst>
          </a:prstGeom>
          <a:solidFill>
            <a:schemeClr val="bg1"/>
          </a:solid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/ready</a:t>
            </a:r>
            <a:endParaRPr lang="en-US" sz="1400" dirty="0"/>
          </a:p>
        </p:txBody>
      </p:sp>
      <p:sp>
        <p:nvSpPr>
          <p:cNvPr id="20" name="Probe /metrics"/>
          <p:cNvSpPr/>
          <p:nvPr/>
        </p:nvSpPr>
        <p:spPr>
          <a:xfrm>
            <a:off x="3566160" y="5605272"/>
            <a:ext cx="1280160" cy="365760"/>
          </a:xfrm>
          <a:prstGeom prst="roundRect">
            <a:avLst>
              <a:gd name="adj" fmla="val 17500"/>
            </a:avLst>
          </a:prstGeom>
          <a:solidFill>
            <a:schemeClr val="bg1"/>
          </a:solid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/metrics</a:t>
            </a:r>
            <a:endParaRPr lang="en-US" sz="1400" dirty="0"/>
          </a:p>
        </p:txBody>
      </p:sp>
      <p:sp>
        <p:nvSpPr>
          <p:cNvPr id="21" name="Box React + Vite"/>
          <p:cNvSpPr/>
          <p:nvPr/>
        </p:nvSpPr>
        <p:spPr>
          <a:xfrm>
            <a:off x="5760720" y="1463040"/>
            <a:ext cx="3108960" cy="1097280"/>
          </a:xfrm>
          <a:prstGeom prst="roundRect">
            <a:avLst>
              <a:gd name="adj" fmla="val 8333"/>
            </a:avLst>
          </a:prstGeom>
          <a:solidFill>
            <a:schemeClr val="bg2"/>
          </a:solidFill>
          <a:ln/>
        </p:spPr>
        <p:txBody>
          <a:bodyPr wrap="square" lIns="762" tIns="762" rIns="762" bIns="762" rtlCol="0" anchor="ctr"/>
          <a:lstStyle/>
          <a:p>
            <a:pPr algn="ctr" indent="0" marL="0">
              <a:buNone/>
            </a:pPr>
            <a:r>
              <a:rPr lang="en-US" sz="1600" b="1" dirty="0">
                <a:solidFill>
                  <a:schemeClr val="tx1"/>
                </a:solidFill>
              </a:rPr>
              <a:t>React + Vite</a:t>
            </a:r>
            <a:endParaRPr lang="en-US" sz="1600" dirty="0"/>
          </a:p>
          <a:p>
            <a:pPr algn="ctr" indent="0" marL="0">
              <a:buNone/>
            </a:pPr>
            <a:r>
              <a:rPr lang="en-US" sz="1350" dirty="0">
                <a:solidFill>
                  <a:schemeClr val="tx1"/>
                </a:solidFill>
              </a:rPr>
              <a:t>table, filters, counts at the top</a:t>
            </a:r>
            <a:endParaRPr lang="en-US" sz="1600" dirty="0"/>
          </a:p>
        </p:txBody>
      </p:sp>
      <p:sp>
        <p:nvSpPr>
          <p:cNvPr id="22" name="Arrow"/>
          <p:cNvSpPr/>
          <p:nvPr/>
        </p:nvSpPr>
        <p:spPr>
          <a:xfrm>
            <a:off x="7315200" y="2560320"/>
            <a:ext cx="0" cy="502920"/>
          </a:xfrm>
          <a:prstGeom prst="line">
            <a:avLst/>
          </a:prstGeom>
          <a:noFill/>
          <a:ln w="25400">
            <a:solidFill>
              <a:schemeClr val="accent5"/>
            </a:solidFill>
            <a:prstDash val="solid"/>
            <a:tailEnd type="triangle"/>
          </a:ln>
        </p:spPr>
      </p:sp>
      <p:sp>
        <p:nvSpPr>
          <p:cNvPr id="23" name="Text 21"/>
          <p:cNvSpPr txBox="1"/>
          <p:nvPr/>
        </p:nvSpPr>
        <p:spPr>
          <a:xfrm>
            <a:off x="7452360" y="2679192"/>
            <a:ext cx="1371600" cy="274320"/>
          </a:xfrm>
          <a:prstGeom prst="rect">
            <a:avLst/>
          </a:prstGeom>
          <a:noFill/>
          <a:ln/>
        </p:spPr>
        <p:txBody>
          <a:bodyPr wrap="square" lIns="0" tIns="0" rIns="0" bIns="0" rtlCol="0" anchor="t"/>
          <a:lstStyle/>
          <a:p>
            <a:pPr indent="0" marL="0">
              <a:buNone/>
            </a:pPr>
            <a:r>
              <a:rPr lang="en-US" sz="1200" dirty="0">
                <a:solidFill>
                  <a:schemeClr val="accent5"/>
                </a:solidFill>
              </a:rPr>
              <a:t>calls /api</a:t>
            </a:r>
            <a:endParaRPr lang="en-US" sz="1200" dirty="0"/>
          </a:p>
        </p:txBody>
      </p:sp>
      <p:sp>
        <p:nvSpPr>
          <p:cNvPr id="24" name="Box FastAPI + SQLAlchemy"/>
          <p:cNvSpPr/>
          <p:nvPr/>
        </p:nvSpPr>
        <p:spPr>
          <a:xfrm>
            <a:off x="5760720" y="3063240"/>
            <a:ext cx="3108960" cy="1097280"/>
          </a:xfrm>
          <a:prstGeom prst="roundRect">
            <a:avLst>
              <a:gd name="adj" fmla="val 8333"/>
            </a:avLst>
          </a:prstGeom>
          <a:solidFill>
            <a:schemeClr val="bg2"/>
          </a:solidFill>
          <a:ln/>
        </p:spPr>
        <p:txBody>
          <a:bodyPr wrap="square" lIns="762" tIns="762" rIns="762" bIns="762" rtlCol="0" anchor="ctr"/>
          <a:lstStyle/>
          <a:p>
            <a:pPr algn="ctr" indent="0" marL="0">
              <a:buNone/>
            </a:pPr>
            <a:r>
              <a:rPr lang="en-US" sz="1600" b="1" dirty="0">
                <a:solidFill>
                  <a:schemeClr val="tx1"/>
                </a:solidFill>
              </a:rPr>
              <a:t>FastAPI + SQLAlchemy</a:t>
            </a:r>
            <a:endParaRPr lang="en-US" sz="1600" dirty="0"/>
          </a:p>
          <a:p>
            <a:pPr algn="ctr" indent="0" marL="0">
              <a:buNone/>
            </a:pPr>
            <a:r>
              <a:rPr lang="en-US" sz="1350" dirty="0">
                <a:solidFill>
                  <a:schemeClr val="tx1"/>
                </a:solidFill>
              </a:rPr>
              <a:t>validation, 404s, probes, metrics</a:t>
            </a:r>
            <a:endParaRPr lang="en-US" sz="1600" dirty="0"/>
          </a:p>
        </p:txBody>
      </p:sp>
      <p:sp>
        <p:nvSpPr>
          <p:cNvPr id="25" name="Arrow"/>
          <p:cNvSpPr/>
          <p:nvPr/>
        </p:nvSpPr>
        <p:spPr>
          <a:xfrm>
            <a:off x="7315200" y="4160520"/>
            <a:ext cx="0" cy="502920"/>
          </a:xfrm>
          <a:prstGeom prst="line">
            <a:avLst/>
          </a:prstGeom>
          <a:noFill/>
          <a:ln w="25400">
            <a:solidFill>
              <a:schemeClr val="accent5"/>
            </a:solidFill>
            <a:prstDash val="solid"/>
            <a:tailEnd type="triangle"/>
          </a:ln>
        </p:spPr>
      </p:sp>
      <p:sp>
        <p:nvSpPr>
          <p:cNvPr id="26" name="Box PostgreSQL"/>
          <p:cNvSpPr/>
          <p:nvPr/>
        </p:nvSpPr>
        <p:spPr>
          <a:xfrm>
            <a:off x="5760720" y="4663440"/>
            <a:ext cx="3108960" cy="1097280"/>
          </a:xfrm>
          <a:prstGeom prst="roundRect">
            <a:avLst>
              <a:gd name="adj" fmla="val 8333"/>
            </a:avLst>
          </a:prstGeom>
          <a:solidFill>
            <a:schemeClr val="tx2"/>
          </a:solidFill>
          <a:ln/>
        </p:spPr>
        <p:txBody>
          <a:bodyPr wrap="square" lIns="762" tIns="762" rIns="762" bIns="762" rtlCol="0" anchor="ctr"/>
          <a:lstStyle/>
          <a:p>
            <a:pPr algn="ctr" indent="0" marL="0">
              <a:buNone/>
            </a:pPr>
            <a:r>
              <a:rPr lang="en-US" sz="1600" b="1" dirty="0">
                <a:solidFill>
                  <a:schemeClr val="bg1"/>
                </a:solidFill>
              </a:rPr>
              <a:t>PostgreSQL</a:t>
            </a:r>
            <a:endParaRPr lang="en-US" sz="1600" dirty="0"/>
          </a:p>
          <a:p>
            <a:pPr algn="ctr" indent="0" marL="0">
              <a:buNone/>
            </a:pPr>
            <a:r>
              <a:rPr lang="en-US" sz="1350" dirty="0">
                <a:solidFill>
                  <a:schemeClr val="bg1"/>
                </a:solidFill>
              </a:rPr>
              <a:t>jobs table created by an Alembic migration</a:t>
            </a:r>
            <a:endParaRPr lang="en-US" sz="1600" dirty="0"/>
          </a:p>
        </p:txBody>
      </p:sp>
      <p:sp>
        <p:nvSpPr>
          <p:cNvPr id="27" name="Frame 01b-app-mobile"/>
          <p:cNvSpPr/>
          <p:nvPr/>
        </p:nvSpPr>
        <p:spPr>
          <a:xfrm>
            <a:off x="9436608" y="1362456"/>
            <a:ext cx="2221992" cy="4636008"/>
          </a:xfrm>
          <a:prstGeom prst="roundRect">
            <a:avLst>
              <a:gd name="adj" fmla="val 3704"/>
            </a:avLst>
          </a:prstGeom>
          <a:solidFill>
            <a:srgbClr val="FFFFF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28" name="Screenshot 01b-app-mobile" descr="PlaceTrack at phone width">    </p:cNvPr>
          <p:cNvPicPr>
            <a:picLocks noChangeAspect="1"/>
          </p:cNvPicPr>
          <p:nvPr/>
        </p:nvPicPr>
        <p:blipFill>
          <a:blip r:embed="rId1"/>
          <a:stretch>
            <a:fillRect/>
          </a:stretch>
        </p:blipFill>
        <p:spPr>
          <a:xfrm>
            <a:off x="9491472" y="1417320"/>
            <a:ext cx="2112264" cy="4526280"/>
          </a:xfrm>
          <a:prstGeom prst="rect">
            <a:avLst/>
          </a:prstGeom>
        </p:spPr>
      </p:pic>
      <p:sp>
        <p:nvSpPr>
          <p:cNvPr id="29" name="Text 26"/>
          <p:cNvSpPr txBox="1"/>
          <p:nvPr/>
        </p:nvSpPr>
        <p:spPr>
          <a:xfrm>
            <a:off x="9326880" y="6126480"/>
            <a:ext cx="2313432" cy="274320"/>
          </a:xfrm>
          <a:prstGeom prst="rect">
            <a:avLst/>
          </a:prstGeom>
          <a:noFill/>
          <a:ln/>
        </p:spPr>
        <p:txBody>
          <a:bodyPr wrap="square" lIns="0" tIns="0" rIns="0" bIns="0" rtlCol="0" anchor="t"/>
          <a:lstStyle/>
          <a:p>
            <a:pPr algn="ctr" indent="0" marL="0">
              <a:buNone/>
            </a:pPr>
            <a:r>
              <a:rPr lang="en-US" sz="1200" dirty="0">
                <a:solidFill>
                  <a:schemeClr val="accent5"/>
                </a:solidFill>
              </a:rPr>
              <a:t>Same page at phone width</a:t>
            </a:r>
            <a:endParaRPr lang="en-US" sz="12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Tests: 16 pytest tests</a:t>
            </a:r>
            <a:endParaRPr lang="en-US" sz="3400" dirty="0"/>
          </a:p>
        </p:txBody>
      </p:sp>
      <p:sp>
        <p:nvSpPr>
          <p:cNvPr id="3" name="Stat 16"/>
          <p:cNvSpPr txBox="1"/>
          <p:nvPr/>
        </p:nvSpPr>
        <p:spPr>
          <a:xfrm>
            <a:off x="548640" y="1325880"/>
            <a:ext cx="3383280" cy="1606550"/>
          </a:xfrm>
          <a:prstGeom prst="rect">
            <a:avLst/>
          </a:prstGeom>
          <a:noFill/>
          <a:ln/>
        </p:spPr>
        <p:txBody>
          <a:bodyPr wrap="square" lIns="0" tIns="0" rIns="0" bIns="0" rtlCol="0" anchor="ctr"/>
          <a:lstStyle/>
          <a:p>
            <a:pPr algn="l" indent="0" marL="0">
              <a:buNone/>
            </a:pPr>
            <a:r>
              <a:rPr lang="en-US" sz="11000" b="1" dirty="0">
                <a:solidFill>
                  <a:schemeClr val="tx2"/>
                </a:solidFill>
                <a:latin typeface="+mj-lt" pitchFamily="34" charset="0"/>
                <a:ea typeface="+mj-lt" pitchFamily="34" charset="-122"/>
                <a:cs typeface="+mj-lt" pitchFamily="34" charset="-120"/>
              </a:rPr>
              <a:t>16</a:t>
            </a:r>
            <a:endParaRPr lang="en-US" sz="11000" dirty="0"/>
          </a:p>
        </p:txBody>
      </p:sp>
      <p:sp>
        <p:nvSpPr>
          <p:cNvPr id="4" name="Stat label"/>
          <p:cNvSpPr txBox="1"/>
          <p:nvPr/>
        </p:nvSpPr>
        <p:spPr>
          <a:xfrm>
            <a:off x="548640" y="2950718"/>
            <a:ext cx="3383280" cy="457200"/>
          </a:xfrm>
          <a:prstGeom prst="rect">
            <a:avLst/>
          </a:prstGeom>
          <a:noFill/>
          <a:ln/>
        </p:spPr>
        <p:txBody>
          <a:bodyPr wrap="square" lIns="0" tIns="0" rIns="0" bIns="0" rtlCol="0" anchor="t"/>
          <a:lstStyle/>
          <a:p>
            <a:pPr algn="l" indent="0" marL="0">
              <a:buNone/>
            </a:pPr>
            <a:r>
              <a:rPr lang="en-US" sz="2200" dirty="0">
                <a:solidFill>
                  <a:schemeClr val="accent5"/>
                </a:solidFill>
              </a:rPr>
              <a:t>tests, all passing</a:t>
            </a:r>
            <a:endParaRPr lang="en-US" sz="2200" dirty="0"/>
          </a:p>
        </p:txBody>
      </p:sp>
      <p:sp>
        <p:nvSpPr>
          <p:cNvPr id="5" name="Text 3"/>
          <p:cNvSpPr txBox="1"/>
          <p:nvPr/>
        </p:nvSpPr>
        <p:spPr>
          <a:xfrm>
            <a:off x="548640" y="3749040"/>
            <a:ext cx="3383280"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Every endpoint, bad input and missing ids (404)</a:t>
            </a:r>
            <a:endParaRPr lang="en-US" sz="1600" dirty="0"/>
          </a:p>
          <a:p>
            <a:pPr marL="342900" indent="-342900">
              <a:spcAft>
                <a:spcPts val="800"/>
              </a:spcAft>
              <a:buSzPct val="100000"/>
              <a:buChar char="•"/>
            </a:pPr>
            <a:r>
              <a:rPr lang="en-US" sz="1600" dirty="0">
                <a:solidFill>
                  <a:schemeClr val="tx1"/>
                </a:solidFill>
              </a:rPr>
              <a:t>/ready returns 503 when the database is down</a:t>
            </a:r>
            <a:endParaRPr lang="en-US" sz="1600" dirty="0"/>
          </a:p>
          <a:p>
            <a:pPr marL="342900" indent="-342900">
              <a:spcAft>
                <a:spcPts val="800"/>
              </a:spcAft>
              <a:buSzPct val="100000"/>
              <a:buChar char="•"/>
            </a:pPr>
            <a:r>
              <a:rPr lang="en-US" sz="1600" dirty="0">
                <a:solidFill>
                  <a:schemeClr val="tx1"/>
                </a:solidFill>
              </a:rPr>
              <a:t>In-memory SQLite, so the tests never touch Postgres</a:t>
            </a:r>
            <a:endParaRPr lang="en-US" sz="1600" dirty="0"/>
          </a:p>
          <a:p>
            <a:pPr marL="342900" indent="-342900">
              <a:buSzPct val="100000"/>
              <a:buChar char="•"/>
            </a:pPr>
            <a:r>
              <a:rPr lang="en-US" sz="1600" dirty="0">
                <a:solidFill>
                  <a:schemeClr val="tx1"/>
                </a:solidFill>
              </a:rPr>
              <a:t>Settings in backend/pytest.ini</a:t>
            </a:r>
            <a:endParaRPr lang="en-US" sz="1600" dirty="0"/>
          </a:p>
        </p:txBody>
      </p:sp>
      <p:sp>
        <p:nvSpPr>
          <p:cNvPr id="6" name="Frame pytest-list"/>
          <p:cNvSpPr/>
          <p:nvPr/>
        </p:nvSpPr>
        <p:spPr>
          <a:xfrm>
            <a:off x="4288536" y="1408176"/>
            <a:ext cx="7406640" cy="2882555"/>
          </a:xfrm>
          <a:prstGeom prst="roundRect">
            <a:avLst>
              <a:gd name="adj" fmla="val 2855"/>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7" name="Screenshot pytest-list" descr="pytest output listing 16 passed tests">    </p:cNvPr>
          <p:cNvPicPr>
            <a:picLocks noChangeAspect="1"/>
          </p:cNvPicPr>
          <p:nvPr/>
        </p:nvPicPr>
        <p:blipFill>
          <a:blip r:embed="rId1"/>
          <a:stretch>
            <a:fillRect/>
          </a:stretch>
        </p:blipFill>
        <p:spPr>
          <a:xfrm>
            <a:off x="4343400" y="1463040"/>
            <a:ext cx="7296912" cy="2772827"/>
          </a:xfrm>
          <a:prstGeom prst="rect">
            <a:avLst/>
          </a:prstGeom>
        </p:spPr>
      </p:pic>
      <p:sp>
        <p:nvSpPr>
          <p:cNvPr id="8" name="Frame pytest-result"/>
          <p:cNvSpPr/>
          <p:nvPr/>
        </p:nvSpPr>
        <p:spPr>
          <a:xfrm>
            <a:off x="4288536" y="4501043"/>
            <a:ext cx="7406640" cy="422453"/>
          </a:xfrm>
          <a:prstGeom prst="roundRect">
            <a:avLst>
              <a:gd name="adj" fmla="val 19481"/>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9" name="Screenshot pytest-result" descr="pytest summary line: 16 passed, 1 warning">    </p:cNvPr>
          <p:cNvPicPr>
            <a:picLocks noChangeAspect="1"/>
          </p:cNvPicPr>
          <p:nvPr/>
        </p:nvPicPr>
        <p:blipFill>
          <a:blip r:embed="rId2"/>
          <a:stretch>
            <a:fillRect/>
          </a:stretch>
        </p:blipFill>
        <p:spPr>
          <a:xfrm>
            <a:off x="4343400" y="4555907"/>
            <a:ext cx="7296912" cy="312725"/>
          </a:xfrm>
          <a:prstGeom prst="rect">
            <a:avLst/>
          </a:prstGeom>
        </p:spPr>
      </p:pic>
      <p:sp>
        <p:nvSpPr>
          <p:cNvPr id="10" name="Text 6"/>
          <p:cNvSpPr txBox="1"/>
          <p:nvPr/>
        </p:nvSpPr>
        <p:spPr>
          <a:xfrm>
            <a:off x="4343400" y="5097231"/>
            <a:ext cx="7296912" cy="274320"/>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pytest -v, run from backend/</a:t>
            </a:r>
            <a:endParaRPr lang="en-US" sz="13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Git: small commits, no secrets</a:t>
            </a:r>
            <a:endParaRPr lang="en-US" sz="3400" dirty="0"/>
          </a:p>
        </p:txBody>
      </p:sp>
      <p:sp>
        <p:nvSpPr>
          <p:cNvPr id="3" name="Frame 04-git-log"/>
          <p:cNvSpPr/>
          <p:nvPr/>
        </p:nvSpPr>
        <p:spPr>
          <a:xfrm>
            <a:off x="493776" y="1362456"/>
            <a:ext cx="6144768" cy="3881628"/>
          </a:xfrm>
          <a:prstGeom prst="roundRect">
            <a:avLst>
              <a:gd name="adj" fmla="val 2120"/>
            </a:avLst>
          </a:prstGeom>
          <a:solidFill>
            <a:srgbClr val="FFFFF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4" name="Screenshot 04-git-log" descr="GitHub commit history of the main branch">    </p:cNvPr>
          <p:cNvPicPr>
            <a:picLocks noChangeAspect="1"/>
          </p:cNvPicPr>
          <p:nvPr/>
        </p:nvPicPr>
        <p:blipFill>
          <a:blip r:embed="rId1"/>
          <a:stretch>
            <a:fillRect/>
          </a:stretch>
        </p:blipFill>
        <p:spPr>
          <a:xfrm>
            <a:off x="548640" y="1417320"/>
            <a:ext cx="6035040" cy="3771900"/>
          </a:xfrm>
          <a:prstGeom prst="rect">
            <a:avLst/>
          </a:prstGeom>
        </p:spPr>
      </p:pic>
      <p:sp>
        <p:nvSpPr>
          <p:cNvPr id="5" name="Text 2"/>
          <p:cNvSpPr txBox="1"/>
          <p:nvPr/>
        </p:nvSpPr>
        <p:spPr>
          <a:xfrm>
            <a:off x="548640" y="5463540"/>
            <a:ext cx="6035040" cy="640080"/>
          </a:xfrm>
          <a:prstGeom prst="rect">
            <a:avLst/>
          </a:prstGeom>
          <a:noFill/>
          <a:ln/>
        </p:spPr>
        <p:txBody>
          <a:bodyPr wrap="square" lIns="0" tIns="0" rIns="0" bIns="0" rtlCol="0" anchor="t"/>
          <a:lstStyle/>
          <a:p>
            <a:pPr indent="0" marL="0">
              <a:buNone/>
            </a:pPr>
            <a:r>
              <a:rPr lang="en-US" sz="1500" dirty="0">
                <a:solidFill>
                  <a:schemeClr val="accent5"/>
                </a:solidFill>
              </a:rPr>
              <a:t>The short hash on each commit is the same SHA used as the image tag later.</a:t>
            </a:r>
            <a:endParaRPr lang="en-US" sz="1500" dirty="0"/>
          </a:p>
        </p:txBody>
      </p:sp>
      <p:sp>
        <p:nvSpPr>
          <p:cNvPr id="6" name="Text 3"/>
          <p:cNvSpPr txBox="1"/>
          <p:nvPr/>
        </p:nvSpPr>
        <p:spPr>
          <a:xfrm>
            <a:off x="7086600" y="1325880"/>
            <a:ext cx="457200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THE LATEST COMMITS, ZOOMED</a:t>
            </a:r>
            <a:endParaRPr lang="en-US" sz="1200" dirty="0"/>
          </a:p>
        </p:txBody>
      </p:sp>
      <p:sp>
        <p:nvSpPr>
          <p:cNvPr id="7" name="Frame git-zoom"/>
          <p:cNvSpPr/>
          <p:nvPr/>
        </p:nvSpPr>
        <p:spPr>
          <a:xfrm>
            <a:off x="7031736" y="1591056"/>
            <a:ext cx="4663440" cy="1743246"/>
          </a:xfrm>
          <a:prstGeom prst="roundRect">
            <a:avLst>
              <a:gd name="adj" fmla="val 4721"/>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8" name="Screenshot git-zoom" descr="Commit messages on the main branch">    </p:cNvPr>
          <p:cNvPicPr>
            <a:picLocks noChangeAspect="1"/>
          </p:cNvPicPr>
          <p:nvPr/>
        </p:nvPicPr>
        <p:blipFill>
          <a:blip r:embed="rId2"/>
          <a:stretch>
            <a:fillRect/>
          </a:stretch>
        </p:blipFill>
        <p:spPr>
          <a:xfrm>
            <a:off x="7086600" y="1645920"/>
            <a:ext cx="4553712" cy="1633518"/>
          </a:xfrm>
          <a:prstGeom prst="rect">
            <a:avLst/>
          </a:prstGeom>
        </p:spPr>
      </p:pic>
      <p:sp>
        <p:nvSpPr>
          <p:cNvPr id="9" name="Text 5"/>
          <p:cNvSpPr txBox="1"/>
          <p:nvPr/>
        </p:nvSpPr>
        <p:spPr>
          <a:xfrm>
            <a:off x="7086600" y="3645198"/>
            <a:ext cx="4553712" cy="2468880"/>
          </a:xfrm>
          <a:prstGeom prst="rect">
            <a:avLst/>
          </a:prstGeom>
          <a:noFill/>
          <a:ln/>
        </p:spPr>
        <p:txBody>
          <a:bodyPr wrap="square" lIns="0" tIns="0" rIns="0" bIns="0" rtlCol="0" anchor="t"/>
          <a:lstStyle/>
          <a:p>
            <a:pPr indent="0" marL="0">
              <a:spcAft>
                <a:spcPts val="1400"/>
              </a:spcAft>
              <a:buNone/>
            </a:pPr>
            <a:r>
              <a:rPr lang="en-US" sz="1700" b="1" dirty="0">
                <a:solidFill>
                  <a:schemeClr val="tx1"/>
                </a:solidFill>
              </a:rPr>
              <a:t>Small commits. </a:t>
            </a:r>
            <a:pPr indent="0" marL="0">
              <a:spcAft>
                <a:spcPts val="1400"/>
              </a:spcAft>
              <a:buNone/>
            </a:pPr>
            <a:r>
              <a:rPr lang="en-US" sz="1700" dirty="0">
                <a:solidFill>
                  <a:schemeClr val="tx1"/>
                </a:solidFill>
              </a:rPr>
              <a:t>Each message says what changed.</a:t>
            </a:r>
            <a:endParaRPr lang="en-US" sz="1700" dirty="0"/>
          </a:p>
          <a:p>
            <a:pPr indent="0" marL="0">
              <a:spcAft>
                <a:spcPts val="1400"/>
              </a:spcAft>
              <a:buNone/>
            </a:pPr>
            <a:r>
              <a:rPr lang="en-US" sz="1700" b="1" dirty="0">
                <a:solidFill>
                  <a:schemeClr val="tx1"/>
                </a:solidFill>
              </a:rPr>
              <a:t>.gitignore. </a:t>
            </a:r>
            <a:pPr indent="0" marL="0">
              <a:spcAft>
                <a:spcPts val="1400"/>
              </a:spcAft>
              <a:buNone/>
            </a:pPr>
            <a:r>
              <a:rPr lang="en-US" sz="1700" dirty="0">
                <a:solidFill>
                  <a:schemeClr val="tx1"/>
                </a:solidFill>
              </a:rPr>
              <a:t>.env, __pycache__, node_modules, .venv and the Terraform state stay out of the repo.</a:t>
            </a:r>
            <a:endParaRPr lang="en-US" sz="1700" dirty="0"/>
          </a:p>
          <a:p>
            <a:pPr indent="0" marL="0">
              <a:spcAft>
                <a:spcPts val="1400"/>
              </a:spcAft>
              <a:buNone/>
            </a:pPr>
            <a:r>
              <a:rPr lang="en-US" sz="1700" b="1" dirty="0">
                <a:solidFill>
                  <a:schemeClr val="tx1"/>
                </a:solidFill>
              </a:rPr>
              <a:t>No secrets. </a:t>
            </a:r>
            <a:pPr indent="0" marL="0">
              <a:spcAft>
                <a:spcPts val="1400"/>
              </a:spcAft>
              <a:buNone/>
            </a:pPr>
            <a:r>
              <a:rPr lang="en-US" sz="1700" dirty="0">
                <a:solidFill>
                  <a:schemeClr val="tx1"/>
                </a:solidFill>
              </a:rPr>
              <a:t>Gitleaks over the whole history found nothing.</a:t>
            </a:r>
            <a:endParaRPr lang="en-US" sz="17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CI pipeline: GitHub Actions</a:t>
            </a:r>
            <a:endParaRPr lang="en-US" sz="3400" dirty="0"/>
          </a:p>
        </p:txBody>
      </p:sp>
      <p:sp>
        <p:nvSpPr>
          <p:cNvPr id="3" name="Text 1"/>
          <p:cNvSpPr txBox="1"/>
          <p:nvPr/>
        </p:nvSpPr>
        <p:spPr>
          <a:xfrm>
            <a:off x="548640" y="1325880"/>
            <a:ext cx="457200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RUNS ON EVERY PUSH TO MAIN</a:t>
            </a:r>
            <a:endParaRPr lang="en-US" sz="1200" dirty="0"/>
          </a:p>
        </p:txBody>
      </p:sp>
      <p:sp>
        <p:nvSpPr>
          <p:cNvPr id="4" name="Box test"/>
          <p:cNvSpPr/>
          <p:nvPr/>
        </p:nvSpPr>
        <p:spPr>
          <a:xfrm>
            <a:off x="548640" y="1737360"/>
            <a:ext cx="1874520" cy="621792"/>
          </a:xfrm>
          <a:prstGeom prst="roundRect">
            <a:avLst>
              <a:gd name="adj" fmla="val 14706"/>
            </a:avLst>
          </a:prstGeom>
          <a:solidFill>
            <a:schemeClr val="bg2"/>
          </a:solidFill>
          <a:ln/>
        </p:spPr>
        <p:txBody>
          <a:bodyPr wrap="square" lIns="762" tIns="762" rIns="762" bIns="762" rtlCol="0" anchor="ctr"/>
          <a:lstStyle/>
          <a:p>
            <a:pPr algn="ctr" indent="0" marL="0">
              <a:buNone/>
            </a:pPr>
            <a:r>
              <a:rPr lang="en-US" sz="1600" b="1" dirty="0">
                <a:solidFill>
                  <a:schemeClr val="tx1"/>
                </a:solidFill>
              </a:rPr>
              <a:t>test</a:t>
            </a:r>
            <a:endParaRPr lang="en-US" sz="1600" dirty="0"/>
          </a:p>
          <a:p>
            <a:pPr algn="ctr" indent="0" marL="0">
              <a:buNone/>
            </a:pPr>
            <a:r>
              <a:rPr lang="en-US" sz="1300" dirty="0">
                <a:solidFill>
                  <a:schemeClr val="tx1"/>
                </a:solidFill>
              </a:rPr>
              <a:t>pytest -v</a:t>
            </a:r>
            <a:endParaRPr lang="en-US" sz="1600" dirty="0"/>
          </a:p>
        </p:txBody>
      </p:sp>
      <p:sp>
        <p:nvSpPr>
          <p:cNvPr id="5" name="Box frontend"/>
          <p:cNvSpPr/>
          <p:nvPr/>
        </p:nvSpPr>
        <p:spPr>
          <a:xfrm>
            <a:off x="548640" y="2441448"/>
            <a:ext cx="1874520" cy="621792"/>
          </a:xfrm>
          <a:prstGeom prst="roundRect">
            <a:avLst>
              <a:gd name="adj" fmla="val 14706"/>
            </a:avLst>
          </a:prstGeom>
          <a:solidFill>
            <a:schemeClr val="bg2"/>
          </a:solidFill>
          <a:ln/>
        </p:spPr>
        <p:txBody>
          <a:bodyPr wrap="square" lIns="762" tIns="762" rIns="762" bIns="762" rtlCol="0" anchor="ctr"/>
          <a:lstStyle/>
          <a:p>
            <a:pPr algn="ctr" indent="0" marL="0">
              <a:buNone/>
            </a:pPr>
            <a:r>
              <a:rPr lang="en-US" sz="1600" b="1" dirty="0">
                <a:solidFill>
                  <a:schemeClr val="tx1"/>
                </a:solidFill>
              </a:rPr>
              <a:t>frontend</a:t>
            </a:r>
            <a:endParaRPr lang="en-US" sz="1600" dirty="0"/>
          </a:p>
          <a:p>
            <a:pPr algn="ctr" indent="0" marL="0">
              <a:buNone/>
            </a:pPr>
            <a:r>
              <a:rPr lang="en-US" sz="1300" dirty="0">
                <a:solidFill>
                  <a:schemeClr val="tx1"/>
                </a:solidFill>
              </a:rPr>
              <a:t>npm ci, npm run build</a:t>
            </a:r>
            <a:endParaRPr lang="en-US" sz="1600" dirty="0"/>
          </a:p>
        </p:txBody>
      </p:sp>
      <p:sp>
        <p:nvSpPr>
          <p:cNvPr id="6" name="Box image x2"/>
          <p:cNvSpPr/>
          <p:nvPr/>
        </p:nvSpPr>
        <p:spPr>
          <a:xfrm>
            <a:off x="2852928" y="1737360"/>
            <a:ext cx="1874520" cy="1325880"/>
          </a:xfrm>
          <a:prstGeom prst="roundRect">
            <a:avLst>
              <a:gd name="adj" fmla="val 6897"/>
            </a:avLst>
          </a:prstGeom>
          <a:solidFill>
            <a:schemeClr val="bg2"/>
          </a:solidFill>
          <a:ln/>
        </p:spPr>
        <p:txBody>
          <a:bodyPr wrap="square" lIns="762" tIns="762" rIns="762" bIns="762" rtlCol="0" anchor="ctr"/>
          <a:lstStyle/>
          <a:p>
            <a:pPr algn="ctr" indent="0" marL="0">
              <a:buNone/>
            </a:pPr>
            <a:r>
              <a:rPr lang="en-US" sz="1600" b="1" dirty="0">
                <a:solidFill>
                  <a:schemeClr val="tx1"/>
                </a:solidFill>
              </a:rPr>
              <a:t>image x2</a:t>
            </a:r>
            <a:endParaRPr lang="en-US" sz="1600" dirty="0"/>
          </a:p>
          <a:p>
            <a:pPr algn="ctr" indent="0" marL="0">
              <a:buNone/>
            </a:pPr>
            <a:r>
              <a:rPr lang="en-US" sz="1400" dirty="0">
                <a:solidFill>
                  <a:schemeClr val="tx1"/>
                </a:solidFill>
              </a:rPr>
              <a:t>backend + frontend</a:t>
            </a:r>
            <a:endParaRPr lang="en-US" sz="1600" dirty="0"/>
          </a:p>
        </p:txBody>
      </p:sp>
      <p:sp>
        <p:nvSpPr>
          <p:cNvPr id="7" name="Box Trivy scan"/>
          <p:cNvSpPr/>
          <p:nvPr/>
        </p:nvSpPr>
        <p:spPr>
          <a:xfrm>
            <a:off x="5157216" y="1737360"/>
            <a:ext cx="1874520" cy="1325880"/>
          </a:xfrm>
          <a:prstGeom prst="roundRect">
            <a:avLst>
              <a:gd name="adj" fmla="val 6897"/>
            </a:avLst>
          </a:prstGeom>
          <a:solidFill>
            <a:schemeClr val="accent2"/>
          </a:solidFill>
          <a:ln/>
        </p:spPr>
        <p:txBody>
          <a:bodyPr wrap="square" lIns="762" tIns="762" rIns="762" bIns="762" rtlCol="0" anchor="ctr"/>
          <a:lstStyle/>
          <a:p>
            <a:pPr algn="ctr" indent="0" marL="0">
              <a:buNone/>
            </a:pPr>
            <a:r>
              <a:rPr lang="en-US" sz="1600" b="1" dirty="0">
                <a:solidFill>
                  <a:schemeClr val="tx1"/>
                </a:solidFill>
              </a:rPr>
              <a:t>Trivy scan</a:t>
            </a:r>
            <a:endParaRPr lang="en-US" sz="1600" dirty="0"/>
          </a:p>
          <a:p>
            <a:pPr algn="ctr" indent="0" marL="0">
              <a:buNone/>
            </a:pPr>
            <a:r>
              <a:rPr lang="en-US" sz="1400" dirty="0">
                <a:solidFill>
                  <a:schemeClr val="tx1"/>
                </a:solidFill>
              </a:rPr>
              <a:t>both images</a:t>
            </a:r>
            <a:endParaRPr lang="en-US" sz="1600" dirty="0"/>
          </a:p>
        </p:txBody>
      </p:sp>
      <p:sp>
        <p:nvSpPr>
          <p:cNvPr id="8" name="Box push"/>
          <p:cNvSpPr/>
          <p:nvPr/>
        </p:nvSpPr>
        <p:spPr>
          <a:xfrm>
            <a:off x="7461504" y="1737360"/>
            <a:ext cx="1874520" cy="1325880"/>
          </a:xfrm>
          <a:prstGeom prst="roundRect">
            <a:avLst>
              <a:gd name="adj" fmla="val 6897"/>
            </a:avLst>
          </a:prstGeom>
          <a:solidFill>
            <a:schemeClr val="bg2"/>
          </a:solidFill>
          <a:ln/>
        </p:spPr>
        <p:txBody>
          <a:bodyPr wrap="square" lIns="762" tIns="762" rIns="762" bIns="762" rtlCol="0" anchor="ctr"/>
          <a:lstStyle/>
          <a:p>
            <a:pPr algn="ctr" indent="0" marL="0">
              <a:buNone/>
            </a:pPr>
            <a:r>
              <a:rPr lang="en-US" sz="1600" b="1" dirty="0">
                <a:solidFill>
                  <a:schemeClr val="tx1"/>
                </a:solidFill>
              </a:rPr>
              <a:t>push</a:t>
            </a:r>
            <a:endParaRPr lang="en-US" sz="1600" dirty="0"/>
          </a:p>
          <a:p>
            <a:pPr algn="ctr" indent="0" marL="0">
              <a:buNone/>
            </a:pPr>
            <a:r>
              <a:rPr lang="en-US" sz="1400" dirty="0">
                <a:solidFill>
                  <a:schemeClr val="tx1"/>
                </a:solidFill>
              </a:rPr>
              <a:t>to GHCR</a:t>
            </a:r>
            <a:endParaRPr lang="en-US" sz="1600" dirty="0"/>
          </a:p>
        </p:txBody>
      </p:sp>
      <p:sp>
        <p:nvSpPr>
          <p:cNvPr id="9" name="Box deploy"/>
          <p:cNvSpPr/>
          <p:nvPr/>
        </p:nvSpPr>
        <p:spPr>
          <a:xfrm>
            <a:off x="9765792" y="1737360"/>
            <a:ext cx="1874520" cy="1325880"/>
          </a:xfrm>
          <a:prstGeom prst="roundRect">
            <a:avLst>
              <a:gd name="adj" fmla="val 6897"/>
            </a:avLst>
          </a:prstGeom>
          <a:solidFill>
            <a:schemeClr val="tx2"/>
          </a:solidFill>
          <a:ln/>
        </p:spPr>
        <p:txBody>
          <a:bodyPr wrap="square" lIns="762" tIns="762" rIns="762" bIns="762" rtlCol="0" anchor="ctr"/>
          <a:lstStyle/>
          <a:p>
            <a:pPr algn="ctr" indent="0" marL="0">
              <a:buNone/>
            </a:pPr>
            <a:r>
              <a:rPr lang="en-US" sz="1600" b="1" dirty="0">
                <a:solidFill>
                  <a:schemeClr val="bg1"/>
                </a:solidFill>
              </a:rPr>
              <a:t>deploy</a:t>
            </a:r>
            <a:endParaRPr lang="en-US" sz="1600" dirty="0"/>
          </a:p>
          <a:p>
            <a:pPr algn="ctr" indent="0" marL="0">
              <a:buNone/>
            </a:pPr>
            <a:r>
              <a:rPr lang="en-US" sz="1400" dirty="0">
                <a:solidFill>
                  <a:schemeClr val="bg1"/>
                </a:solidFill>
              </a:rPr>
              <a:t>helm upgrade</a:t>
            </a:r>
            <a:endParaRPr lang="en-US" sz="1600" dirty="0"/>
          </a:p>
        </p:txBody>
      </p:sp>
      <p:sp>
        <p:nvSpPr>
          <p:cNvPr id="10" name="Arrow"/>
          <p:cNvSpPr/>
          <p:nvPr/>
        </p:nvSpPr>
        <p:spPr>
          <a:xfrm>
            <a:off x="2459736" y="2400300"/>
            <a:ext cx="356616" cy="0"/>
          </a:xfrm>
          <a:prstGeom prst="line">
            <a:avLst/>
          </a:prstGeom>
          <a:noFill/>
          <a:ln w="25400">
            <a:solidFill>
              <a:schemeClr val="accent5"/>
            </a:solidFill>
            <a:prstDash val="solid"/>
            <a:tailEnd type="triangle"/>
          </a:ln>
        </p:spPr>
      </p:sp>
      <p:sp>
        <p:nvSpPr>
          <p:cNvPr id="11" name="Arrow"/>
          <p:cNvSpPr/>
          <p:nvPr/>
        </p:nvSpPr>
        <p:spPr>
          <a:xfrm>
            <a:off x="4764024" y="2400300"/>
            <a:ext cx="356616" cy="0"/>
          </a:xfrm>
          <a:prstGeom prst="line">
            <a:avLst/>
          </a:prstGeom>
          <a:noFill/>
          <a:ln w="25400">
            <a:solidFill>
              <a:schemeClr val="accent5"/>
            </a:solidFill>
            <a:prstDash val="solid"/>
            <a:tailEnd type="triangle"/>
          </a:ln>
        </p:spPr>
      </p:sp>
      <p:sp>
        <p:nvSpPr>
          <p:cNvPr id="12" name="Arrow"/>
          <p:cNvSpPr/>
          <p:nvPr/>
        </p:nvSpPr>
        <p:spPr>
          <a:xfrm>
            <a:off x="7068312" y="2400300"/>
            <a:ext cx="356616" cy="0"/>
          </a:xfrm>
          <a:prstGeom prst="line">
            <a:avLst/>
          </a:prstGeom>
          <a:noFill/>
          <a:ln w="25400">
            <a:solidFill>
              <a:schemeClr val="accent5"/>
            </a:solidFill>
            <a:prstDash val="solid"/>
            <a:tailEnd type="triangle"/>
          </a:ln>
        </p:spPr>
      </p:sp>
      <p:sp>
        <p:nvSpPr>
          <p:cNvPr id="13" name="Arrow"/>
          <p:cNvSpPr/>
          <p:nvPr/>
        </p:nvSpPr>
        <p:spPr>
          <a:xfrm>
            <a:off x="9372600" y="2400300"/>
            <a:ext cx="356616" cy="0"/>
          </a:xfrm>
          <a:prstGeom prst="line">
            <a:avLst/>
          </a:prstGeom>
          <a:noFill/>
          <a:ln w="25400">
            <a:solidFill>
              <a:schemeClr val="accent5"/>
            </a:solidFill>
            <a:prstDash val="solid"/>
            <a:tailEnd type="triangle"/>
          </a:ln>
        </p:spPr>
      </p:sp>
      <p:sp>
        <p:nvSpPr>
          <p:cNvPr id="14" name="Text 12"/>
          <p:cNvSpPr txBox="1"/>
          <p:nvPr/>
        </p:nvSpPr>
        <p:spPr>
          <a:xfrm>
            <a:off x="548640" y="3264408"/>
            <a:ext cx="1874520" cy="1371600"/>
          </a:xfrm>
          <a:prstGeom prst="rect">
            <a:avLst/>
          </a:prstGeom>
          <a:noFill/>
          <a:ln/>
        </p:spPr>
        <p:txBody>
          <a:bodyPr wrap="square" lIns="0" tIns="0" rIns="0" bIns="0" rtlCol="0" anchor="t"/>
          <a:lstStyle/>
          <a:p>
            <a:pPr indent="0" marL="0">
              <a:buNone/>
            </a:pPr>
            <a:r>
              <a:rPr lang="en-US" sz="1400" dirty="0">
                <a:solidFill>
                  <a:schemeClr val="tx1"/>
                </a:solidFill>
              </a:rPr>
              <a:t>Tests and the frontend build run in parallel. If either fails, nothing else runs.</a:t>
            </a:r>
            <a:endParaRPr lang="en-US" sz="1400" dirty="0"/>
          </a:p>
        </p:txBody>
      </p:sp>
      <p:sp>
        <p:nvSpPr>
          <p:cNvPr id="15" name="Text 13"/>
          <p:cNvSpPr txBox="1"/>
          <p:nvPr/>
        </p:nvSpPr>
        <p:spPr>
          <a:xfrm>
            <a:off x="2852928" y="3264408"/>
            <a:ext cx="1874520" cy="1371600"/>
          </a:xfrm>
          <a:prstGeom prst="rect">
            <a:avLst/>
          </a:prstGeom>
          <a:noFill/>
          <a:ln/>
        </p:spPr>
        <p:txBody>
          <a:bodyPr wrap="square" lIns="0" tIns="0" rIns="0" bIns="0" rtlCol="0" anchor="t"/>
          <a:lstStyle/>
          <a:p>
            <a:pPr indent="0" marL="0">
              <a:buNone/>
            </a:pPr>
            <a:r>
              <a:rPr lang="en-US" sz="1400" dirty="0">
                <a:solidFill>
                  <a:schemeClr val="tx1"/>
                </a:solidFill>
              </a:rPr>
              <a:t>A matrix job builds both images and tags them with the commit SHA.</a:t>
            </a:r>
            <a:endParaRPr lang="en-US" sz="1400" dirty="0"/>
          </a:p>
        </p:txBody>
      </p:sp>
      <p:sp>
        <p:nvSpPr>
          <p:cNvPr id="16" name="Text 14"/>
          <p:cNvSpPr txBox="1"/>
          <p:nvPr/>
        </p:nvSpPr>
        <p:spPr>
          <a:xfrm>
            <a:off x="5157216" y="3264408"/>
            <a:ext cx="1874520" cy="1371600"/>
          </a:xfrm>
          <a:prstGeom prst="rect">
            <a:avLst/>
          </a:prstGeom>
          <a:noFill/>
          <a:ln/>
        </p:spPr>
        <p:txBody>
          <a:bodyPr wrap="square" lIns="0" tIns="0" rIns="0" bIns="0" rtlCol="0" anchor="t"/>
          <a:lstStyle/>
          <a:p>
            <a:pPr indent="0" marL="0">
              <a:buNone/>
            </a:pPr>
            <a:r>
              <a:rPr lang="en-US" sz="1400" dirty="0">
                <a:solidFill>
                  <a:schemeClr val="tx1"/>
                </a:solidFill>
              </a:rPr>
              <a:t>Fails the job on a fixable HIGH or CRITICAL finding, so nothing risky is pushed.</a:t>
            </a:r>
            <a:endParaRPr lang="en-US" sz="1400" dirty="0"/>
          </a:p>
        </p:txBody>
      </p:sp>
      <p:sp>
        <p:nvSpPr>
          <p:cNvPr id="17" name="Text 15"/>
          <p:cNvSpPr txBox="1"/>
          <p:nvPr/>
        </p:nvSpPr>
        <p:spPr>
          <a:xfrm>
            <a:off x="7461504" y="3264408"/>
            <a:ext cx="1874520" cy="1371600"/>
          </a:xfrm>
          <a:prstGeom prst="rect">
            <a:avLst/>
          </a:prstGeom>
          <a:noFill/>
          <a:ln/>
        </p:spPr>
        <p:txBody>
          <a:bodyPr wrap="square" lIns="0" tIns="0" rIns="0" bIns="0" rtlCol="0" anchor="t"/>
          <a:lstStyle/>
          <a:p>
            <a:pPr indent="0" marL="0">
              <a:buNone/>
            </a:pPr>
            <a:r>
              <a:rPr lang="en-US" sz="1400" dirty="0">
                <a:solidFill>
                  <a:schemeClr val="tx1"/>
                </a:solidFill>
              </a:rPr>
              <a:t>Only from main. Tag is the commit SHA, never latest.</a:t>
            </a:r>
            <a:endParaRPr lang="en-US" sz="1400" dirty="0"/>
          </a:p>
        </p:txBody>
      </p:sp>
      <p:sp>
        <p:nvSpPr>
          <p:cNvPr id="18" name="Text 16"/>
          <p:cNvSpPr txBox="1"/>
          <p:nvPr/>
        </p:nvSpPr>
        <p:spPr>
          <a:xfrm>
            <a:off x="9765792" y="3264408"/>
            <a:ext cx="1874520" cy="1371600"/>
          </a:xfrm>
          <a:prstGeom prst="rect">
            <a:avLst/>
          </a:prstGeom>
          <a:noFill/>
          <a:ln/>
        </p:spPr>
        <p:txBody>
          <a:bodyPr wrap="square" lIns="0" tIns="0" rIns="0" bIns="0" rtlCol="0" anchor="t"/>
          <a:lstStyle/>
          <a:p>
            <a:pPr indent="0" marL="0">
              <a:buNone/>
            </a:pPr>
            <a:r>
              <a:rPr lang="en-US" sz="1400" dirty="0">
                <a:solidFill>
                  <a:schemeClr val="tx1"/>
                </a:solidFill>
              </a:rPr>
              <a:t>Self-hosted runner on my laptop, helm upgrade with that SHA.</a:t>
            </a:r>
            <a:endParaRPr lang="en-US" sz="1400" dirty="0"/>
          </a:p>
        </p:txBody>
      </p:sp>
      <p:sp>
        <p:nvSpPr>
          <p:cNvPr id="19" name="Tag strip"/>
          <p:cNvSpPr/>
          <p:nvPr/>
        </p:nvSpPr>
        <p:spPr>
          <a:xfrm>
            <a:off x="548640" y="4892040"/>
            <a:ext cx="11091672" cy="1280160"/>
          </a:xfrm>
          <a:prstGeom prst="roundRect">
            <a:avLst>
              <a:gd name="adj" fmla="val 7143"/>
            </a:avLst>
          </a:prstGeom>
          <a:solidFill>
            <a:schemeClr val="bg2"/>
          </a:solidFill>
          <a:ln/>
        </p:spPr>
      </p:sp>
      <p:sp>
        <p:nvSpPr>
          <p:cNvPr id="20" name="Text 18"/>
          <p:cNvSpPr txBox="1"/>
          <p:nvPr/>
        </p:nvSpPr>
        <p:spPr>
          <a:xfrm>
            <a:off x="822960" y="5029200"/>
            <a:ext cx="2743200" cy="274320"/>
          </a:xfrm>
          <a:prstGeom prst="rect">
            <a:avLst/>
          </a:prstGeom>
          <a:noFill/>
          <a:ln/>
        </p:spPr>
        <p:txBody>
          <a:bodyPr wrap="square" lIns="0" tIns="0" rIns="0" bIns="0" rtlCol="0" anchor="t"/>
          <a:lstStyle/>
          <a:p>
            <a:pPr indent="0" marL="0">
              <a:buNone/>
            </a:pPr>
            <a:r>
              <a:rPr lang="en-US" sz="1300" b="1" dirty="0">
                <a:solidFill>
                  <a:schemeClr val="accent5"/>
                </a:solidFill>
              </a:rPr>
              <a:t>Image name</a:t>
            </a:r>
            <a:endParaRPr lang="en-US" sz="1300" dirty="0"/>
          </a:p>
        </p:txBody>
      </p:sp>
      <p:sp>
        <p:nvSpPr>
          <p:cNvPr id="21" name="Text 19"/>
          <p:cNvSpPr txBox="1"/>
          <p:nvPr/>
        </p:nvSpPr>
        <p:spPr>
          <a:xfrm>
            <a:off x="822960" y="5321808"/>
            <a:ext cx="10515600" cy="365760"/>
          </a:xfrm>
          <a:prstGeom prst="rect">
            <a:avLst/>
          </a:prstGeom>
          <a:noFill/>
          <a:ln/>
        </p:spPr>
        <p:txBody>
          <a:bodyPr wrap="square" lIns="0" tIns="0" rIns="0" bIns="0" rtlCol="0" anchor="t"/>
          <a:lstStyle/>
          <a:p>
            <a:pPr indent="0" marL="0">
              <a:buNone/>
            </a:pPr>
            <a:r>
              <a:rPr lang="en-US" sz="2000" dirty="0">
                <a:solidFill>
                  <a:schemeClr val="tx2"/>
                </a:solidFill>
                <a:latin typeface="Courier New" pitchFamily="34" charset="0"/>
                <a:ea typeface="Courier New" pitchFamily="34" charset="-122"/>
                <a:cs typeface="Courier New" pitchFamily="34" charset="-120"/>
              </a:rPr>
              <a:t>ghcr.io/raghavendra1729-cell/placetrack-&lt;service&gt;:&lt;commit SHA&gt;</a:t>
            </a:r>
            <a:endParaRPr lang="en-US" sz="2000" dirty="0"/>
          </a:p>
        </p:txBody>
      </p:sp>
      <p:sp>
        <p:nvSpPr>
          <p:cNvPr id="22" name="Text 20"/>
          <p:cNvSpPr txBox="1"/>
          <p:nvPr/>
        </p:nvSpPr>
        <p:spPr>
          <a:xfrm>
            <a:off x="822960" y="5760720"/>
            <a:ext cx="10515600" cy="320040"/>
          </a:xfrm>
          <a:prstGeom prst="rect">
            <a:avLst/>
          </a:prstGeom>
          <a:noFill/>
          <a:ln/>
        </p:spPr>
        <p:txBody>
          <a:bodyPr wrap="square" lIns="0" tIns="0" rIns="0" bIns="0" rtlCol="0" anchor="t"/>
          <a:lstStyle/>
          <a:p>
            <a:pPr indent="0" marL="0">
              <a:buNone/>
            </a:pPr>
            <a:r>
              <a:rPr lang="en-US" sz="1400" dirty="0">
                <a:solidFill>
                  <a:schemeClr val="accent5"/>
                </a:solidFill>
              </a:rPr>
              <a:t>The deploy job is skipped unless DEPLOY_ENABLED is set, so a push never needs my laptop on.</a:t>
            </a:r>
            <a:endParaRPr lang="en-US" sz="14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The pipeline run, all green</a:t>
            </a:r>
            <a:endParaRPr lang="en-US" sz="3400" dirty="0"/>
          </a:p>
        </p:txBody>
      </p:sp>
      <p:sp>
        <p:nvSpPr>
          <p:cNvPr id="3" name="Frame ci-graph"/>
          <p:cNvSpPr/>
          <p:nvPr/>
        </p:nvSpPr>
        <p:spPr>
          <a:xfrm>
            <a:off x="493776" y="1362456"/>
            <a:ext cx="7059168" cy="2479809"/>
          </a:xfrm>
          <a:prstGeom prst="roundRect">
            <a:avLst>
              <a:gd name="adj" fmla="val 3319"/>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4" name="Screenshot ci-graph" descr="Actions run summary: status Success, total duration 2m 0s, test, frontend, image matrix and deploy jobs">    </p:cNvPr>
          <p:cNvPicPr>
            <a:picLocks noChangeAspect="1"/>
          </p:cNvPicPr>
          <p:nvPr/>
        </p:nvPicPr>
        <p:blipFill>
          <a:blip r:embed="rId1"/>
          <a:stretch>
            <a:fillRect/>
          </a:stretch>
        </p:blipFill>
        <p:spPr>
          <a:xfrm>
            <a:off x="548640" y="1417320"/>
            <a:ext cx="6949440" cy="2370081"/>
          </a:xfrm>
          <a:prstGeom prst="rect">
            <a:avLst/>
          </a:prstGeom>
        </p:spPr>
      </p:pic>
      <p:sp>
        <p:nvSpPr>
          <p:cNvPr id="5" name="Frame 05-actions-run"/>
          <p:cNvSpPr/>
          <p:nvPr/>
        </p:nvSpPr>
        <p:spPr>
          <a:xfrm>
            <a:off x="7854696" y="1362456"/>
            <a:ext cx="3840480" cy="2441448"/>
          </a:xfrm>
          <a:prstGeom prst="roundRect">
            <a:avLst>
              <a:gd name="adj" fmla="val 3371"/>
            </a:avLst>
          </a:prstGeom>
          <a:solidFill>
            <a:srgbClr val="FFFFF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6" name="Screenshot 05-actions-run" descr="GitHub Actions run page for the main branch">    </p:cNvPr>
          <p:cNvPicPr>
            <a:picLocks noChangeAspect="1"/>
          </p:cNvPicPr>
          <p:nvPr/>
        </p:nvPicPr>
        <p:blipFill>
          <a:blip r:embed="rId2"/>
          <a:stretch>
            <a:fillRect/>
          </a:stretch>
        </p:blipFill>
        <p:spPr>
          <a:xfrm>
            <a:off x="7909560" y="1417320"/>
            <a:ext cx="3730752" cy="2331720"/>
          </a:xfrm>
          <a:prstGeom prst="rect">
            <a:avLst/>
          </a:prstGeom>
        </p:spPr>
      </p:pic>
      <p:sp>
        <p:nvSpPr>
          <p:cNvPr id="7" name="Text 3"/>
          <p:cNvSpPr txBox="1"/>
          <p:nvPr/>
        </p:nvSpPr>
        <p:spPr>
          <a:xfrm>
            <a:off x="548640" y="3970281"/>
            <a:ext cx="6949440" cy="274320"/>
          </a:xfrm>
          <a:prstGeom prst="rect">
            <a:avLst/>
          </a:prstGeom>
          <a:noFill/>
          <a:ln/>
        </p:spPr>
        <p:txBody>
          <a:bodyPr wrap="square" lIns="0" tIns="0" rIns="0" bIns="0" rtlCol="0" anchor="t"/>
          <a:lstStyle/>
          <a:p>
            <a:pPr indent="0" marL="0">
              <a:buNone/>
            </a:pPr>
            <a:r>
              <a:rPr lang="en-US" sz="1300" dirty="0">
                <a:solidFill>
                  <a:schemeClr val="accent5"/>
                </a:solidFill>
              </a:rPr>
              <a:t>Status, total duration and the job graph</a:t>
            </a:r>
            <a:endParaRPr lang="en-US" sz="1300" dirty="0"/>
          </a:p>
        </p:txBody>
      </p:sp>
      <p:sp>
        <p:nvSpPr>
          <p:cNvPr id="8" name="Text 4"/>
          <p:cNvSpPr txBox="1"/>
          <p:nvPr/>
        </p:nvSpPr>
        <p:spPr>
          <a:xfrm>
            <a:off x="7909560" y="3931920"/>
            <a:ext cx="3730752" cy="274320"/>
          </a:xfrm>
          <a:prstGeom prst="rect">
            <a:avLst/>
          </a:prstGeom>
          <a:noFill/>
          <a:ln/>
        </p:spPr>
        <p:txBody>
          <a:bodyPr wrap="square" lIns="0" tIns="0" rIns="0" bIns="0" rtlCol="0" anchor="t"/>
          <a:lstStyle/>
          <a:p>
            <a:pPr indent="0" marL="0">
              <a:buNone/>
            </a:pPr>
            <a:r>
              <a:rPr lang="en-US" sz="1300" dirty="0">
                <a:solidFill>
                  <a:schemeClr val="accent5"/>
                </a:solidFill>
              </a:rPr>
              <a:t>Run page: actions/runs/38878841957</a:t>
            </a:r>
            <a:endParaRPr lang="en-US" sz="1300" dirty="0"/>
          </a:p>
        </p:txBody>
      </p:sp>
      <p:sp>
        <p:nvSpPr>
          <p:cNvPr id="9" name="Text 5"/>
          <p:cNvSpPr txBox="1"/>
          <p:nvPr/>
        </p:nvSpPr>
        <p:spPr>
          <a:xfrm>
            <a:off x="548640" y="4389120"/>
            <a:ext cx="11091672" cy="36576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All five jobs passed, 2m 0s in total</a:t>
            </a:r>
            <a:endParaRPr lang="en-US" sz="2000" dirty="0"/>
          </a:p>
        </p:txBody>
      </p:sp>
      <p:sp>
        <p:nvSpPr>
          <p:cNvPr id="10" name="Card"/>
          <p:cNvSpPr/>
          <p:nvPr/>
        </p:nvSpPr>
        <p:spPr>
          <a:xfrm>
            <a:off x="548640" y="4892040"/>
            <a:ext cx="2011680" cy="1325880"/>
          </a:xfrm>
          <a:prstGeom prst="roundRect">
            <a:avLst>
              <a:gd name="adj" fmla="val 6897"/>
            </a:avLst>
          </a:prstGeom>
          <a:solidFill>
            <a:schemeClr val="bg2"/>
          </a:solidFill>
          <a:ln/>
        </p:spPr>
      </p:sp>
      <p:sp>
        <p:nvSpPr>
          <p:cNvPr id="11" name="Passed dot"/>
          <p:cNvSpPr/>
          <p:nvPr/>
        </p:nvSpPr>
        <p:spPr>
          <a:xfrm>
            <a:off x="2148840" y="5029200"/>
            <a:ext cx="201168" cy="201168"/>
          </a:xfrm>
          <a:prstGeom prst="ellipse">
            <a:avLst/>
          </a:prstGeom>
          <a:solidFill>
            <a:schemeClr val="accent4"/>
          </a:solidFill>
          <a:ln/>
        </p:spPr>
      </p:sp>
      <p:sp>
        <p:nvSpPr>
          <p:cNvPr id="12" name="Text 8"/>
          <p:cNvSpPr txBox="1"/>
          <p:nvPr/>
        </p:nvSpPr>
        <p:spPr>
          <a:xfrm>
            <a:off x="749808" y="5001768"/>
            <a:ext cx="1280160" cy="320040"/>
          </a:xfrm>
          <a:prstGeom prst="rect">
            <a:avLst/>
          </a:prstGeom>
          <a:noFill/>
          <a:ln/>
        </p:spPr>
        <p:txBody>
          <a:bodyPr wrap="square" lIns="0" tIns="0" rIns="0" bIns="0" rtlCol="0" anchor="t"/>
          <a:lstStyle/>
          <a:p>
            <a:pPr indent="0" marL="0">
              <a:buNone/>
            </a:pPr>
            <a:r>
              <a:rPr lang="en-US" sz="1500" b="1" dirty="0">
                <a:solidFill>
                  <a:schemeClr val="tx1"/>
                </a:solidFill>
              </a:rPr>
              <a:t>test</a:t>
            </a:r>
            <a:endParaRPr lang="en-US" sz="1500" dirty="0"/>
          </a:p>
        </p:txBody>
      </p:sp>
      <p:sp>
        <p:nvSpPr>
          <p:cNvPr id="13" name="Text 9"/>
          <p:cNvSpPr txBox="1"/>
          <p:nvPr/>
        </p:nvSpPr>
        <p:spPr>
          <a:xfrm>
            <a:off x="749808" y="5394960"/>
            <a:ext cx="1645920" cy="731520"/>
          </a:xfrm>
          <a:prstGeom prst="rect">
            <a:avLst/>
          </a:prstGeom>
          <a:noFill/>
          <a:ln/>
        </p:spPr>
        <p:txBody>
          <a:bodyPr wrap="square" lIns="0" tIns="0" rIns="0" bIns="0" rtlCol="0" anchor="ctr"/>
          <a:lstStyle/>
          <a:p>
            <a:pPr indent="0" marL="0">
              <a:buNone/>
            </a:pPr>
            <a:r>
              <a:rPr lang="en-US" sz="4000" b="1" dirty="0">
                <a:solidFill>
                  <a:schemeClr val="tx2"/>
                </a:solidFill>
                <a:latin typeface="+mj-lt" pitchFamily="34" charset="0"/>
                <a:ea typeface="+mj-lt" pitchFamily="34" charset="-122"/>
                <a:cs typeface="+mj-lt" pitchFamily="34" charset="-120"/>
              </a:rPr>
              <a:t>20s</a:t>
            </a:r>
            <a:endParaRPr lang="en-US" sz="4000" dirty="0"/>
          </a:p>
        </p:txBody>
      </p:sp>
      <p:sp>
        <p:nvSpPr>
          <p:cNvPr id="14" name="Card"/>
          <p:cNvSpPr/>
          <p:nvPr/>
        </p:nvSpPr>
        <p:spPr>
          <a:xfrm>
            <a:off x="2818638" y="4892040"/>
            <a:ext cx="2011680" cy="1325880"/>
          </a:xfrm>
          <a:prstGeom prst="roundRect">
            <a:avLst>
              <a:gd name="adj" fmla="val 6897"/>
            </a:avLst>
          </a:prstGeom>
          <a:solidFill>
            <a:schemeClr val="bg2"/>
          </a:solidFill>
          <a:ln/>
        </p:spPr>
      </p:sp>
      <p:sp>
        <p:nvSpPr>
          <p:cNvPr id="15" name="Passed dot"/>
          <p:cNvSpPr/>
          <p:nvPr/>
        </p:nvSpPr>
        <p:spPr>
          <a:xfrm>
            <a:off x="4418838" y="5029200"/>
            <a:ext cx="201168" cy="201168"/>
          </a:xfrm>
          <a:prstGeom prst="ellipse">
            <a:avLst/>
          </a:prstGeom>
          <a:solidFill>
            <a:schemeClr val="accent4"/>
          </a:solidFill>
          <a:ln/>
        </p:spPr>
      </p:sp>
      <p:sp>
        <p:nvSpPr>
          <p:cNvPr id="16" name="Text 12"/>
          <p:cNvSpPr txBox="1"/>
          <p:nvPr/>
        </p:nvSpPr>
        <p:spPr>
          <a:xfrm>
            <a:off x="3019806" y="5001768"/>
            <a:ext cx="1280160" cy="320040"/>
          </a:xfrm>
          <a:prstGeom prst="rect">
            <a:avLst/>
          </a:prstGeom>
          <a:noFill/>
          <a:ln/>
        </p:spPr>
        <p:txBody>
          <a:bodyPr wrap="square" lIns="0" tIns="0" rIns="0" bIns="0" rtlCol="0" anchor="t"/>
          <a:lstStyle/>
          <a:p>
            <a:pPr indent="0" marL="0">
              <a:buNone/>
            </a:pPr>
            <a:r>
              <a:rPr lang="en-US" sz="1500" b="1" dirty="0">
                <a:solidFill>
                  <a:schemeClr val="tx1"/>
                </a:solidFill>
              </a:rPr>
              <a:t>frontend</a:t>
            </a:r>
            <a:endParaRPr lang="en-US" sz="1500" dirty="0"/>
          </a:p>
        </p:txBody>
      </p:sp>
      <p:sp>
        <p:nvSpPr>
          <p:cNvPr id="17" name="Text 13"/>
          <p:cNvSpPr txBox="1"/>
          <p:nvPr/>
        </p:nvSpPr>
        <p:spPr>
          <a:xfrm>
            <a:off x="3019806" y="5394960"/>
            <a:ext cx="1645920" cy="731520"/>
          </a:xfrm>
          <a:prstGeom prst="rect">
            <a:avLst/>
          </a:prstGeom>
          <a:noFill/>
          <a:ln/>
        </p:spPr>
        <p:txBody>
          <a:bodyPr wrap="square" lIns="0" tIns="0" rIns="0" bIns="0" rtlCol="0" anchor="ctr"/>
          <a:lstStyle/>
          <a:p>
            <a:pPr indent="0" marL="0">
              <a:buNone/>
            </a:pPr>
            <a:r>
              <a:rPr lang="en-US" sz="4000" b="1" dirty="0">
                <a:solidFill>
                  <a:schemeClr val="tx2"/>
                </a:solidFill>
                <a:latin typeface="+mj-lt" pitchFamily="34" charset="0"/>
                <a:ea typeface="+mj-lt" pitchFamily="34" charset="-122"/>
                <a:cs typeface="+mj-lt" pitchFamily="34" charset="-120"/>
              </a:rPr>
              <a:t>16s</a:t>
            </a:r>
            <a:endParaRPr lang="en-US" sz="4000" dirty="0"/>
          </a:p>
        </p:txBody>
      </p:sp>
      <p:sp>
        <p:nvSpPr>
          <p:cNvPr id="18" name="Card"/>
          <p:cNvSpPr/>
          <p:nvPr/>
        </p:nvSpPr>
        <p:spPr>
          <a:xfrm>
            <a:off x="5088636" y="4892040"/>
            <a:ext cx="2011680" cy="1325880"/>
          </a:xfrm>
          <a:prstGeom prst="roundRect">
            <a:avLst>
              <a:gd name="adj" fmla="val 6897"/>
            </a:avLst>
          </a:prstGeom>
          <a:solidFill>
            <a:schemeClr val="bg2"/>
          </a:solidFill>
          <a:ln/>
        </p:spPr>
      </p:sp>
      <p:sp>
        <p:nvSpPr>
          <p:cNvPr id="19" name="Passed dot"/>
          <p:cNvSpPr/>
          <p:nvPr/>
        </p:nvSpPr>
        <p:spPr>
          <a:xfrm>
            <a:off x="6688836" y="5029200"/>
            <a:ext cx="201168" cy="201168"/>
          </a:xfrm>
          <a:prstGeom prst="ellipse">
            <a:avLst/>
          </a:prstGeom>
          <a:solidFill>
            <a:schemeClr val="accent4"/>
          </a:solidFill>
          <a:ln/>
        </p:spPr>
      </p:sp>
      <p:sp>
        <p:nvSpPr>
          <p:cNvPr id="20" name="Text 16"/>
          <p:cNvSpPr txBox="1"/>
          <p:nvPr/>
        </p:nvSpPr>
        <p:spPr>
          <a:xfrm>
            <a:off x="5289804" y="5001768"/>
            <a:ext cx="1280160" cy="320040"/>
          </a:xfrm>
          <a:prstGeom prst="rect">
            <a:avLst/>
          </a:prstGeom>
          <a:noFill/>
          <a:ln/>
        </p:spPr>
        <p:txBody>
          <a:bodyPr wrap="square" lIns="0" tIns="0" rIns="0" bIns="0" rtlCol="0" anchor="t"/>
          <a:lstStyle/>
          <a:p>
            <a:pPr indent="0" marL="0">
              <a:buNone/>
            </a:pPr>
            <a:r>
              <a:rPr lang="en-US" sz="1500" b="1" dirty="0">
                <a:solidFill>
                  <a:schemeClr val="tx1"/>
                </a:solidFill>
              </a:rPr>
              <a:t>image (backend)</a:t>
            </a:r>
            <a:endParaRPr lang="en-US" sz="1500" dirty="0"/>
          </a:p>
        </p:txBody>
      </p:sp>
      <p:sp>
        <p:nvSpPr>
          <p:cNvPr id="21" name="Text 17"/>
          <p:cNvSpPr txBox="1"/>
          <p:nvPr/>
        </p:nvSpPr>
        <p:spPr>
          <a:xfrm>
            <a:off x="5289804" y="5394960"/>
            <a:ext cx="1645920" cy="731520"/>
          </a:xfrm>
          <a:prstGeom prst="rect">
            <a:avLst/>
          </a:prstGeom>
          <a:noFill/>
          <a:ln/>
        </p:spPr>
        <p:txBody>
          <a:bodyPr wrap="square" lIns="0" tIns="0" rIns="0" bIns="0" rtlCol="0" anchor="ctr"/>
          <a:lstStyle/>
          <a:p>
            <a:pPr indent="0" marL="0">
              <a:buNone/>
            </a:pPr>
            <a:r>
              <a:rPr lang="en-US" sz="4000" b="1" dirty="0">
                <a:solidFill>
                  <a:schemeClr val="tx2"/>
                </a:solidFill>
                <a:latin typeface="+mj-lt" pitchFamily="34" charset="0"/>
                <a:ea typeface="+mj-lt" pitchFamily="34" charset="-122"/>
                <a:cs typeface="+mj-lt" pitchFamily="34" charset="-120"/>
              </a:rPr>
              <a:t>43s</a:t>
            </a:r>
            <a:endParaRPr lang="en-US" sz="4000" dirty="0"/>
          </a:p>
        </p:txBody>
      </p:sp>
      <p:sp>
        <p:nvSpPr>
          <p:cNvPr id="22" name="Card"/>
          <p:cNvSpPr/>
          <p:nvPr/>
        </p:nvSpPr>
        <p:spPr>
          <a:xfrm>
            <a:off x="7358634" y="4892040"/>
            <a:ext cx="2011680" cy="1325880"/>
          </a:xfrm>
          <a:prstGeom prst="roundRect">
            <a:avLst>
              <a:gd name="adj" fmla="val 6897"/>
            </a:avLst>
          </a:prstGeom>
          <a:solidFill>
            <a:schemeClr val="bg2"/>
          </a:solidFill>
          <a:ln/>
        </p:spPr>
      </p:sp>
      <p:sp>
        <p:nvSpPr>
          <p:cNvPr id="23" name="Passed dot"/>
          <p:cNvSpPr/>
          <p:nvPr/>
        </p:nvSpPr>
        <p:spPr>
          <a:xfrm>
            <a:off x="8958834" y="5029200"/>
            <a:ext cx="201168" cy="201168"/>
          </a:xfrm>
          <a:prstGeom prst="ellipse">
            <a:avLst/>
          </a:prstGeom>
          <a:solidFill>
            <a:schemeClr val="accent4"/>
          </a:solidFill>
          <a:ln/>
        </p:spPr>
      </p:sp>
      <p:sp>
        <p:nvSpPr>
          <p:cNvPr id="24" name="Text 20"/>
          <p:cNvSpPr txBox="1"/>
          <p:nvPr/>
        </p:nvSpPr>
        <p:spPr>
          <a:xfrm>
            <a:off x="7559802" y="5001768"/>
            <a:ext cx="1280160" cy="320040"/>
          </a:xfrm>
          <a:prstGeom prst="rect">
            <a:avLst/>
          </a:prstGeom>
          <a:noFill/>
          <a:ln/>
        </p:spPr>
        <p:txBody>
          <a:bodyPr wrap="square" lIns="0" tIns="0" rIns="0" bIns="0" rtlCol="0" anchor="t"/>
          <a:lstStyle/>
          <a:p>
            <a:pPr indent="0" marL="0">
              <a:buNone/>
            </a:pPr>
            <a:r>
              <a:rPr lang="en-US" sz="1500" b="1" dirty="0">
                <a:solidFill>
                  <a:schemeClr val="tx1"/>
                </a:solidFill>
              </a:rPr>
              <a:t>image (frontend)</a:t>
            </a:r>
            <a:endParaRPr lang="en-US" sz="1500" dirty="0"/>
          </a:p>
        </p:txBody>
      </p:sp>
      <p:sp>
        <p:nvSpPr>
          <p:cNvPr id="25" name="Text 21"/>
          <p:cNvSpPr txBox="1"/>
          <p:nvPr/>
        </p:nvSpPr>
        <p:spPr>
          <a:xfrm>
            <a:off x="7559802" y="5394960"/>
            <a:ext cx="1645920" cy="731520"/>
          </a:xfrm>
          <a:prstGeom prst="rect">
            <a:avLst/>
          </a:prstGeom>
          <a:noFill/>
          <a:ln/>
        </p:spPr>
        <p:txBody>
          <a:bodyPr wrap="square" lIns="0" tIns="0" rIns="0" bIns="0" rtlCol="0" anchor="ctr"/>
          <a:lstStyle/>
          <a:p>
            <a:pPr indent="0" marL="0">
              <a:buNone/>
            </a:pPr>
            <a:r>
              <a:rPr lang="en-US" sz="4000" b="1" dirty="0">
                <a:solidFill>
                  <a:schemeClr val="tx2"/>
                </a:solidFill>
                <a:latin typeface="+mj-lt" pitchFamily="34" charset="0"/>
                <a:ea typeface="+mj-lt" pitchFamily="34" charset="-122"/>
                <a:cs typeface="+mj-lt" pitchFamily="34" charset="-120"/>
              </a:rPr>
              <a:t>51s</a:t>
            </a:r>
            <a:endParaRPr lang="en-US" sz="4000" dirty="0"/>
          </a:p>
        </p:txBody>
      </p:sp>
      <p:sp>
        <p:nvSpPr>
          <p:cNvPr id="26" name="Card"/>
          <p:cNvSpPr/>
          <p:nvPr/>
        </p:nvSpPr>
        <p:spPr>
          <a:xfrm>
            <a:off x="9628632" y="4892040"/>
            <a:ext cx="2011680" cy="1325880"/>
          </a:xfrm>
          <a:prstGeom prst="roundRect">
            <a:avLst>
              <a:gd name="adj" fmla="val 6897"/>
            </a:avLst>
          </a:prstGeom>
          <a:solidFill>
            <a:schemeClr val="bg2"/>
          </a:solidFill>
          <a:ln/>
        </p:spPr>
      </p:sp>
      <p:sp>
        <p:nvSpPr>
          <p:cNvPr id="27" name="Passed dot"/>
          <p:cNvSpPr/>
          <p:nvPr/>
        </p:nvSpPr>
        <p:spPr>
          <a:xfrm>
            <a:off x="11228832" y="5029200"/>
            <a:ext cx="201168" cy="201168"/>
          </a:xfrm>
          <a:prstGeom prst="ellipse">
            <a:avLst/>
          </a:prstGeom>
          <a:solidFill>
            <a:schemeClr val="accent4"/>
          </a:solidFill>
          <a:ln/>
        </p:spPr>
      </p:sp>
      <p:sp>
        <p:nvSpPr>
          <p:cNvPr id="28" name="Text 24"/>
          <p:cNvSpPr txBox="1"/>
          <p:nvPr/>
        </p:nvSpPr>
        <p:spPr>
          <a:xfrm>
            <a:off x="9829800" y="5001768"/>
            <a:ext cx="1280160" cy="320040"/>
          </a:xfrm>
          <a:prstGeom prst="rect">
            <a:avLst/>
          </a:prstGeom>
          <a:noFill/>
          <a:ln/>
        </p:spPr>
        <p:txBody>
          <a:bodyPr wrap="square" lIns="0" tIns="0" rIns="0" bIns="0" rtlCol="0" anchor="t"/>
          <a:lstStyle/>
          <a:p>
            <a:pPr indent="0" marL="0">
              <a:buNone/>
            </a:pPr>
            <a:r>
              <a:rPr lang="en-US" sz="1500" b="1" dirty="0">
                <a:solidFill>
                  <a:schemeClr val="tx1"/>
                </a:solidFill>
              </a:rPr>
              <a:t>deploy</a:t>
            </a:r>
            <a:endParaRPr lang="en-US" sz="1500" dirty="0"/>
          </a:p>
        </p:txBody>
      </p:sp>
      <p:sp>
        <p:nvSpPr>
          <p:cNvPr id="29" name="Text 25"/>
          <p:cNvSpPr txBox="1"/>
          <p:nvPr/>
        </p:nvSpPr>
        <p:spPr>
          <a:xfrm>
            <a:off x="9829800" y="5394960"/>
            <a:ext cx="1645920" cy="731520"/>
          </a:xfrm>
          <a:prstGeom prst="rect">
            <a:avLst/>
          </a:prstGeom>
          <a:noFill/>
          <a:ln/>
        </p:spPr>
        <p:txBody>
          <a:bodyPr wrap="square" lIns="0" tIns="0" rIns="0" bIns="0" rtlCol="0" anchor="ctr"/>
          <a:lstStyle/>
          <a:p>
            <a:pPr indent="0" marL="0">
              <a:buNone/>
            </a:pPr>
            <a:r>
              <a:rPr lang="en-US" sz="4000" b="1" dirty="0">
                <a:solidFill>
                  <a:schemeClr val="tx2"/>
                </a:solidFill>
                <a:latin typeface="+mj-lt" pitchFamily="34" charset="0"/>
                <a:ea typeface="+mj-lt" pitchFamily="34" charset="-122"/>
                <a:cs typeface="+mj-lt" pitchFamily="34" charset="-120"/>
              </a:rPr>
              <a:t>39s</a:t>
            </a:r>
            <a:endParaRPr lang="en-US" sz="40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Docker: two images, one command</a:t>
            </a:r>
            <a:endParaRPr lang="en-US" sz="3400" dirty="0"/>
          </a:p>
        </p:txBody>
      </p:sp>
      <p:sp>
        <p:nvSpPr>
          <p:cNvPr id="3" name="Frontend image card"/>
          <p:cNvSpPr/>
          <p:nvPr/>
        </p:nvSpPr>
        <p:spPr>
          <a:xfrm>
            <a:off x="548640" y="1371600"/>
            <a:ext cx="4754880" cy="2148840"/>
          </a:xfrm>
          <a:prstGeom prst="roundRect">
            <a:avLst>
              <a:gd name="adj" fmla="val 4255"/>
            </a:avLst>
          </a:prstGeom>
          <a:solidFill>
            <a:schemeClr val="bg2"/>
          </a:solidFill>
          <a:ln/>
        </p:spPr>
      </p:sp>
      <p:sp>
        <p:nvSpPr>
          <p:cNvPr id="4" name="Text 2"/>
          <p:cNvSpPr txBox="1"/>
          <p:nvPr/>
        </p:nvSpPr>
        <p:spPr>
          <a:xfrm>
            <a:off x="777240" y="1481328"/>
            <a:ext cx="4297680" cy="32004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Frontend image</a:t>
            </a:r>
            <a:endParaRPr lang="en-US" sz="1800" dirty="0"/>
          </a:p>
        </p:txBody>
      </p:sp>
      <p:sp>
        <p:nvSpPr>
          <p:cNvPr id="5" name="Box Stage 1"/>
          <p:cNvSpPr/>
          <p:nvPr/>
        </p:nvSpPr>
        <p:spPr>
          <a:xfrm>
            <a:off x="777240" y="1920240"/>
            <a:ext cx="1920240" cy="868680"/>
          </a:xfrm>
          <a:prstGeom prst="roundRect">
            <a:avLst>
              <a:gd name="adj" fmla="val 10526"/>
            </a:avLst>
          </a:prstGeom>
          <a:solidFill>
            <a:schemeClr val="bg1"/>
          </a:solidFill>
          <a:ln/>
        </p:spPr>
        <p:txBody>
          <a:bodyPr wrap="square" lIns="762" tIns="762" rIns="762" bIns="762" rtlCol="0" anchor="ctr"/>
          <a:lstStyle/>
          <a:p>
            <a:pPr algn="ctr" indent="0" marL="0">
              <a:buNone/>
            </a:pPr>
            <a:r>
              <a:rPr lang="en-US" sz="1500" b="1" dirty="0">
                <a:solidFill>
                  <a:schemeClr val="tx1"/>
                </a:solidFill>
              </a:rPr>
              <a:t>Stage 1</a:t>
            </a:r>
            <a:endParaRPr lang="en-US" sz="1500" dirty="0"/>
          </a:p>
          <a:p>
            <a:pPr algn="ctr" indent="0" marL="0">
              <a:buNone/>
            </a:pPr>
            <a:r>
              <a:rPr lang="en-US" sz="1200" dirty="0">
                <a:solidFill>
                  <a:schemeClr val="tx1"/>
                </a:solidFill>
              </a:rPr>
              <a:t>node:20-alpine builds the React app</a:t>
            </a:r>
            <a:endParaRPr lang="en-US" sz="1500" dirty="0"/>
          </a:p>
        </p:txBody>
      </p:sp>
      <p:sp>
        <p:nvSpPr>
          <p:cNvPr id="6" name="Arrow"/>
          <p:cNvSpPr/>
          <p:nvPr/>
        </p:nvSpPr>
        <p:spPr>
          <a:xfrm>
            <a:off x="2697480" y="2359152"/>
            <a:ext cx="365760" cy="0"/>
          </a:xfrm>
          <a:prstGeom prst="line">
            <a:avLst/>
          </a:prstGeom>
          <a:noFill/>
          <a:ln w="25400">
            <a:solidFill>
              <a:schemeClr val="accent5"/>
            </a:solidFill>
            <a:prstDash val="solid"/>
            <a:tailEnd type="triangle"/>
          </a:ln>
        </p:spPr>
      </p:sp>
      <p:sp>
        <p:nvSpPr>
          <p:cNvPr id="7" name="Box Stage 2"/>
          <p:cNvSpPr/>
          <p:nvPr/>
        </p:nvSpPr>
        <p:spPr>
          <a:xfrm>
            <a:off x="3063240" y="1920240"/>
            <a:ext cx="2011680" cy="868680"/>
          </a:xfrm>
          <a:prstGeom prst="roundRect">
            <a:avLst>
              <a:gd name="adj" fmla="val 10526"/>
            </a:avLst>
          </a:prstGeom>
          <a:solidFill>
            <a:schemeClr val="bg1"/>
          </a:solidFill>
          <a:ln/>
        </p:spPr>
        <p:txBody>
          <a:bodyPr wrap="square" lIns="762" tIns="762" rIns="762" bIns="762" rtlCol="0" anchor="ctr"/>
          <a:lstStyle/>
          <a:p>
            <a:pPr algn="ctr" indent="0" marL="0">
              <a:buNone/>
            </a:pPr>
            <a:r>
              <a:rPr lang="en-US" sz="1500" b="1" dirty="0">
                <a:solidFill>
                  <a:schemeClr val="tx1"/>
                </a:solidFill>
              </a:rPr>
              <a:t>Stage 2</a:t>
            </a:r>
            <a:endParaRPr lang="en-US" sz="1500" dirty="0"/>
          </a:p>
          <a:p>
            <a:pPr algn="ctr" indent="0" marL="0">
              <a:buNone/>
            </a:pPr>
            <a:r>
              <a:rPr lang="en-US" sz="1200" dirty="0">
                <a:solidFill>
                  <a:schemeClr val="tx1"/>
                </a:solidFill>
              </a:rPr>
              <a:t>nginx-unprivileged serves only the build</a:t>
            </a:r>
            <a:endParaRPr lang="en-US" sz="1500" dirty="0"/>
          </a:p>
        </p:txBody>
      </p:sp>
      <p:sp>
        <p:nvSpPr>
          <p:cNvPr id="8" name="Text 6"/>
          <p:cNvSpPr txBox="1"/>
          <p:nvPr/>
        </p:nvSpPr>
        <p:spPr>
          <a:xfrm>
            <a:off x="777240" y="2971800"/>
            <a:ext cx="4297680" cy="320040"/>
          </a:xfrm>
          <a:prstGeom prst="rect">
            <a:avLst/>
          </a:prstGeom>
          <a:noFill/>
          <a:ln/>
        </p:spPr>
        <p:txBody>
          <a:bodyPr wrap="square" lIns="0" tIns="0" rIns="0" bIns="0" rtlCol="0" anchor="t"/>
          <a:lstStyle/>
          <a:p>
            <a:pPr indent="0" marL="0">
              <a:buNone/>
            </a:pPr>
            <a:r>
              <a:rPr lang="en-US" sz="1500" b="1" dirty="0">
                <a:solidFill>
                  <a:schemeClr val="tx1"/>
                </a:solidFill>
              </a:rPr>
              <a:t>Runs as user 101, not root</a:t>
            </a:r>
            <a:endParaRPr lang="en-US" sz="1500" dirty="0"/>
          </a:p>
        </p:txBody>
      </p:sp>
      <p:sp>
        <p:nvSpPr>
          <p:cNvPr id="9" name="Backend image card"/>
          <p:cNvSpPr/>
          <p:nvPr/>
        </p:nvSpPr>
        <p:spPr>
          <a:xfrm>
            <a:off x="548640" y="3703320"/>
            <a:ext cx="4754880" cy="1188720"/>
          </a:xfrm>
          <a:prstGeom prst="roundRect">
            <a:avLst>
              <a:gd name="adj" fmla="val 7692"/>
            </a:avLst>
          </a:prstGeom>
          <a:solidFill>
            <a:schemeClr val="bg2"/>
          </a:solidFill>
          <a:ln/>
        </p:spPr>
      </p:sp>
      <p:sp>
        <p:nvSpPr>
          <p:cNvPr id="10" name="Text 8"/>
          <p:cNvSpPr txBox="1"/>
          <p:nvPr/>
        </p:nvSpPr>
        <p:spPr>
          <a:xfrm>
            <a:off x="777240" y="3813048"/>
            <a:ext cx="4297680" cy="32004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Backend image</a:t>
            </a:r>
            <a:endParaRPr lang="en-US" sz="1800" dirty="0"/>
          </a:p>
        </p:txBody>
      </p:sp>
      <p:sp>
        <p:nvSpPr>
          <p:cNvPr id="11" name="Text 9"/>
          <p:cNvSpPr txBox="1"/>
          <p:nvPr/>
        </p:nvSpPr>
        <p:spPr>
          <a:xfrm>
            <a:off x="777240" y="4251960"/>
            <a:ext cx="4297680" cy="365760"/>
          </a:xfrm>
          <a:prstGeom prst="rect">
            <a:avLst/>
          </a:prstGeom>
          <a:noFill/>
          <a:ln/>
        </p:spPr>
        <p:txBody>
          <a:bodyPr wrap="square" lIns="0" tIns="0" rIns="0" bIns="0" rtlCol="0" anchor="t"/>
          <a:lstStyle/>
          <a:p>
            <a:pPr indent="0" marL="0">
              <a:buNone/>
            </a:pPr>
            <a:r>
              <a:rPr lang="en-US" sz="1500" dirty="0">
                <a:solidFill>
                  <a:schemeClr val="tx1"/>
                </a:solidFill>
              </a:rPr>
              <a:t>python:3.12-slim, runs as user 10001</a:t>
            </a:r>
            <a:endParaRPr lang="en-US" sz="1500" dirty="0"/>
          </a:p>
        </p:txBody>
      </p:sp>
      <p:sp>
        <p:nvSpPr>
          <p:cNvPr id="12" name="Compose card"/>
          <p:cNvSpPr/>
          <p:nvPr/>
        </p:nvSpPr>
        <p:spPr>
          <a:xfrm>
            <a:off x="548640" y="5074920"/>
            <a:ext cx="4754880" cy="1188720"/>
          </a:xfrm>
          <a:prstGeom prst="roundRect">
            <a:avLst>
              <a:gd name="adj" fmla="val 7692"/>
            </a:avLst>
          </a:prstGeom>
          <a:solidFill>
            <a:schemeClr val="bg2"/>
          </a:solidFill>
          <a:ln/>
        </p:spPr>
      </p:sp>
      <p:sp>
        <p:nvSpPr>
          <p:cNvPr id="13" name="Text 11"/>
          <p:cNvSpPr txBox="1"/>
          <p:nvPr/>
        </p:nvSpPr>
        <p:spPr>
          <a:xfrm>
            <a:off x="777240" y="5184648"/>
            <a:ext cx="4297680" cy="32004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docker compose up --build</a:t>
            </a:r>
            <a:endParaRPr lang="en-US" sz="1600" dirty="0"/>
          </a:p>
        </p:txBody>
      </p:sp>
      <p:sp>
        <p:nvSpPr>
          <p:cNvPr id="14" name="Text 12"/>
          <p:cNvSpPr txBox="1"/>
          <p:nvPr/>
        </p:nvSpPr>
        <p:spPr>
          <a:xfrm>
            <a:off x="777240" y="5577840"/>
            <a:ext cx="4297680" cy="548640"/>
          </a:xfrm>
          <a:prstGeom prst="rect">
            <a:avLst/>
          </a:prstGeom>
          <a:noFill/>
          <a:ln/>
        </p:spPr>
        <p:txBody>
          <a:bodyPr wrap="square" lIns="0" tIns="0" rIns="0" bIns="0" rtlCol="0" anchor="t"/>
          <a:lstStyle/>
          <a:p>
            <a:pPr indent="0" marL="0">
              <a:buNone/>
            </a:pPr>
            <a:r>
              <a:rPr lang="en-US" sz="1400" dirty="0">
                <a:solidFill>
                  <a:schemeClr val="tx1"/>
                </a:solidFill>
              </a:rPr>
              <a:t>Starts postgres, backend and frontend. The app is on localhost:3000.</a:t>
            </a:r>
            <a:endParaRPr lang="en-US" sz="1400" dirty="0"/>
          </a:p>
        </p:txBody>
      </p:sp>
      <p:sp>
        <p:nvSpPr>
          <p:cNvPr id="15" name="Frame 03-compose-up"/>
          <p:cNvSpPr/>
          <p:nvPr/>
        </p:nvSpPr>
        <p:spPr>
          <a:xfrm>
            <a:off x="5660136" y="1362456"/>
            <a:ext cx="6007608" cy="3774839"/>
          </a:xfrm>
          <a:prstGeom prst="roundRect">
            <a:avLst>
              <a:gd name="adj" fmla="val 2180"/>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16" name="Screenshot 03-compose-up" descr="docker compose up --build log">    </p:cNvPr>
          <p:cNvPicPr>
            <a:picLocks noChangeAspect="1"/>
          </p:cNvPicPr>
          <p:nvPr/>
        </p:nvPicPr>
        <p:blipFill>
          <a:blip r:embed="rId1"/>
          <a:stretch>
            <a:fillRect/>
          </a:stretch>
        </p:blipFill>
        <p:spPr>
          <a:xfrm>
            <a:off x="5715000" y="1417320"/>
            <a:ext cx="5897880" cy="3665111"/>
          </a:xfrm>
          <a:prstGeom prst="rect">
            <a:avLst/>
          </a:prstGeom>
        </p:spPr>
      </p:pic>
      <p:sp>
        <p:nvSpPr>
          <p:cNvPr id="17" name="Frame compose-backend"/>
          <p:cNvSpPr/>
          <p:nvPr/>
        </p:nvSpPr>
        <p:spPr>
          <a:xfrm>
            <a:off x="5660136" y="5301887"/>
            <a:ext cx="6007608" cy="638665"/>
          </a:xfrm>
          <a:prstGeom prst="roundRect">
            <a:avLst>
              <a:gd name="adj" fmla="val 12886"/>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18" name="Screenshot compose-backend" descr="Uvicorn running on port 8000 in the compose log">    </p:cNvPr>
          <p:cNvPicPr>
            <a:picLocks noChangeAspect="1"/>
          </p:cNvPicPr>
          <p:nvPr/>
        </p:nvPicPr>
        <p:blipFill>
          <a:blip r:embed="rId2"/>
          <a:stretch>
            <a:fillRect/>
          </a:stretch>
        </p:blipFill>
        <p:spPr>
          <a:xfrm>
            <a:off x="5715000" y="5356751"/>
            <a:ext cx="5897880" cy="528937"/>
          </a:xfrm>
          <a:prstGeom prst="rect">
            <a:avLst/>
          </a:prstGeom>
        </p:spPr>
      </p:pic>
      <p:sp>
        <p:nvSpPr>
          <p:cNvPr id="19" name="Text 15"/>
          <p:cNvSpPr txBox="1"/>
          <p:nvPr/>
        </p:nvSpPr>
        <p:spPr>
          <a:xfrm>
            <a:off x="5715000" y="6086856"/>
            <a:ext cx="5897880" cy="274320"/>
          </a:xfrm>
          <a:prstGeom prst="rect">
            <a:avLst/>
          </a:prstGeom>
          <a:noFill/>
          <a:ln/>
        </p:spPr>
        <p:txBody>
          <a:bodyPr wrap="square" lIns="0" tIns="0" rIns="0" bIns="0" rtlCol="0" anchor="t"/>
          <a:lstStyle/>
          <a:p>
            <a:pPr indent="0" marL="0">
              <a:buNone/>
            </a:pPr>
            <a:r>
              <a:rPr lang="en-US" sz="1300" dirty="0">
                <a:solidFill>
                  <a:schemeClr val="accent5"/>
                </a:solidFill>
              </a:rPr>
              <a:t>Postgres healthy first, then the backend runs its migration and starts Uvicorn</a:t>
            </a:r>
            <a:endParaRPr lang="en-US" sz="13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Security scan: Trivy</a:t>
            </a:r>
            <a:endParaRPr lang="en-US" sz="3400" dirty="0"/>
          </a:p>
        </p:txBody>
      </p:sp>
      <p:sp>
        <p:nvSpPr>
          <p:cNvPr id="3" name="Backend image card"/>
          <p:cNvSpPr/>
          <p:nvPr/>
        </p:nvSpPr>
        <p:spPr>
          <a:xfrm>
            <a:off x="548640" y="1325880"/>
            <a:ext cx="5394960" cy="4206240"/>
          </a:xfrm>
          <a:prstGeom prst="roundRect">
            <a:avLst>
              <a:gd name="adj" fmla="val 2174"/>
            </a:avLst>
          </a:prstGeom>
          <a:solidFill>
            <a:schemeClr val="bg2"/>
          </a:solidFill>
          <a:ln/>
        </p:spPr>
      </p:sp>
      <p:sp>
        <p:nvSpPr>
          <p:cNvPr id="4" name="Text 2"/>
          <p:cNvSpPr txBox="1"/>
          <p:nvPr/>
        </p:nvSpPr>
        <p:spPr>
          <a:xfrm>
            <a:off x="822960" y="1444752"/>
            <a:ext cx="4846320" cy="32004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Backend image</a:t>
            </a:r>
            <a:endParaRPr lang="en-US" sz="1800" dirty="0"/>
          </a:p>
        </p:txBody>
      </p:sp>
      <p:sp>
        <p:nvSpPr>
          <p:cNvPr id="5" name="Before count"/>
          <p:cNvSpPr txBox="1"/>
          <p:nvPr/>
        </p:nvSpPr>
        <p:spPr>
          <a:xfrm>
            <a:off x="822960" y="1828800"/>
            <a:ext cx="1280160" cy="914400"/>
          </a:xfrm>
          <a:prstGeom prst="rect">
            <a:avLst/>
          </a:prstGeom>
          <a:noFill/>
          <a:ln/>
        </p:spPr>
        <p:txBody>
          <a:bodyPr wrap="square" lIns="0" tIns="0" rIns="0" bIns="0" rtlCol="0" anchor="ctr"/>
          <a:lstStyle/>
          <a:p>
            <a:pPr indent="0" marL="0">
              <a:buNone/>
            </a:pPr>
            <a:r>
              <a:rPr lang="en-US" sz="6600" b="1" dirty="0">
                <a:solidFill>
                  <a:schemeClr val="accent3"/>
                </a:solidFill>
                <a:latin typeface="+mj-lt" pitchFamily="34" charset="0"/>
                <a:ea typeface="+mj-lt" pitchFamily="34" charset="-122"/>
                <a:cs typeface="+mj-lt" pitchFamily="34" charset="-120"/>
              </a:rPr>
              <a:t>3</a:t>
            </a:r>
            <a:endParaRPr lang="en-US" sz="6600" dirty="0"/>
          </a:p>
        </p:txBody>
      </p:sp>
      <p:sp>
        <p:nvSpPr>
          <p:cNvPr id="6" name="Arrow to zero"/>
          <p:cNvSpPr/>
          <p:nvPr/>
        </p:nvSpPr>
        <p:spPr>
          <a:xfrm>
            <a:off x="2148840" y="2084832"/>
            <a:ext cx="685800" cy="411480"/>
          </a:xfrm>
          <a:prstGeom prst="rightArrow">
            <a:avLst/>
          </a:prstGeom>
          <a:solidFill>
            <a:schemeClr val="accent5"/>
          </a:solidFill>
          <a:ln/>
        </p:spPr>
      </p:sp>
      <p:sp>
        <p:nvSpPr>
          <p:cNvPr id="7" name="After count"/>
          <p:cNvSpPr txBox="1"/>
          <p:nvPr/>
        </p:nvSpPr>
        <p:spPr>
          <a:xfrm>
            <a:off x="2971800" y="1828800"/>
            <a:ext cx="960120" cy="914400"/>
          </a:xfrm>
          <a:prstGeom prst="rect">
            <a:avLst/>
          </a:prstGeom>
          <a:noFill/>
          <a:ln/>
        </p:spPr>
        <p:txBody>
          <a:bodyPr wrap="square" lIns="0" tIns="0" rIns="0" bIns="0" rtlCol="0" anchor="ctr"/>
          <a:lstStyle/>
          <a:p>
            <a:pPr indent="0" marL="0">
              <a:buNone/>
            </a:pPr>
            <a:r>
              <a:rPr lang="en-US" sz="6600" b="1" dirty="0">
                <a:solidFill>
                  <a:schemeClr val="accent4"/>
                </a:solidFill>
                <a:latin typeface="+mj-lt" pitchFamily="34" charset="0"/>
                <a:ea typeface="+mj-lt" pitchFamily="34" charset="-122"/>
                <a:cs typeface="+mj-lt" pitchFamily="34" charset="-120"/>
              </a:rPr>
              <a:t>0</a:t>
            </a:r>
            <a:endParaRPr lang="en-US" sz="6600" dirty="0"/>
          </a:p>
        </p:txBody>
      </p:sp>
      <p:sp>
        <p:nvSpPr>
          <p:cNvPr id="8" name="Text 6"/>
          <p:cNvSpPr txBox="1"/>
          <p:nvPr/>
        </p:nvSpPr>
        <p:spPr>
          <a:xfrm>
            <a:off x="3977640" y="2011680"/>
            <a:ext cx="1737360" cy="548640"/>
          </a:xfrm>
          <a:prstGeom prst="rect">
            <a:avLst/>
          </a:prstGeom>
          <a:noFill/>
          <a:ln/>
        </p:spPr>
        <p:txBody>
          <a:bodyPr wrap="square" lIns="0" tIns="0" rIns="0" bIns="0" rtlCol="0" anchor="ctr"/>
          <a:lstStyle/>
          <a:p>
            <a:pPr indent="0" marL="0">
              <a:buNone/>
            </a:pPr>
            <a:r>
              <a:rPr lang="en-US" sz="1400" dirty="0">
                <a:solidFill>
                  <a:schemeClr val="accent5"/>
                </a:solidFill>
              </a:rPr>
              <a:t>HIGH findings</a:t>
            </a:r>
            <a:endParaRPr lang="en-US" sz="1400" dirty="0"/>
          </a:p>
        </p:txBody>
      </p:sp>
      <p:sp>
        <p:nvSpPr>
          <p:cNvPr id="9" name="Text 7"/>
          <p:cNvSpPr txBox="1"/>
          <p:nvPr/>
        </p:nvSpPr>
        <p:spPr>
          <a:xfrm>
            <a:off x="822960" y="2926080"/>
            <a:ext cx="4846320" cy="777240"/>
          </a:xfrm>
          <a:prstGeom prst="rect">
            <a:avLst/>
          </a:prstGeom>
          <a:noFill/>
          <a:ln/>
        </p:spPr>
        <p:txBody>
          <a:bodyPr wrap="square" lIns="0" tIns="0" rIns="0" bIns="0" rtlCol="0" anchor="t"/>
          <a:lstStyle/>
          <a:p>
            <a:pPr indent="0" marL="0">
              <a:buNone/>
            </a:pPr>
            <a:r>
              <a:rPr lang="en-US" sz="1500" dirty="0">
                <a:solidFill>
                  <a:schemeClr val="tx1"/>
                </a:solidFill>
              </a:rPr>
              <a:t>Starlette 0.41.3, for example CVE-2025-62727: crafted Range headers can be used for a denial of service.</a:t>
            </a:r>
            <a:endParaRPr lang="en-US" sz="1500" dirty="0"/>
          </a:p>
        </p:txBody>
      </p:sp>
      <p:sp>
        <p:nvSpPr>
          <p:cNvPr id="10" name="Text 8"/>
          <p:cNvSpPr txBox="1"/>
          <p:nvPr/>
        </p:nvSpPr>
        <p:spPr>
          <a:xfrm>
            <a:off x="822960" y="3749040"/>
            <a:ext cx="4846320" cy="457200"/>
          </a:xfrm>
          <a:prstGeom prst="rect">
            <a:avLst/>
          </a:prstGeom>
          <a:noFill/>
          <a:ln/>
        </p:spPr>
        <p:txBody>
          <a:bodyPr wrap="square" lIns="0" tIns="0" rIns="0" bIns="0" rtlCol="0" anchor="t"/>
          <a:lstStyle/>
          <a:p>
            <a:pPr indent="0" marL="0">
              <a:buNone/>
            </a:pPr>
            <a:r>
              <a:rPr lang="en-US" sz="1500" b="1" dirty="0">
                <a:solidFill>
                  <a:schemeClr val="tx1"/>
                </a:solidFill>
              </a:rPr>
              <a:t>Fix: upgraded FastAPI, which pulled in a newer Starlette.</a:t>
            </a:r>
            <a:endParaRPr lang="en-US" sz="1500" dirty="0"/>
          </a:p>
        </p:txBody>
      </p:sp>
      <p:sp>
        <p:nvSpPr>
          <p:cNvPr id="11" name="Frame trivy-be"/>
          <p:cNvSpPr/>
          <p:nvPr/>
        </p:nvSpPr>
        <p:spPr>
          <a:xfrm>
            <a:off x="768096" y="4379976"/>
            <a:ext cx="4956048" cy="693179"/>
          </a:xfrm>
          <a:prstGeom prst="roundRect">
            <a:avLst>
              <a:gd name="adj" fmla="val 11872"/>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12" name="Screenshot trivy-be" descr="Trivy report summary for the Backend image showing 0 vulnerabilities">    </p:cNvPr>
          <p:cNvPicPr>
            <a:picLocks noChangeAspect="1"/>
          </p:cNvPicPr>
          <p:nvPr/>
        </p:nvPicPr>
        <p:blipFill>
          <a:blip r:embed="rId1"/>
          <a:stretch>
            <a:fillRect/>
          </a:stretch>
        </p:blipFill>
        <p:spPr>
          <a:xfrm>
            <a:off x="822960" y="4434840"/>
            <a:ext cx="4846320" cy="583451"/>
          </a:xfrm>
          <a:prstGeom prst="rect">
            <a:avLst/>
          </a:prstGeom>
        </p:spPr>
      </p:pic>
      <p:sp>
        <p:nvSpPr>
          <p:cNvPr id="13" name="Frontend image card"/>
          <p:cNvSpPr/>
          <p:nvPr/>
        </p:nvSpPr>
        <p:spPr>
          <a:xfrm>
            <a:off x="6245352" y="1325880"/>
            <a:ext cx="5394960" cy="4206240"/>
          </a:xfrm>
          <a:prstGeom prst="roundRect">
            <a:avLst>
              <a:gd name="adj" fmla="val 2174"/>
            </a:avLst>
          </a:prstGeom>
          <a:solidFill>
            <a:schemeClr val="bg2"/>
          </a:solidFill>
          <a:ln/>
        </p:spPr>
      </p:sp>
      <p:sp>
        <p:nvSpPr>
          <p:cNvPr id="14" name="Text 11"/>
          <p:cNvSpPr txBox="1"/>
          <p:nvPr/>
        </p:nvSpPr>
        <p:spPr>
          <a:xfrm>
            <a:off x="6519672" y="1444752"/>
            <a:ext cx="4846320" cy="32004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Frontend image</a:t>
            </a:r>
            <a:endParaRPr lang="en-US" sz="1800" dirty="0"/>
          </a:p>
        </p:txBody>
      </p:sp>
      <p:sp>
        <p:nvSpPr>
          <p:cNvPr id="15" name="Before count"/>
          <p:cNvSpPr txBox="1"/>
          <p:nvPr/>
        </p:nvSpPr>
        <p:spPr>
          <a:xfrm>
            <a:off x="6519672" y="1828800"/>
            <a:ext cx="1280160" cy="914400"/>
          </a:xfrm>
          <a:prstGeom prst="rect">
            <a:avLst/>
          </a:prstGeom>
          <a:noFill/>
          <a:ln/>
        </p:spPr>
        <p:txBody>
          <a:bodyPr wrap="square" lIns="0" tIns="0" rIns="0" bIns="0" rtlCol="0" anchor="ctr"/>
          <a:lstStyle/>
          <a:p>
            <a:pPr indent="0" marL="0">
              <a:buNone/>
            </a:pPr>
            <a:r>
              <a:rPr lang="en-US" sz="6600" b="1" dirty="0">
                <a:solidFill>
                  <a:schemeClr val="accent3"/>
                </a:solidFill>
                <a:latin typeface="+mj-lt" pitchFamily="34" charset="0"/>
                <a:ea typeface="+mj-lt" pitchFamily="34" charset="-122"/>
                <a:cs typeface="+mj-lt" pitchFamily="34" charset="-120"/>
              </a:rPr>
              <a:t>42</a:t>
            </a:r>
            <a:endParaRPr lang="en-US" sz="6600" dirty="0"/>
          </a:p>
        </p:txBody>
      </p:sp>
      <p:sp>
        <p:nvSpPr>
          <p:cNvPr id="16" name="Arrow to zero"/>
          <p:cNvSpPr/>
          <p:nvPr/>
        </p:nvSpPr>
        <p:spPr>
          <a:xfrm>
            <a:off x="7845552" y="2084832"/>
            <a:ext cx="685800" cy="411480"/>
          </a:xfrm>
          <a:prstGeom prst="rightArrow">
            <a:avLst/>
          </a:prstGeom>
          <a:solidFill>
            <a:schemeClr val="accent5"/>
          </a:solidFill>
          <a:ln/>
        </p:spPr>
      </p:sp>
      <p:sp>
        <p:nvSpPr>
          <p:cNvPr id="17" name="After count"/>
          <p:cNvSpPr txBox="1"/>
          <p:nvPr/>
        </p:nvSpPr>
        <p:spPr>
          <a:xfrm>
            <a:off x="8668512" y="1828800"/>
            <a:ext cx="960120" cy="914400"/>
          </a:xfrm>
          <a:prstGeom prst="rect">
            <a:avLst/>
          </a:prstGeom>
          <a:noFill/>
          <a:ln/>
        </p:spPr>
        <p:txBody>
          <a:bodyPr wrap="square" lIns="0" tIns="0" rIns="0" bIns="0" rtlCol="0" anchor="ctr"/>
          <a:lstStyle/>
          <a:p>
            <a:pPr indent="0" marL="0">
              <a:buNone/>
            </a:pPr>
            <a:r>
              <a:rPr lang="en-US" sz="6600" b="1" dirty="0">
                <a:solidFill>
                  <a:schemeClr val="accent4"/>
                </a:solidFill>
                <a:latin typeface="+mj-lt" pitchFamily="34" charset="0"/>
                <a:ea typeface="+mj-lt" pitchFamily="34" charset="-122"/>
                <a:cs typeface="+mj-lt" pitchFamily="34" charset="-120"/>
              </a:rPr>
              <a:t>0</a:t>
            </a:r>
            <a:endParaRPr lang="en-US" sz="6600" dirty="0"/>
          </a:p>
        </p:txBody>
      </p:sp>
      <p:sp>
        <p:nvSpPr>
          <p:cNvPr id="18" name="Text 15"/>
          <p:cNvSpPr txBox="1"/>
          <p:nvPr/>
        </p:nvSpPr>
        <p:spPr>
          <a:xfrm>
            <a:off x="9674352" y="2011680"/>
            <a:ext cx="1737360" cy="548640"/>
          </a:xfrm>
          <a:prstGeom prst="rect">
            <a:avLst/>
          </a:prstGeom>
          <a:noFill/>
          <a:ln/>
        </p:spPr>
        <p:txBody>
          <a:bodyPr wrap="square" lIns="0" tIns="0" rIns="0" bIns="0" rtlCol="0" anchor="ctr"/>
          <a:lstStyle/>
          <a:p>
            <a:pPr indent="0" marL="0">
              <a:buNone/>
            </a:pPr>
            <a:r>
              <a:rPr lang="en-US" sz="1400" dirty="0">
                <a:solidFill>
                  <a:schemeClr val="accent5"/>
                </a:solidFill>
              </a:rPr>
              <a:t>HIGH and CRITICAL findings</a:t>
            </a:r>
            <a:endParaRPr lang="en-US" sz="1400" dirty="0"/>
          </a:p>
        </p:txBody>
      </p:sp>
      <p:sp>
        <p:nvSpPr>
          <p:cNvPr id="19" name="Text 16"/>
          <p:cNvSpPr txBox="1"/>
          <p:nvPr/>
        </p:nvSpPr>
        <p:spPr>
          <a:xfrm>
            <a:off x="6519672" y="2926080"/>
            <a:ext cx="4846320" cy="777240"/>
          </a:xfrm>
          <a:prstGeom prst="rect">
            <a:avLst/>
          </a:prstGeom>
          <a:noFill/>
          <a:ln/>
        </p:spPr>
        <p:txBody>
          <a:bodyPr wrap="square" lIns="0" tIns="0" rIns="0" bIns="0" rtlCol="0" anchor="t"/>
          <a:lstStyle/>
          <a:p>
            <a:pPr indent="0" marL="0">
              <a:buNone/>
            </a:pPr>
            <a:r>
              <a:rPr lang="en-US" sz="1500" dirty="0">
                <a:solidFill>
                  <a:schemeClr val="tx1"/>
                </a:solidFill>
              </a:rPr>
              <a:t>The old Alpine nginx base had problems in OpenSSL, libexpat and libxml2.</a:t>
            </a:r>
            <a:endParaRPr lang="en-US" sz="1500" dirty="0"/>
          </a:p>
        </p:txBody>
      </p:sp>
      <p:sp>
        <p:nvSpPr>
          <p:cNvPr id="20" name="Text 17"/>
          <p:cNvSpPr txBox="1"/>
          <p:nvPr/>
        </p:nvSpPr>
        <p:spPr>
          <a:xfrm>
            <a:off x="6519672" y="3749040"/>
            <a:ext cx="4846320" cy="457200"/>
          </a:xfrm>
          <a:prstGeom prst="rect">
            <a:avLst/>
          </a:prstGeom>
          <a:noFill/>
          <a:ln/>
        </p:spPr>
        <p:txBody>
          <a:bodyPr wrap="square" lIns="0" tIns="0" rIns="0" bIns="0" rtlCol="0" anchor="t"/>
          <a:lstStyle/>
          <a:p>
            <a:pPr indent="0" marL="0">
              <a:buNone/>
            </a:pPr>
            <a:r>
              <a:rPr lang="en-US" sz="1500" b="1" dirty="0">
                <a:solidFill>
                  <a:schemeClr val="tx1"/>
                </a:solidFill>
              </a:rPr>
              <a:t>Fix: moved to nginx-unprivileged:1.30.5-alpine.</a:t>
            </a:r>
            <a:endParaRPr lang="en-US" sz="1500" dirty="0"/>
          </a:p>
        </p:txBody>
      </p:sp>
      <p:sp>
        <p:nvSpPr>
          <p:cNvPr id="21" name="Frame trivy-fe"/>
          <p:cNvSpPr/>
          <p:nvPr/>
        </p:nvSpPr>
        <p:spPr>
          <a:xfrm>
            <a:off x="6464808" y="4379976"/>
            <a:ext cx="4956048" cy="733295"/>
          </a:xfrm>
          <a:prstGeom prst="roundRect">
            <a:avLst>
              <a:gd name="adj" fmla="val 11223"/>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22" name="Screenshot trivy-fe" descr="Trivy report summary for the Frontend image showing 0 vulnerabilities">    </p:cNvPr>
          <p:cNvPicPr>
            <a:picLocks noChangeAspect="1"/>
          </p:cNvPicPr>
          <p:nvPr/>
        </p:nvPicPr>
        <p:blipFill>
          <a:blip r:embed="rId2"/>
          <a:stretch>
            <a:fillRect/>
          </a:stretch>
        </p:blipFill>
        <p:spPr>
          <a:xfrm>
            <a:off x="6519672" y="4434840"/>
            <a:ext cx="4846320" cy="623567"/>
          </a:xfrm>
          <a:prstGeom prst="rect">
            <a:avLst/>
          </a:prstGeom>
        </p:spPr>
      </p:pic>
      <p:sp>
        <p:nvSpPr>
          <p:cNvPr id="23" name="Gate strip"/>
          <p:cNvSpPr/>
          <p:nvPr/>
        </p:nvSpPr>
        <p:spPr>
          <a:xfrm>
            <a:off x="548640" y="5715000"/>
            <a:ext cx="11091672" cy="566928"/>
          </a:xfrm>
          <a:prstGeom prst="roundRect">
            <a:avLst>
              <a:gd name="adj" fmla="val 16129"/>
            </a:avLst>
          </a:prstGeom>
          <a:solidFill>
            <a:schemeClr val="tx2"/>
          </a:solidFill>
          <a:ln/>
        </p:spPr>
      </p:sp>
      <p:sp>
        <p:nvSpPr>
          <p:cNvPr id="24" name="Text 20"/>
          <p:cNvSpPr txBox="1"/>
          <p:nvPr/>
        </p:nvSpPr>
        <p:spPr>
          <a:xfrm>
            <a:off x="822960" y="5715000"/>
            <a:ext cx="10607040" cy="566928"/>
          </a:xfrm>
          <a:prstGeom prst="rect">
            <a:avLst/>
          </a:prstGeom>
          <a:noFill/>
          <a:ln/>
        </p:spPr>
        <p:txBody>
          <a:bodyPr wrap="square" lIns="0" tIns="0" rIns="0" bIns="0" rtlCol="0" anchor="ctr"/>
          <a:lstStyle/>
          <a:p>
            <a:pPr indent="0" marL="0">
              <a:buNone/>
            </a:pPr>
            <a:r>
              <a:rPr lang="en-US" sz="1500" dirty="0">
                <a:solidFill>
                  <a:schemeClr val="bg1"/>
                </a:solidFill>
              </a:rPr>
              <a:t>In the pipeline: severity HIGH,CRITICAL, ignore-unfixed, exit-code 1. A fixable finding fails the job.</a:t>
            </a:r>
            <a:endParaRPr lang="en-US" sz="15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Registry: GHCR, tagged with the commit SHA</a:t>
            </a:r>
            <a:endParaRPr lang="en-US" sz="3400" dirty="0"/>
          </a:p>
        </p:txBody>
      </p:sp>
      <p:sp>
        <p:nvSpPr>
          <p:cNvPr id="3" name="Frame 06-ghcr-backend"/>
          <p:cNvSpPr/>
          <p:nvPr/>
        </p:nvSpPr>
        <p:spPr>
          <a:xfrm>
            <a:off x="493776" y="1362456"/>
            <a:ext cx="5550408" cy="3510153"/>
          </a:xfrm>
          <a:prstGeom prst="roundRect">
            <a:avLst>
              <a:gd name="adj" fmla="val 2345"/>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4" name="Screenshot 06-ghcr-backend" descr="GHCR package page of placetrack-backend">    </p:cNvPr>
          <p:cNvPicPr>
            <a:picLocks noChangeAspect="1"/>
          </p:cNvPicPr>
          <p:nvPr/>
        </p:nvPicPr>
        <p:blipFill>
          <a:blip r:embed="rId1"/>
          <a:stretch>
            <a:fillRect/>
          </a:stretch>
        </p:blipFill>
        <p:spPr>
          <a:xfrm>
            <a:off x="548640" y="1417320"/>
            <a:ext cx="5440680" cy="3400425"/>
          </a:xfrm>
          <a:prstGeom prst="rect">
            <a:avLst/>
          </a:prstGeom>
        </p:spPr>
      </p:pic>
      <p:sp>
        <p:nvSpPr>
          <p:cNvPr id="5" name="Frame ghcr-be-tags"/>
          <p:cNvSpPr/>
          <p:nvPr/>
        </p:nvSpPr>
        <p:spPr>
          <a:xfrm>
            <a:off x="493776" y="5037201"/>
            <a:ext cx="5550408" cy="813200"/>
          </a:xfrm>
          <a:prstGeom prst="roundRect">
            <a:avLst>
              <a:gd name="adj" fmla="val 10120"/>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6" name="Screenshot ghcr-be-tags" descr="Recent tagged image versions of placetrack-backend">    </p:cNvPr>
          <p:cNvPicPr>
            <a:picLocks noChangeAspect="1"/>
          </p:cNvPicPr>
          <p:nvPr/>
        </p:nvPicPr>
        <p:blipFill>
          <a:blip r:embed="rId2"/>
          <a:stretch>
            <a:fillRect/>
          </a:stretch>
        </p:blipFill>
        <p:spPr>
          <a:xfrm>
            <a:off x="548640" y="5092065"/>
            <a:ext cx="5440680" cy="703472"/>
          </a:xfrm>
          <a:prstGeom prst="rect">
            <a:avLst/>
          </a:prstGeom>
        </p:spPr>
      </p:pic>
      <p:sp>
        <p:nvSpPr>
          <p:cNvPr id="7" name="Text 3"/>
          <p:cNvSpPr txBox="1"/>
          <p:nvPr/>
        </p:nvSpPr>
        <p:spPr>
          <a:xfrm>
            <a:off x="548640" y="5978417"/>
            <a:ext cx="5440680" cy="274320"/>
          </a:xfrm>
          <a:prstGeom prst="rect">
            <a:avLst/>
          </a:prstGeom>
          <a:noFill/>
          <a:ln/>
        </p:spPr>
        <p:txBody>
          <a:bodyPr wrap="square" lIns="0" tIns="0" rIns="0" bIns="0" rtlCol="0" anchor="t"/>
          <a:lstStyle/>
          <a:p>
            <a:pPr indent="0" marL="0">
              <a:buNone/>
            </a:pPr>
            <a:r>
              <a:rPr lang="en-US" sz="1100" b="1" dirty="0">
                <a:solidFill>
                  <a:schemeClr val="tx2"/>
                </a:solidFill>
                <a:latin typeface="Courier New" pitchFamily="34" charset="0"/>
                <a:ea typeface="Courier New" pitchFamily="34" charset="-122"/>
                <a:cs typeface="Courier New" pitchFamily="34" charset="-120"/>
              </a:rPr>
              <a:t>ghcr.io/raghavendra1729-cell/placetrack-backend:&lt;commit SHA&gt;</a:t>
            </a:r>
            <a:endParaRPr lang="en-US" sz="1100" dirty="0"/>
          </a:p>
        </p:txBody>
      </p:sp>
      <p:sp>
        <p:nvSpPr>
          <p:cNvPr id="8" name="Frame 07-ghcr-frontend"/>
          <p:cNvSpPr/>
          <p:nvPr/>
        </p:nvSpPr>
        <p:spPr>
          <a:xfrm>
            <a:off x="6144768" y="1362456"/>
            <a:ext cx="5550408" cy="3510153"/>
          </a:xfrm>
          <a:prstGeom prst="roundRect">
            <a:avLst>
              <a:gd name="adj" fmla="val 2345"/>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9" name="Screenshot 07-ghcr-frontend" descr="GHCR package page of placetrack-frontend">    </p:cNvPr>
          <p:cNvPicPr>
            <a:picLocks noChangeAspect="1"/>
          </p:cNvPicPr>
          <p:nvPr/>
        </p:nvPicPr>
        <p:blipFill>
          <a:blip r:embed="rId3"/>
          <a:stretch>
            <a:fillRect/>
          </a:stretch>
        </p:blipFill>
        <p:spPr>
          <a:xfrm>
            <a:off x="6199632" y="1417320"/>
            <a:ext cx="5440680" cy="3400425"/>
          </a:xfrm>
          <a:prstGeom prst="rect">
            <a:avLst/>
          </a:prstGeom>
        </p:spPr>
      </p:pic>
      <p:sp>
        <p:nvSpPr>
          <p:cNvPr id="10" name="Frame ghcr-fe-tags"/>
          <p:cNvSpPr/>
          <p:nvPr/>
        </p:nvSpPr>
        <p:spPr>
          <a:xfrm>
            <a:off x="6144768" y="5037201"/>
            <a:ext cx="5550408" cy="813200"/>
          </a:xfrm>
          <a:prstGeom prst="roundRect">
            <a:avLst>
              <a:gd name="adj" fmla="val 10120"/>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11" name="Screenshot ghcr-fe-tags" descr="Recent tagged image versions of placetrack-frontend">    </p:cNvPr>
          <p:cNvPicPr>
            <a:picLocks noChangeAspect="1"/>
          </p:cNvPicPr>
          <p:nvPr/>
        </p:nvPicPr>
        <p:blipFill>
          <a:blip r:embed="rId4"/>
          <a:stretch>
            <a:fillRect/>
          </a:stretch>
        </p:blipFill>
        <p:spPr>
          <a:xfrm>
            <a:off x="6199632" y="5092065"/>
            <a:ext cx="5440680" cy="703472"/>
          </a:xfrm>
          <a:prstGeom prst="rect">
            <a:avLst/>
          </a:prstGeom>
        </p:spPr>
      </p:pic>
      <p:sp>
        <p:nvSpPr>
          <p:cNvPr id="12" name="Text 6"/>
          <p:cNvSpPr txBox="1"/>
          <p:nvPr/>
        </p:nvSpPr>
        <p:spPr>
          <a:xfrm>
            <a:off x="6199632" y="5978417"/>
            <a:ext cx="5440680" cy="274320"/>
          </a:xfrm>
          <a:prstGeom prst="rect">
            <a:avLst/>
          </a:prstGeom>
          <a:noFill/>
          <a:ln/>
        </p:spPr>
        <p:txBody>
          <a:bodyPr wrap="square" lIns="0" tIns="0" rIns="0" bIns="0" rtlCol="0" anchor="t"/>
          <a:lstStyle/>
          <a:p>
            <a:pPr indent="0" marL="0">
              <a:buNone/>
            </a:pPr>
            <a:r>
              <a:rPr lang="en-US" sz="1100" b="1" dirty="0">
                <a:solidFill>
                  <a:schemeClr val="tx2"/>
                </a:solidFill>
                <a:latin typeface="Courier New" pitchFamily="34" charset="0"/>
                <a:ea typeface="Courier New" pitchFamily="34" charset="-122"/>
                <a:cs typeface="Courier New" pitchFamily="34" charset="-120"/>
              </a:rPr>
              <a:t>ghcr.io/raghavendra1729-cell/placetrack-frontend:&lt;commit SHA&gt;</a:t>
            </a:r>
            <a:endParaRPr lang="en-US" sz="11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Terraform: VPC and EKS on AWS</a:t>
            </a:r>
            <a:endParaRPr lang="en-US" sz="3400" dirty="0"/>
          </a:p>
        </p:txBody>
      </p:sp>
      <p:sp>
        <p:nvSpPr>
          <p:cNvPr id="3" name="Stat 49"/>
          <p:cNvSpPr txBox="1"/>
          <p:nvPr/>
        </p:nvSpPr>
        <p:spPr>
          <a:xfrm>
            <a:off x="548640" y="1280160"/>
            <a:ext cx="3566160" cy="1460500"/>
          </a:xfrm>
          <a:prstGeom prst="rect">
            <a:avLst/>
          </a:prstGeom>
          <a:noFill/>
          <a:ln/>
        </p:spPr>
        <p:txBody>
          <a:bodyPr wrap="square" lIns="0" tIns="0" rIns="0" bIns="0" rtlCol="0" anchor="ctr"/>
          <a:lstStyle/>
          <a:p>
            <a:pPr algn="l" indent="0" marL="0">
              <a:buNone/>
            </a:pPr>
            <a:r>
              <a:rPr lang="en-US" sz="10000" b="1" dirty="0">
                <a:solidFill>
                  <a:schemeClr val="tx2"/>
                </a:solidFill>
                <a:latin typeface="+mj-lt" pitchFamily="34" charset="0"/>
                <a:ea typeface="+mj-lt" pitchFamily="34" charset="-122"/>
                <a:cs typeface="+mj-lt" pitchFamily="34" charset="-120"/>
              </a:rPr>
              <a:t>49</a:t>
            </a:r>
            <a:endParaRPr lang="en-US" sz="10000" dirty="0"/>
          </a:p>
        </p:txBody>
      </p:sp>
      <p:sp>
        <p:nvSpPr>
          <p:cNvPr id="4" name="Stat label"/>
          <p:cNvSpPr txBox="1"/>
          <p:nvPr/>
        </p:nvSpPr>
        <p:spPr>
          <a:xfrm>
            <a:off x="548640" y="2758948"/>
            <a:ext cx="3566160" cy="640080"/>
          </a:xfrm>
          <a:prstGeom prst="rect">
            <a:avLst/>
          </a:prstGeom>
          <a:noFill/>
          <a:ln/>
        </p:spPr>
        <p:txBody>
          <a:bodyPr wrap="square" lIns="0" tIns="0" rIns="0" bIns="0" rtlCol="0" anchor="t"/>
          <a:lstStyle/>
          <a:p>
            <a:pPr algn="l" indent="0" marL="0">
              <a:buNone/>
            </a:pPr>
            <a:r>
              <a:rPr lang="en-US" sz="1700" dirty="0">
                <a:solidFill>
                  <a:schemeClr val="accent5"/>
                </a:solidFill>
              </a:rPr>
              <a:t>resources: planned, applied, destroyed</a:t>
            </a:r>
            <a:endParaRPr lang="en-US" sz="1700" dirty="0"/>
          </a:p>
        </p:txBody>
      </p:sp>
      <p:sp>
        <p:nvSpPr>
          <p:cNvPr id="5" name="Text 3"/>
          <p:cNvSpPr txBox="1"/>
          <p:nvPr/>
        </p:nvSpPr>
        <p:spPr>
          <a:xfrm>
            <a:off x="548640" y="3429000"/>
            <a:ext cx="356616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VPC with 2 public subnets in 2 zones</a:t>
            </a:r>
            <a:endParaRPr lang="en-US" sz="1500" dirty="0"/>
          </a:p>
          <a:p>
            <a:pPr marL="342900" indent="-342900">
              <a:spcAft>
                <a:spcPts val="600"/>
              </a:spcAft>
              <a:buSzPct val="100000"/>
              <a:buChar char="•"/>
            </a:pPr>
            <a:r>
              <a:rPr lang="en-US" sz="1500" dirty="0">
                <a:solidFill>
                  <a:schemeClr val="tx1"/>
                </a:solidFill>
              </a:rPr>
              <a:t>EKS 1.35, 2 x t3.small nodes</a:t>
            </a:r>
            <a:endParaRPr lang="en-US" sz="1500" dirty="0"/>
          </a:p>
          <a:p>
            <a:pPr marL="342900" indent="-342900">
              <a:spcAft>
                <a:spcPts val="600"/>
              </a:spcAft>
              <a:buSzPct val="100000"/>
              <a:buChar char="•"/>
            </a:pPr>
            <a:r>
              <a:rPr lang="en-US" sz="1500" dirty="0">
                <a:solidFill>
                  <a:schemeClr val="tx1"/>
                </a:solidFill>
              </a:rPr>
              <a:t>Region ap-south-1</a:t>
            </a:r>
            <a:endParaRPr lang="en-US" sz="1500" dirty="0"/>
          </a:p>
          <a:p>
            <a:pPr marL="342900" indent="-342900">
              <a:buSzPct val="100000"/>
              <a:buChar char="•"/>
            </a:pPr>
            <a:r>
              <a:rPr lang="en-US" sz="1500" dirty="0">
                <a:solidFill>
                  <a:schemeClr val="tx1"/>
                </a:solidFill>
              </a:rPr>
              <a:t>Cluster API open only to my IP</a:t>
            </a:r>
            <a:endParaRPr lang="en-US" sz="1500" dirty="0"/>
          </a:p>
        </p:txBody>
      </p:sp>
      <p:sp>
        <p:nvSpPr>
          <p:cNvPr id="6" name="Text 4"/>
          <p:cNvSpPr txBox="1"/>
          <p:nvPr/>
        </p:nvSpPr>
        <p:spPr>
          <a:xfrm>
            <a:off x="4526280" y="1371600"/>
            <a:ext cx="365760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TERRAFORM PLAN</a:t>
            </a:r>
            <a:endParaRPr lang="en-US" sz="1200" dirty="0"/>
          </a:p>
        </p:txBody>
      </p:sp>
      <p:sp>
        <p:nvSpPr>
          <p:cNvPr id="7" name="Frame tf-plan"/>
          <p:cNvSpPr/>
          <p:nvPr/>
        </p:nvSpPr>
        <p:spPr>
          <a:xfrm>
            <a:off x="4471416" y="1636776"/>
            <a:ext cx="7223760" cy="1624001"/>
          </a:xfrm>
          <a:prstGeom prst="roundRect">
            <a:avLst>
              <a:gd name="adj" fmla="val 5067"/>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8" name="Screenshot tf-plan" descr="terraform plan output: Plan 49 to add, 0 to change, 0 to destroy">    </p:cNvPr>
          <p:cNvPicPr>
            <a:picLocks noChangeAspect="1"/>
          </p:cNvPicPr>
          <p:nvPr/>
        </p:nvPicPr>
        <p:blipFill>
          <a:blip r:embed="rId1"/>
          <a:stretch>
            <a:fillRect/>
          </a:stretch>
        </p:blipFill>
        <p:spPr>
          <a:xfrm>
            <a:off x="4526280" y="1691640"/>
            <a:ext cx="7114032" cy="1514273"/>
          </a:xfrm>
          <a:prstGeom prst="rect">
            <a:avLst/>
          </a:prstGeom>
        </p:spPr>
      </p:pic>
      <p:sp>
        <p:nvSpPr>
          <p:cNvPr id="9" name="Text 6"/>
          <p:cNvSpPr txBox="1"/>
          <p:nvPr/>
        </p:nvSpPr>
        <p:spPr>
          <a:xfrm>
            <a:off x="4526280" y="3480233"/>
            <a:ext cx="5486400" cy="256032"/>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terraform/main.tf and variables.tf</a:t>
            </a:r>
            <a:endParaRPr lang="en-US" sz="1200" dirty="0"/>
          </a:p>
        </p:txBody>
      </p:sp>
      <p:sp>
        <p:nvSpPr>
          <p:cNvPr id="10" name="HCL card"/>
          <p:cNvSpPr/>
          <p:nvPr/>
        </p:nvSpPr>
        <p:spPr>
          <a:xfrm>
            <a:off x="4526280" y="3772841"/>
            <a:ext cx="7114032" cy="713232"/>
          </a:xfrm>
          <a:prstGeom prst="roundRect">
            <a:avLst>
              <a:gd name="adj" fmla="val 12821"/>
            </a:avLst>
          </a:prstGeom>
          <a:solidFill>
            <a:schemeClr val="bg2"/>
          </a:solidFill>
          <a:ln/>
        </p:spPr>
      </p:sp>
      <p:sp>
        <p:nvSpPr>
          <p:cNvPr id="11" name="Text 8"/>
          <p:cNvSpPr txBox="1"/>
          <p:nvPr/>
        </p:nvSpPr>
        <p:spPr>
          <a:xfrm>
            <a:off x="4709160" y="3864281"/>
            <a:ext cx="6766560" cy="548640"/>
          </a:xfrm>
          <a:prstGeom prst="rect">
            <a:avLst/>
          </a:prstGeom>
          <a:noFill/>
          <a:ln/>
        </p:spPr>
        <p:txBody>
          <a:bodyPr wrap="square" lIns="0" tIns="0" rIns="0" bIns="0" rtlCol="0" anchor="t"/>
          <a:lstStyle/>
          <a:p>
            <a:pPr indent="0" marL="0">
              <a:spcAft>
                <a:spcPts val="300"/>
              </a:spcAft>
              <a:buNone/>
            </a:pPr>
            <a:r>
              <a:rPr lang="en-US" sz="1250" dirty="0">
                <a:solidFill>
                  <a:schemeClr val="tx1"/>
                </a:solidFill>
                <a:latin typeface="Courier New" pitchFamily="34" charset="0"/>
                <a:ea typeface="Courier New" pitchFamily="34" charset="-122"/>
                <a:cs typeface="Courier New" pitchFamily="34" charset="-120"/>
              </a:rPr>
              <a:t>vpc: cidr "10.0.0.0/16", public_subnets 10.0.1.0/24 and 10.0.2.0/24</a:t>
            </a:r>
            <a:endParaRPr lang="en-US" sz="1250" dirty="0"/>
          </a:p>
          <a:p>
            <a:pPr indent="0" marL="0">
              <a:spcAft>
                <a:spcPts val="300"/>
              </a:spcAft>
              <a:buNone/>
            </a:pPr>
            <a:r>
              <a:rPr lang="en-US" sz="1250" dirty="0">
                <a:solidFill>
                  <a:schemeClr val="tx1"/>
                </a:solidFill>
                <a:latin typeface="Courier New" pitchFamily="34" charset="0"/>
                <a:ea typeface="Courier New" pitchFamily="34" charset="-122"/>
                <a:cs typeface="Courier New" pitchFamily="34" charset="-120"/>
              </a:rPr>
              <a:t>eks: cluster_version "1.35", t3.small, desired_size 2</a:t>
            </a:r>
            <a:endParaRPr lang="en-US" sz="1250" dirty="0"/>
          </a:p>
        </p:txBody>
      </p:sp>
      <p:sp>
        <p:nvSpPr>
          <p:cNvPr id="12" name="Text 9"/>
          <p:cNvSpPr txBox="1"/>
          <p:nvPr/>
        </p:nvSpPr>
        <p:spPr>
          <a:xfrm>
            <a:off x="548640" y="5074920"/>
            <a:ext cx="731520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TERRAFORM DESTROY, THEN A CHECK THAT NOTHING IS LEFT</a:t>
            </a:r>
            <a:endParaRPr lang="en-US" sz="1200" dirty="0"/>
          </a:p>
        </p:txBody>
      </p:sp>
      <p:sp>
        <p:nvSpPr>
          <p:cNvPr id="13" name="Frame tf-destroy"/>
          <p:cNvSpPr/>
          <p:nvPr/>
        </p:nvSpPr>
        <p:spPr>
          <a:xfrm>
            <a:off x="493776" y="5340096"/>
            <a:ext cx="11201400" cy="664312"/>
          </a:xfrm>
          <a:prstGeom prst="roundRect">
            <a:avLst>
              <a:gd name="adj" fmla="val 12388"/>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14" name="Screenshot tf-destroy" descr="terraform destroy complete, 49 destroyed, no cluster, no VPC, empty state">    </p:cNvPr>
          <p:cNvPicPr>
            <a:picLocks noChangeAspect="1"/>
          </p:cNvPicPr>
          <p:nvPr/>
        </p:nvPicPr>
        <p:blipFill>
          <a:blip r:embed="rId2"/>
          <a:stretch>
            <a:fillRect/>
          </a:stretch>
        </p:blipFill>
        <p:spPr>
          <a:xfrm>
            <a:off x="548640" y="5394960"/>
            <a:ext cx="11091672" cy="554584"/>
          </a:xfrm>
          <a:prstGeom prst="rect">
            <a:avLst/>
          </a:prstGeom>
        </p:spPr>
      </p:pic>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AWS console: VPC, cluster, nodes</a:t>
            </a:r>
            <a:endParaRPr lang="en-US" sz="3400" dirty="0"/>
          </a:p>
        </p:txBody>
      </p:sp>
      <p:sp>
        <p:nvSpPr>
          <p:cNvPr id="3" name="Frame aws-vpc"/>
          <p:cNvSpPr/>
          <p:nvPr/>
        </p:nvSpPr>
        <p:spPr>
          <a:xfrm>
            <a:off x="493776" y="1362456"/>
            <a:ext cx="6144768" cy="3005793"/>
          </a:xfrm>
          <a:prstGeom prst="roundRect">
            <a:avLst>
              <a:gd name="adj" fmla="val 2738"/>
            </a:avLst>
          </a:prstGeom>
          <a:solidFill>
            <a:srgbClr val="FFFFF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4" name="Screenshot aws-vpc" descr="AWS console: VPC placetrack-vpc with two subnets in ap-south-1a and ap-south-1b">    </p:cNvPr>
          <p:cNvPicPr>
            <a:picLocks noChangeAspect="1"/>
          </p:cNvPicPr>
          <p:nvPr/>
        </p:nvPicPr>
        <p:blipFill>
          <a:blip r:embed="rId1"/>
          <a:stretch>
            <a:fillRect/>
          </a:stretch>
        </p:blipFill>
        <p:spPr>
          <a:xfrm>
            <a:off x="548640" y="1417320"/>
            <a:ext cx="6035040" cy="2896065"/>
          </a:xfrm>
          <a:prstGeom prst="rect">
            <a:avLst/>
          </a:prstGeom>
        </p:spPr>
      </p:pic>
      <p:sp>
        <p:nvSpPr>
          <p:cNvPr id="5" name="Card"/>
          <p:cNvSpPr/>
          <p:nvPr/>
        </p:nvSpPr>
        <p:spPr>
          <a:xfrm>
            <a:off x="548640" y="4633425"/>
            <a:ext cx="1889760" cy="1584495"/>
          </a:xfrm>
          <a:prstGeom prst="roundRect">
            <a:avLst>
              <a:gd name="adj" fmla="val 5771"/>
            </a:avLst>
          </a:prstGeom>
          <a:solidFill>
            <a:schemeClr val="bg2"/>
          </a:solidFill>
          <a:ln/>
        </p:spPr>
      </p:sp>
      <p:sp>
        <p:nvSpPr>
          <p:cNvPr id="6" name="Text 3"/>
          <p:cNvSpPr txBox="1"/>
          <p:nvPr/>
        </p:nvSpPr>
        <p:spPr>
          <a:xfrm>
            <a:off x="713232" y="4743153"/>
            <a:ext cx="1615440" cy="640080"/>
          </a:xfrm>
          <a:prstGeom prst="rect">
            <a:avLst/>
          </a:prstGeom>
          <a:noFill/>
          <a:ln/>
        </p:spPr>
        <p:txBody>
          <a:bodyPr wrap="square" lIns="0" tIns="0" rIns="0" bIns="0" rtlCol="0" anchor="ctr"/>
          <a:lstStyle/>
          <a:p>
            <a:pPr indent="0" marL="0">
              <a:buNone/>
            </a:pPr>
            <a:r>
              <a:rPr lang="en-US" sz="2400" b="1" dirty="0">
                <a:solidFill>
                  <a:schemeClr val="tx2"/>
                </a:solidFill>
                <a:latin typeface="+mj-lt" pitchFamily="34" charset="0"/>
                <a:ea typeface="+mj-lt" pitchFamily="34" charset="-122"/>
                <a:cs typeface="+mj-lt" pitchFamily="34" charset="-120"/>
              </a:rPr>
              <a:t>10.0.0.0/16</a:t>
            </a:r>
            <a:endParaRPr lang="en-US" sz="2400" dirty="0"/>
          </a:p>
        </p:txBody>
      </p:sp>
      <p:sp>
        <p:nvSpPr>
          <p:cNvPr id="7" name="Text 4"/>
          <p:cNvSpPr txBox="1"/>
          <p:nvPr/>
        </p:nvSpPr>
        <p:spPr>
          <a:xfrm>
            <a:off x="713232" y="5456385"/>
            <a:ext cx="1615440" cy="670095"/>
          </a:xfrm>
          <a:prstGeom prst="rect">
            <a:avLst/>
          </a:prstGeom>
          <a:noFill/>
          <a:ln/>
        </p:spPr>
        <p:txBody>
          <a:bodyPr wrap="square" lIns="0" tIns="0" rIns="0" bIns="0" rtlCol="0" anchor="t"/>
          <a:lstStyle/>
          <a:p>
            <a:pPr indent="0" marL="0">
              <a:buNone/>
            </a:pPr>
            <a:r>
              <a:rPr lang="en-US" sz="1300" dirty="0">
                <a:solidFill>
                  <a:schemeClr val="accent5"/>
                </a:solidFill>
              </a:rPr>
              <a:t>VPC placetrack-vpc</a:t>
            </a:r>
            <a:endParaRPr lang="en-US" sz="1300" dirty="0"/>
          </a:p>
        </p:txBody>
      </p:sp>
      <p:sp>
        <p:nvSpPr>
          <p:cNvPr id="8" name="Card"/>
          <p:cNvSpPr/>
          <p:nvPr/>
        </p:nvSpPr>
        <p:spPr>
          <a:xfrm>
            <a:off x="2621280" y="4633425"/>
            <a:ext cx="1889760" cy="1584495"/>
          </a:xfrm>
          <a:prstGeom prst="roundRect">
            <a:avLst>
              <a:gd name="adj" fmla="val 5771"/>
            </a:avLst>
          </a:prstGeom>
          <a:solidFill>
            <a:schemeClr val="bg2"/>
          </a:solidFill>
          <a:ln/>
        </p:spPr>
      </p:sp>
      <p:sp>
        <p:nvSpPr>
          <p:cNvPr id="9" name="Text 6"/>
          <p:cNvSpPr txBox="1"/>
          <p:nvPr/>
        </p:nvSpPr>
        <p:spPr>
          <a:xfrm>
            <a:off x="2785872" y="4743153"/>
            <a:ext cx="1615440" cy="640080"/>
          </a:xfrm>
          <a:prstGeom prst="rect">
            <a:avLst/>
          </a:prstGeom>
          <a:noFill/>
          <a:ln/>
        </p:spPr>
        <p:txBody>
          <a:bodyPr wrap="square" lIns="0" tIns="0" rIns="0" bIns="0" rtlCol="0" anchor="ctr"/>
          <a:lstStyle/>
          <a:p>
            <a:pPr indent="0" marL="0">
              <a:buNone/>
            </a:pPr>
            <a:r>
              <a:rPr lang="en-US" sz="4000" b="1" dirty="0">
                <a:solidFill>
                  <a:schemeClr val="tx2"/>
                </a:solidFill>
                <a:latin typeface="+mj-lt" pitchFamily="34" charset="0"/>
                <a:ea typeface="+mj-lt" pitchFamily="34" charset="-122"/>
                <a:cs typeface="+mj-lt" pitchFamily="34" charset="-120"/>
              </a:rPr>
              <a:t>2</a:t>
            </a:r>
            <a:endParaRPr lang="en-US" sz="4000" dirty="0"/>
          </a:p>
        </p:txBody>
      </p:sp>
      <p:sp>
        <p:nvSpPr>
          <p:cNvPr id="10" name="Text 7"/>
          <p:cNvSpPr txBox="1"/>
          <p:nvPr/>
        </p:nvSpPr>
        <p:spPr>
          <a:xfrm>
            <a:off x="2785872" y="5456385"/>
            <a:ext cx="1615440" cy="670095"/>
          </a:xfrm>
          <a:prstGeom prst="rect">
            <a:avLst/>
          </a:prstGeom>
          <a:noFill/>
          <a:ln/>
        </p:spPr>
        <p:txBody>
          <a:bodyPr wrap="square" lIns="0" tIns="0" rIns="0" bIns="0" rtlCol="0" anchor="t"/>
          <a:lstStyle/>
          <a:p>
            <a:pPr indent="0" marL="0">
              <a:buNone/>
            </a:pPr>
            <a:r>
              <a:rPr lang="en-US" sz="1300" dirty="0">
                <a:solidFill>
                  <a:schemeClr val="accent5"/>
                </a:solidFill>
              </a:rPr>
              <a:t>public subnets, one in each of 2 zones</a:t>
            </a:r>
            <a:endParaRPr lang="en-US" sz="1300" dirty="0"/>
          </a:p>
        </p:txBody>
      </p:sp>
      <p:sp>
        <p:nvSpPr>
          <p:cNvPr id="11" name="Card"/>
          <p:cNvSpPr/>
          <p:nvPr/>
        </p:nvSpPr>
        <p:spPr>
          <a:xfrm>
            <a:off x="4693920" y="4633425"/>
            <a:ext cx="1889760" cy="1584495"/>
          </a:xfrm>
          <a:prstGeom prst="roundRect">
            <a:avLst>
              <a:gd name="adj" fmla="val 5771"/>
            </a:avLst>
          </a:prstGeom>
          <a:solidFill>
            <a:schemeClr val="bg2"/>
          </a:solidFill>
          <a:ln/>
        </p:spPr>
      </p:sp>
      <p:sp>
        <p:nvSpPr>
          <p:cNvPr id="12" name="Text 9"/>
          <p:cNvSpPr txBox="1"/>
          <p:nvPr/>
        </p:nvSpPr>
        <p:spPr>
          <a:xfrm>
            <a:off x="4858512" y="4743153"/>
            <a:ext cx="1615440" cy="640080"/>
          </a:xfrm>
          <a:prstGeom prst="rect">
            <a:avLst/>
          </a:prstGeom>
          <a:noFill/>
          <a:ln/>
        </p:spPr>
        <p:txBody>
          <a:bodyPr wrap="square" lIns="0" tIns="0" rIns="0" bIns="0" rtlCol="0" anchor="ctr"/>
          <a:lstStyle/>
          <a:p>
            <a:pPr indent="0" marL="0">
              <a:buNone/>
            </a:pPr>
            <a:r>
              <a:rPr lang="en-US" sz="2400" b="1" dirty="0">
                <a:solidFill>
                  <a:schemeClr val="tx2"/>
                </a:solidFill>
                <a:latin typeface="+mj-lt" pitchFamily="34" charset="0"/>
                <a:ea typeface="+mj-lt" pitchFamily="34" charset="-122"/>
                <a:cs typeface="+mj-lt" pitchFamily="34" charset="-120"/>
              </a:rPr>
              <a:t>Mumbai</a:t>
            </a:r>
            <a:endParaRPr lang="en-US" sz="2400" dirty="0"/>
          </a:p>
        </p:txBody>
      </p:sp>
      <p:sp>
        <p:nvSpPr>
          <p:cNvPr id="13" name="Text 10"/>
          <p:cNvSpPr txBox="1"/>
          <p:nvPr/>
        </p:nvSpPr>
        <p:spPr>
          <a:xfrm>
            <a:off x="4858512" y="5456385"/>
            <a:ext cx="1615440" cy="670095"/>
          </a:xfrm>
          <a:prstGeom prst="rect">
            <a:avLst/>
          </a:prstGeom>
          <a:noFill/>
          <a:ln/>
        </p:spPr>
        <p:txBody>
          <a:bodyPr wrap="square" lIns="0" tIns="0" rIns="0" bIns="0" rtlCol="0" anchor="t"/>
          <a:lstStyle/>
          <a:p>
            <a:pPr indent="0" marL="0">
              <a:buNone/>
            </a:pPr>
            <a:r>
              <a:rPr lang="en-US" sz="1300" dirty="0">
                <a:solidFill>
                  <a:schemeClr val="accent5"/>
                </a:solidFill>
              </a:rPr>
              <a:t>region ap-south-1</a:t>
            </a:r>
            <a:endParaRPr lang="en-US" sz="1300" dirty="0"/>
          </a:p>
        </p:txBody>
      </p:sp>
      <p:sp>
        <p:nvSpPr>
          <p:cNvPr id="14" name="Frame aws-cluster"/>
          <p:cNvSpPr/>
          <p:nvPr/>
        </p:nvSpPr>
        <p:spPr>
          <a:xfrm>
            <a:off x="6894576" y="1362456"/>
            <a:ext cx="4800600" cy="2056114"/>
          </a:xfrm>
          <a:prstGeom prst="roundRect">
            <a:avLst>
              <a:gd name="adj" fmla="val 4003"/>
            </a:avLst>
          </a:prstGeom>
          <a:solidFill>
            <a:srgbClr val="FFFFF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15" name="Screenshot aws-cluster" descr="AWS console: EKS cluster placetrack, Active, Kubernetes 1.35, 2 nodes">    </p:cNvPr>
          <p:cNvPicPr>
            <a:picLocks noChangeAspect="1"/>
          </p:cNvPicPr>
          <p:nvPr/>
        </p:nvPicPr>
        <p:blipFill>
          <a:blip r:embed="rId2"/>
          <a:stretch>
            <a:fillRect/>
          </a:stretch>
        </p:blipFill>
        <p:spPr>
          <a:xfrm>
            <a:off x="6949440" y="1417320"/>
            <a:ext cx="4690872" cy="1946386"/>
          </a:xfrm>
          <a:prstGeom prst="rect">
            <a:avLst/>
          </a:prstGeom>
        </p:spPr>
      </p:pic>
      <p:sp>
        <p:nvSpPr>
          <p:cNvPr id="16" name="Text 12"/>
          <p:cNvSpPr txBox="1"/>
          <p:nvPr/>
        </p:nvSpPr>
        <p:spPr>
          <a:xfrm>
            <a:off x="6949440" y="3500866"/>
            <a:ext cx="4690872" cy="274320"/>
          </a:xfrm>
          <a:prstGeom prst="rect">
            <a:avLst/>
          </a:prstGeom>
          <a:noFill/>
          <a:ln/>
        </p:spPr>
        <p:txBody>
          <a:bodyPr wrap="square" lIns="0" tIns="0" rIns="0" bIns="0" rtlCol="0" anchor="t"/>
          <a:lstStyle/>
          <a:p>
            <a:pPr indent="0" marL="0">
              <a:buNone/>
            </a:pPr>
            <a:r>
              <a:rPr lang="en-US" sz="1400" b="1" dirty="0">
                <a:solidFill>
                  <a:schemeClr val="tx1"/>
                </a:solidFill>
              </a:rPr>
              <a:t>EKS cluster placetrack: Active, Kubernetes 1.35</a:t>
            </a:r>
            <a:endParaRPr lang="en-US" sz="1400" dirty="0"/>
          </a:p>
        </p:txBody>
      </p:sp>
      <p:sp>
        <p:nvSpPr>
          <p:cNvPr id="17" name="Frame aws-nodes"/>
          <p:cNvSpPr/>
          <p:nvPr/>
        </p:nvSpPr>
        <p:spPr>
          <a:xfrm>
            <a:off x="6894576" y="3994642"/>
            <a:ext cx="4800600" cy="1846002"/>
          </a:xfrm>
          <a:prstGeom prst="roundRect">
            <a:avLst>
              <a:gd name="adj" fmla="val 4458"/>
            </a:avLst>
          </a:prstGeom>
          <a:solidFill>
            <a:srgbClr val="FFFFF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18" name="Screenshot aws-nodes" descr="AWS console: 2 nodes of type t3.small, both Ready">    </p:cNvPr>
          <p:cNvPicPr>
            <a:picLocks noChangeAspect="1"/>
          </p:cNvPicPr>
          <p:nvPr/>
        </p:nvPicPr>
        <p:blipFill>
          <a:blip r:embed="rId3"/>
          <a:stretch>
            <a:fillRect/>
          </a:stretch>
        </p:blipFill>
        <p:spPr>
          <a:xfrm>
            <a:off x="6949440" y="4049506"/>
            <a:ext cx="4690872" cy="1736274"/>
          </a:xfrm>
          <a:prstGeom prst="rect">
            <a:avLst/>
          </a:prstGeom>
        </p:spPr>
      </p:pic>
      <p:sp>
        <p:nvSpPr>
          <p:cNvPr id="19" name="Text 14"/>
          <p:cNvSpPr txBox="1"/>
          <p:nvPr/>
        </p:nvSpPr>
        <p:spPr>
          <a:xfrm>
            <a:off x="6949440" y="5922940"/>
            <a:ext cx="4690872" cy="274320"/>
          </a:xfrm>
          <a:prstGeom prst="rect">
            <a:avLst/>
          </a:prstGeom>
          <a:noFill/>
          <a:ln/>
        </p:spPr>
        <p:txBody>
          <a:bodyPr wrap="square" lIns="0" tIns="0" rIns="0" bIns="0" rtlCol="0" anchor="t"/>
          <a:lstStyle/>
          <a:p>
            <a:pPr indent="0" marL="0">
              <a:buNone/>
            </a:pPr>
            <a:r>
              <a:rPr lang="en-US" sz="1400" b="1" dirty="0">
                <a:solidFill>
                  <a:schemeClr val="tx1"/>
                </a:solidFill>
              </a:rPr>
              <a:t>Two t3.small nodes, both Ready</a:t>
            </a:r>
            <a:endParaRPr lang="en-US" sz="14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Kubernetes deployment with Helm</a:t>
            </a:r>
            <a:endParaRPr lang="en-US" sz="3400" dirty="0"/>
          </a:p>
        </p:txBody>
      </p:sp>
      <p:sp>
        <p:nvSpPr>
          <p:cNvPr id="3" name="Chart card"/>
          <p:cNvSpPr/>
          <p:nvPr/>
        </p:nvSpPr>
        <p:spPr>
          <a:xfrm>
            <a:off x="548640" y="1371600"/>
            <a:ext cx="4297680" cy="4892040"/>
          </a:xfrm>
          <a:prstGeom prst="roundRect">
            <a:avLst>
              <a:gd name="adj" fmla="val 2128"/>
            </a:avLst>
          </a:prstGeom>
          <a:solidFill>
            <a:schemeClr val="bg2"/>
          </a:solidFill>
          <a:ln/>
        </p:spPr>
      </p:sp>
      <p:sp>
        <p:nvSpPr>
          <p:cNvPr id="4" name="Text 2"/>
          <p:cNvSpPr txBox="1"/>
          <p:nvPr/>
        </p:nvSpPr>
        <p:spPr>
          <a:xfrm>
            <a:off x="777240" y="1508760"/>
            <a:ext cx="3840480" cy="32004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helm/placetrack/</a:t>
            </a:r>
            <a:endParaRPr lang="en-US" sz="1700" dirty="0"/>
          </a:p>
        </p:txBody>
      </p:sp>
      <p:sp>
        <p:nvSpPr>
          <p:cNvPr id="5" name="Text 3"/>
          <p:cNvSpPr txBox="1"/>
          <p:nvPr/>
        </p:nvSpPr>
        <p:spPr>
          <a:xfrm>
            <a:off x="777240" y="2011680"/>
            <a:ext cx="2011680" cy="3200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Chart.yaml</a:t>
            </a:r>
            <a:endParaRPr lang="en-US" sz="1200" dirty="0"/>
          </a:p>
        </p:txBody>
      </p:sp>
      <p:sp>
        <p:nvSpPr>
          <p:cNvPr id="6" name="Text 4"/>
          <p:cNvSpPr txBox="1"/>
          <p:nvPr/>
        </p:nvSpPr>
        <p:spPr>
          <a:xfrm>
            <a:off x="2926080" y="2011680"/>
            <a:ext cx="1828800" cy="320040"/>
          </a:xfrm>
          <a:prstGeom prst="rect">
            <a:avLst/>
          </a:prstGeom>
          <a:noFill/>
          <a:ln/>
        </p:spPr>
        <p:txBody>
          <a:bodyPr wrap="square" lIns="0" tIns="0" rIns="0" bIns="0" rtlCol="0" anchor="ctr"/>
          <a:lstStyle/>
          <a:p>
            <a:pPr indent="0" marL="0">
              <a:buNone/>
            </a:pPr>
            <a:r>
              <a:rPr lang="en-US" sz="1300" dirty="0">
                <a:solidFill>
                  <a:schemeClr val="accent5"/>
                </a:solidFill>
              </a:rPr>
              <a:t>chart info</a:t>
            </a:r>
            <a:endParaRPr lang="en-US" sz="1300" dirty="0"/>
          </a:p>
        </p:txBody>
      </p:sp>
      <p:sp>
        <p:nvSpPr>
          <p:cNvPr id="7" name="Text 5"/>
          <p:cNvSpPr txBox="1"/>
          <p:nvPr/>
        </p:nvSpPr>
        <p:spPr>
          <a:xfrm>
            <a:off x="777240" y="2423160"/>
            <a:ext cx="2011680" cy="3200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values.yaml</a:t>
            </a:r>
            <a:endParaRPr lang="en-US" sz="1200" dirty="0"/>
          </a:p>
        </p:txBody>
      </p:sp>
      <p:sp>
        <p:nvSpPr>
          <p:cNvPr id="8" name="Text 6"/>
          <p:cNvSpPr txBox="1"/>
          <p:nvPr/>
        </p:nvSpPr>
        <p:spPr>
          <a:xfrm>
            <a:off x="2926080" y="2423160"/>
            <a:ext cx="1828800" cy="320040"/>
          </a:xfrm>
          <a:prstGeom prst="rect">
            <a:avLst/>
          </a:prstGeom>
          <a:noFill/>
          <a:ln/>
        </p:spPr>
        <p:txBody>
          <a:bodyPr wrap="square" lIns="0" tIns="0" rIns="0" bIns="0" rtlCol="0" anchor="ctr"/>
          <a:lstStyle/>
          <a:p>
            <a:pPr indent="0" marL="0">
              <a:buNone/>
            </a:pPr>
            <a:r>
              <a:rPr lang="en-US" sz="1300" dirty="0">
                <a:solidFill>
                  <a:schemeClr val="accent5"/>
                </a:solidFill>
              </a:rPr>
              <a:t>replicas, host, HPA</a:t>
            </a:r>
            <a:endParaRPr lang="en-US" sz="1300" dirty="0"/>
          </a:p>
        </p:txBody>
      </p:sp>
      <p:sp>
        <p:nvSpPr>
          <p:cNvPr id="9" name="Text 7"/>
          <p:cNvSpPr txBox="1"/>
          <p:nvPr/>
        </p:nvSpPr>
        <p:spPr>
          <a:xfrm>
            <a:off x="777240" y="2834640"/>
            <a:ext cx="2011680" cy="3200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backend.yaml</a:t>
            </a:r>
            <a:endParaRPr lang="en-US" sz="1200" dirty="0"/>
          </a:p>
        </p:txBody>
      </p:sp>
      <p:sp>
        <p:nvSpPr>
          <p:cNvPr id="10" name="Text 8"/>
          <p:cNvSpPr txBox="1"/>
          <p:nvPr/>
        </p:nvSpPr>
        <p:spPr>
          <a:xfrm>
            <a:off x="2926080" y="2834640"/>
            <a:ext cx="1828800" cy="320040"/>
          </a:xfrm>
          <a:prstGeom prst="rect">
            <a:avLst/>
          </a:prstGeom>
          <a:noFill/>
          <a:ln/>
        </p:spPr>
        <p:txBody>
          <a:bodyPr wrap="square" lIns="0" tIns="0" rIns="0" bIns="0" rtlCol="0" anchor="ctr"/>
          <a:lstStyle/>
          <a:p>
            <a:pPr indent="0" marL="0">
              <a:buNone/>
            </a:pPr>
            <a:r>
              <a:rPr lang="en-US" sz="1300" dirty="0">
                <a:solidFill>
                  <a:schemeClr val="accent5"/>
                </a:solidFill>
              </a:rPr>
              <a:t>2 replicas, ClusterIP</a:t>
            </a:r>
            <a:endParaRPr lang="en-US" sz="1300" dirty="0"/>
          </a:p>
        </p:txBody>
      </p:sp>
      <p:sp>
        <p:nvSpPr>
          <p:cNvPr id="11" name="Text 9"/>
          <p:cNvSpPr txBox="1"/>
          <p:nvPr/>
        </p:nvSpPr>
        <p:spPr>
          <a:xfrm>
            <a:off x="777240" y="3246120"/>
            <a:ext cx="2011680" cy="3200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frontend.yaml</a:t>
            </a:r>
            <a:endParaRPr lang="en-US" sz="1200" dirty="0"/>
          </a:p>
        </p:txBody>
      </p:sp>
      <p:sp>
        <p:nvSpPr>
          <p:cNvPr id="12" name="Text 10"/>
          <p:cNvSpPr txBox="1"/>
          <p:nvPr/>
        </p:nvSpPr>
        <p:spPr>
          <a:xfrm>
            <a:off x="2926080" y="3246120"/>
            <a:ext cx="1828800" cy="320040"/>
          </a:xfrm>
          <a:prstGeom prst="rect">
            <a:avLst/>
          </a:prstGeom>
          <a:noFill/>
          <a:ln/>
        </p:spPr>
        <p:txBody>
          <a:bodyPr wrap="square" lIns="0" tIns="0" rIns="0" bIns="0" rtlCol="0" anchor="ctr"/>
          <a:lstStyle/>
          <a:p>
            <a:pPr indent="0" marL="0">
              <a:buNone/>
            </a:pPr>
            <a:r>
              <a:rPr lang="en-US" sz="1300" dirty="0">
                <a:solidFill>
                  <a:schemeClr val="accent5"/>
                </a:solidFill>
              </a:rPr>
              <a:t>2 replicas, ClusterIP</a:t>
            </a:r>
            <a:endParaRPr lang="en-US" sz="1300" dirty="0"/>
          </a:p>
        </p:txBody>
      </p:sp>
      <p:sp>
        <p:nvSpPr>
          <p:cNvPr id="13" name="Text 11"/>
          <p:cNvSpPr txBox="1"/>
          <p:nvPr/>
        </p:nvSpPr>
        <p:spPr>
          <a:xfrm>
            <a:off x="777240" y="3657600"/>
            <a:ext cx="2011680" cy="3200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postgres.yaml</a:t>
            </a:r>
            <a:endParaRPr lang="en-US" sz="1200" dirty="0"/>
          </a:p>
        </p:txBody>
      </p:sp>
      <p:sp>
        <p:nvSpPr>
          <p:cNvPr id="14" name="Text 12"/>
          <p:cNvSpPr txBox="1"/>
          <p:nvPr/>
        </p:nvSpPr>
        <p:spPr>
          <a:xfrm>
            <a:off x="2926080" y="3657600"/>
            <a:ext cx="1828800" cy="320040"/>
          </a:xfrm>
          <a:prstGeom prst="rect">
            <a:avLst/>
          </a:prstGeom>
          <a:noFill/>
          <a:ln/>
        </p:spPr>
        <p:txBody>
          <a:bodyPr wrap="square" lIns="0" tIns="0" rIns="0" bIns="0" rtlCol="0" anchor="ctr"/>
          <a:lstStyle/>
          <a:p>
            <a:pPr indent="0" marL="0">
              <a:buNone/>
            </a:pPr>
            <a:r>
              <a:rPr lang="en-US" sz="1300" dirty="0">
                <a:solidFill>
                  <a:schemeClr val="accent5"/>
                </a:solidFill>
              </a:rPr>
              <a:t>database and volume</a:t>
            </a:r>
            <a:endParaRPr lang="en-US" sz="1300" dirty="0"/>
          </a:p>
        </p:txBody>
      </p:sp>
      <p:sp>
        <p:nvSpPr>
          <p:cNvPr id="15" name="Text 13"/>
          <p:cNvSpPr txBox="1"/>
          <p:nvPr/>
        </p:nvSpPr>
        <p:spPr>
          <a:xfrm>
            <a:off x="777240" y="4069080"/>
            <a:ext cx="2011680" cy="3200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migrate-job.yaml</a:t>
            </a:r>
            <a:endParaRPr lang="en-US" sz="1200" dirty="0"/>
          </a:p>
        </p:txBody>
      </p:sp>
      <p:sp>
        <p:nvSpPr>
          <p:cNvPr id="16" name="Text 14"/>
          <p:cNvSpPr txBox="1"/>
          <p:nvPr/>
        </p:nvSpPr>
        <p:spPr>
          <a:xfrm>
            <a:off x="2926080" y="4069080"/>
            <a:ext cx="1828800" cy="320040"/>
          </a:xfrm>
          <a:prstGeom prst="rect">
            <a:avLst/>
          </a:prstGeom>
          <a:noFill/>
          <a:ln/>
        </p:spPr>
        <p:txBody>
          <a:bodyPr wrap="square" lIns="0" tIns="0" rIns="0" bIns="0" rtlCol="0" anchor="ctr"/>
          <a:lstStyle/>
          <a:p>
            <a:pPr indent="0" marL="0">
              <a:buNone/>
            </a:pPr>
            <a:r>
              <a:rPr lang="en-US" sz="1300" dirty="0">
                <a:solidFill>
                  <a:schemeClr val="accent5"/>
                </a:solidFill>
              </a:rPr>
              <a:t>runs the migration</a:t>
            </a:r>
            <a:endParaRPr lang="en-US" sz="1300" dirty="0"/>
          </a:p>
        </p:txBody>
      </p:sp>
      <p:sp>
        <p:nvSpPr>
          <p:cNvPr id="17" name="Text 15"/>
          <p:cNvSpPr txBox="1"/>
          <p:nvPr/>
        </p:nvSpPr>
        <p:spPr>
          <a:xfrm>
            <a:off x="777240" y="4480560"/>
            <a:ext cx="2011680" cy="3200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hpa.yaml</a:t>
            </a:r>
            <a:endParaRPr lang="en-US" sz="1200" dirty="0"/>
          </a:p>
        </p:txBody>
      </p:sp>
      <p:sp>
        <p:nvSpPr>
          <p:cNvPr id="18" name="Text 16"/>
          <p:cNvSpPr txBox="1"/>
          <p:nvPr/>
        </p:nvSpPr>
        <p:spPr>
          <a:xfrm>
            <a:off x="2926080" y="4480560"/>
            <a:ext cx="1828800" cy="320040"/>
          </a:xfrm>
          <a:prstGeom prst="rect">
            <a:avLst/>
          </a:prstGeom>
          <a:noFill/>
          <a:ln/>
        </p:spPr>
        <p:txBody>
          <a:bodyPr wrap="square" lIns="0" tIns="0" rIns="0" bIns="0" rtlCol="0" anchor="ctr"/>
          <a:lstStyle/>
          <a:p>
            <a:pPr indent="0" marL="0">
              <a:buNone/>
            </a:pPr>
            <a:r>
              <a:rPr lang="en-US" sz="1300" dirty="0">
                <a:solidFill>
                  <a:schemeClr val="accent5"/>
                </a:solidFill>
              </a:rPr>
              <a:t>backend autoscaler</a:t>
            </a:r>
            <a:endParaRPr lang="en-US" sz="1300" dirty="0"/>
          </a:p>
        </p:txBody>
      </p:sp>
      <p:sp>
        <p:nvSpPr>
          <p:cNvPr id="19" name="Text 17"/>
          <p:cNvSpPr txBox="1"/>
          <p:nvPr/>
        </p:nvSpPr>
        <p:spPr>
          <a:xfrm>
            <a:off x="777240" y="4892040"/>
            <a:ext cx="2011680" cy="3200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ingress.yaml</a:t>
            </a:r>
            <a:endParaRPr lang="en-US" sz="1200" dirty="0"/>
          </a:p>
        </p:txBody>
      </p:sp>
      <p:sp>
        <p:nvSpPr>
          <p:cNvPr id="20" name="Text 18"/>
          <p:cNvSpPr txBox="1"/>
          <p:nvPr/>
        </p:nvSpPr>
        <p:spPr>
          <a:xfrm>
            <a:off x="2926080" y="4892040"/>
            <a:ext cx="1828800" cy="320040"/>
          </a:xfrm>
          <a:prstGeom prst="rect">
            <a:avLst/>
          </a:prstGeom>
          <a:noFill/>
          <a:ln/>
        </p:spPr>
        <p:txBody>
          <a:bodyPr wrap="square" lIns="0" tIns="0" rIns="0" bIns="0" rtlCol="0" anchor="ctr"/>
          <a:lstStyle/>
          <a:p>
            <a:pPr indent="0" marL="0">
              <a:buNone/>
            </a:pPr>
            <a:r>
              <a:rPr lang="en-US" sz="1300" dirty="0">
                <a:solidFill>
                  <a:schemeClr val="accent5"/>
                </a:solidFill>
              </a:rPr>
              <a:t>placetrack.local</a:t>
            </a:r>
            <a:endParaRPr lang="en-US" sz="1300" dirty="0"/>
          </a:p>
        </p:txBody>
      </p:sp>
      <p:sp>
        <p:nvSpPr>
          <p:cNvPr id="21" name="Text 19"/>
          <p:cNvSpPr txBox="1"/>
          <p:nvPr/>
        </p:nvSpPr>
        <p:spPr>
          <a:xfrm>
            <a:off x="777240" y="5303520"/>
            <a:ext cx="2011680" cy="3200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secret.yaml</a:t>
            </a:r>
            <a:endParaRPr lang="en-US" sz="1200" dirty="0"/>
          </a:p>
        </p:txBody>
      </p:sp>
      <p:sp>
        <p:nvSpPr>
          <p:cNvPr id="22" name="Text 20"/>
          <p:cNvSpPr txBox="1"/>
          <p:nvPr/>
        </p:nvSpPr>
        <p:spPr>
          <a:xfrm>
            <a:off x="2926080" y="5303520"/>
            <a:ext cx="1828800" cy="320040"/>
          </a:xfrm>
          <a:prstGeom prst="rect">
            <a:avLst/>
          </a:prstGeom>
          <a:noFill/>
          <a:ln/>
        </p:spPr>
        <p:txBody>
          <a:bodyPr wrap="square" lIns="0" tIns="0" rIns="0" bIns="0" rtlCol="0" anchor="ctr"/>
          <a:lstStyle/>
          <a:p>
            <a:pPr indent="0" marL="0">
              <a:buNone/>
            </a:pPr>
            <a:r>
              <a:rPr lang="en-US" sz="1300" dirty="0">
                <a:solidFill>
                  <a:schemeClr val="accent5"/>
                </a:solidFill>
              </a:rPr>
              <a:t>database password</a:t>
            </a:r>
            <a:endParaRPr lang="en-US" sz="1300" dirty="0"/>
          </a:p>
        </p:txBody>
      </p:sp>
      <p:sp>
        <p:nvSpPr>
          <p:cNvPr id="23" name="Text 21"/>
          <p:cNvSpPr txBox="1"/>
          <p:nvPr/>
        </p:nvSpPr>
        <p:spPr>
          <a:xfrm>
            <a:off x="777240" y="5715000"/>
            <a:ext cx="2011680" cy="3200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servicemonitor.yaml</a:t>
            </a:r>
            <a:endParaRPr lang="en-US" sz="1200" dirty="0"/>
          </a:p>
        </p:txBody>
      </p:sp>
      <p:sp>
        <p:nvSpPr>
          <p:cNvPr id="24" name="Text 22"/>
          <p:cNvSpPr txBox="1"/>
          <p:nvPr/>
        </p:nvSpPr>
        <p:spPr>
          <a:xfrm>
            <a:off x="2926080" y="5715000"/>
            <a:ext cx="1828800" cy="320040"/>
          </a:xfrm>
          <a:prstGeom prst="rect">
            <a:avLst/>
          </a:prstGeom>
          <a:noFill/>
          <a:ln/>
        </p:spPr>
        <p:txBody>
          <a:bodyPr wrap="square" lIns="0" tIns="0" rIns="0" bIns="0" rtlCol="0" anchor="ctr"/>
          <a:lstStyle/>
          <a:p>
            <a:pPr indent="0" marL="0">
              <a:buNone/>
            </a:pPr>
            <a:r>
              <a:rPr lang="en-US" sz="1300" dirty="0">
                <a:solidFill>
                  <a:schemeClr val="accent5"/>
                </a:solidFill>
              </a:rPr>
              <a:t>Prometheus scrape</a:t>
            </a:r>
            <a:endParaRPr lang="en-US" sz="1300" dirty="0"/>
          </a:p>
        </p:txBody>
      </p:sp>
      <p:sp>
        <p:nvSpPr>
          <p:cNvPr id="25" name="Text 23"/>
          <p:cNvSpPr txBox="1"/>
          <p:nvPr/>
        </p:nvSpPr>
        <p:spPr>
          <a:xfrm>
            <a:off x="5212080" y="1344168"/>
            <a:ext cx="6400800" cy="256032"/>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kubectl get pods and svc -n placetrack</a:t>
            </a:r>
            <a:endParaRPr lang="en-US" sz="1200" dirty="0"/>
          </a:p>
        </p:txBody>
      </p:sp>
      <p:sp>
        <p:nvSpPr>
          <p:cNvPr id="26" name="Frame k8s-pods"/>
          <p:cNvSpPr/>
          <p:nvPr/>
        </p:nvSpPr>
        <p:spPr>
          <a:xfrm>
            <a:off x="5157216" y="1636776"/>
            <a:ext cx="6537960" cy="1789711"/>
          </a:xfrm>
          <a:prstGeom prst="roundRect">
            <a:avLst>
              <a:gd name="adj" fmla="val 4598"/>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27" name="Screenshot k8s-pods" descr="kubectl get pods and svc: 5 pods Running, 3 ClusterIP services">    </p:cNvPr>
          <p:cNvPicPr>
            <a:picLocks noChangeAspect="1"/>
          </p:cNvPicPr>
          <p:nvPr/>
        </p:nvPicPr>
        <p:blipFill>
          <a:blip r:embed="rId1"/>
          <a:stretch>
            <a:fillRect/>
          </a:stretch>
        </p:blipFill>
        <p:spPr>
          <a:xfrm>
            <a:off x="5212080" y="1691640"/>
            <a:ext cx="6428232" cy="1679983"/>
          </a:xfrm>
          <a:prstGeom prst="rect">
            <a:avLst/>
          </a:prstGeom>
        </p:spPr>
      </p:pic>
      <p:sp>
        <p:nvSpPr>
          <p:cNvPr id="28" name="Frame k8s-rest"/>
          <p:cNvSpPr/>
          <p:nvPr/>
        </p:nvSpPr>
        <p:spPr>
          <a:xfrm>
            <a:off x="5157216" y="3499639"/>
            <a:ext cx="6537960" cy="846970"/>
          </a:xfrm>
          <a:prstGeom prst="roundRect">
            <a:avLst>
              <a:gd name="adj" fmla="val 9717"/>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29" name="Screenshot k8s-rest" descr="helm list shows placetrack deployed; ingress placetrack.local; hpa cpu 8% of 60%">    </p:cNvPr>
          <p:cNvPicPr>
            <a:picLocks noChangeAspect="1"/>
          </p:cNvPicPr>
          <p:nvPr/>
        </p:nvPicPr>
        <p:blipFill>
          <a:blip r:embed="rId2"/>
          <a:stretch>
            <a:fillRect/>
          </a:stretch>
        </p:blipFill>
        <p:spPr>
          <a:xfrm>
            <a:off x="5212080" y="3554503"/>
            <a:ext cx="6428232" cy="737242"/>
          </a:xfrm>
          <a:prstGeom prst="rect">
            <a:avLst/>
          </a:prstGeom>
        </p:spPr>
      </p:pic>
      <p:sp>
        <p:nvSpPr>
          <p:cNvPr id="30" name="Helm command"/>
          <p:cNvSpPr/>
          <p:nvPr/>
        </p:nvSpPr>
        <p:spPr>
          <a:xfrm>
            <a:off x="5212080" y="4428905"/>
            <a:ext cx="6428232" cy="566928"/>
          </a:xfrm>
          <a:prstGeom prst="roundRect">
            <a:avLst>
              <a:gd name="adj" fmla="val 16129"/>
            </a:avLst>
          </a:prstGeom>
          <a:solidFill>
            <a:srgbClr val="16211F"/>
          </a:solidFill>
          <a:ln/>
        </p:spPr>
      </p:sp>
      <p:sp>
        <p:nvSpPr>
          <p:cNvPr id="31" name="Text 27"/>
          <p:cNvSpPr txBox="1"/>
          <p:nvPr/>
        </p:nvSpPr>
        <p:spPr>
          <a:xfrm>
            <a:off x="5376672" y="4428905"/>
            <a:ext cx="6126480" cy="566928"/>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helm upgrade --install placetrack helm/placetrack -n placetrack --set image.tag=&lt;SHA&gt; --wait</a:t>
            </a:r>
            <a:endParaRPr lang="en-US" sz="1200" dirty="0"/>
          </a:p>
        </p:txBody>
      </p:sp>
      <p:sp>
        <p:nvSpPr>
          <p:cNvPr id="32" name="Card"/>
          <p:cNvSpPr/>
          <p:nvPr/>
        </p:nvSpPr>
        <p:spPr>
          <a:xfrm>
            <a:off x="5212080" y="5132993"/>
            <a:ext cx="2011680" cy="1130647"/>
          </a:xfrm>
          <a:prstGeom prst="roundRect">
            <a:avLst>
              <a:gd name="adj" fmla="val 8087"/>
            </a:avLst>
          </a:prstGeom>
          <a:solidFill>
            <a:schemeClr val="bg2"/>
          </a:solidFill>
          <a:ln/>
        </p:spPr>
      </p:sp>
      <p:sp>
        <p:nvSpPr>
          <p:cNvPr id="33" name="Text 29"/>
          <p:cNvSpPr txBox="1"/>
          <p:nvPr/>
        </p:nvSpPr>
        <p:spPr>
          <a:xfrm>
            <a:off x="5349240" y="5206145"/>
            <a:ext cx="1737360" cy="5029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2 + 2</a:t>
            </a:r>
            <a:endParaRPr lang="en-US" sz="3200" dirty="0"/>
          </a:p>
        </p:txBody>
      </p:sp>
      <p:sp>
        <p:nvSpPr>
          <p:cNvPr id="34" name="Text 30"/>
          <p:cNvSpPr txBox="1"/>
          <p:nvPr/>
        </p:nvSpPr>
        <p:spPr>
          <a:xfrm>
            <a:off x="5349240" y="5736497"/>
            <a:ext cx="1737360" cy="490567"/>
          </a:xfrm>
          <a:prstGeom prst="rect">
            <a:avLst/>
          </a:prstGeom>
          <a:noFill/>
          <a:ln/>
        </p:spPr>
        <p:txBody>
          <a:bodyPr wrap="square" lIns="0" tIns="0" rIns="0" bIns="0" rtlCol="0" anchor="t"/>
          <a:lstStyle/>
          <a:p>
            <a:pPr indent="0" marL="0">
              <a:buNone/>
            </a:pPr>
            <a:r>
              <a:rPr lang="en-US" sz="1300" dirty="0">
                <a:solidFill>
                  <a:schemeClr val="accent5"/>
                </a:solidFill>
              </a:rPr>
              <a:t>backend and frontend replicas</a:t>
            </a:r>
            <a:endParaRPr lang="en-US" sz="1300" dirty="0"/>
          </a:p>
        </p:txBody>
      </p:sp>
      <p:sp>
        <p:nvSpPr>
          <p:cNvPr id="35" name="Card"/>
          <p:cNvSpPr/>
          <p:nvPr/>
        </p:nvSpPr>
        <p:spPr>
          <a:xfrm>
            <a:off x="7420356" y="5132993"/>
            <a:ext cx="2011680" cy="1130647"/>
          </a:xfrm>
          <a:prstGeom prst="roundRect">
            <a:avLst>
              <a:gd name="adj" fmla="val 8087"/>
            </a:avLst>
          </a:prstGeom>
          <a:solidFill>
            <a:schemeClr val="bg2"/>
          </a:solidFill>
          <a:ln/>
        </p:spPr>
      </p:sp>
      <p:sp>
        <p:nvSpPr>
          <p:cNvPr id="36" name="Text 32"/>
          <p:cNvSpPr txBox="1"/>
          <p:nvPr/>
        </p:nvSpPr>
        <p:spPr>
          <a:xfrm>
            <a:off x="7557516" y="5206145"/>
            <a:ext cx="1737360" cy="5029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5 of 5</a:t>
            </a:r>
            <a:endParaRPr lang="en-US" sz="3200" dirty="0"/>
          </a:p>
        </p:txBody>
      </p:sp>
      <p:sp>
        <p:nvSpPr>
          <p:cNvPr id="37" name="Text 33"/>
          <p:cNvSpPr txBox="1"/>
          <p:nvPr/>
        </p:nvSpPr>
        <p:spPr>
          <a:xfrm>
            <a:off x="7557516" y="5736497"/>
            <a:ext cx="1737360" cy="490567"/>
          </a:xfrm>
          <a:prstGeom prst="rect">
            <a:avLst/>
          </a:prstGeom>
          <a:noFill/>
          <a:ln/>
        </p:spPr>
        <p:txBody>
          <a:bodyPr wrap="square" lIns="0" tIns="0" rIns="0" bIns="0" rtlCol="0" anchor="t"/>
          <a:lstStyle/>
          <a:p>
            <a:pPr indent="0" marL="0">
              <a:buNone/>
            </a:pPr>
            <a:r>
              <a:rPr lang="en-US" sz="1300" dirty="0">
                <a:solidFill>
                  <a:schemeClr val="accent5"/>
                </a:solidFill>
              </a:rPr>
              <a:t>pods Running</a:t>
            </a:r>
            <a:endParaRPr lang="en-US" sz="1300" dirty="0"/>
          </a:p>
        </p:txBody>
      </p:sp>
      <p:sp>
        <p:nvSpPr>
          <p:cNvPr id="38" name="Card"/>
          <p:cNvSpPr/>
          <p:nvPr/>
        </p:nvSpPr>
        <p:spPr>
          <a:xfrm>
            <a:off x="9628632" y="5132993"/>
            <a:ext cx="2011680" cy="1130647"/>
          </a:xfrm>
          <a:prstGeom prst="roundRect">
            <a:avLst>
              <a:gd name="adj" fmla="val 8087"/>
            </a:avLst>
          </a:prstGeom>
          <a:solidFill>
            <a:schemeClr val="bg2"/>
          </a:solidFill>
          <a:ln/>
        </p:spPr>
      </p:sp>
      <p:sp>
        <p:nvSpPr>
          <p:cNvPr id="39" name="Text 35"/>
          <p:cNvSpPr txBox="1"/>
          <p:nvPr/>
        </p:nvSpPr>
        <p:spPr>
          <a:xfrm>
            <a:off x="9765792" y="5206145"/>
            <a:ext cx="1737360" cy="502920"/>
          </a:xfrm>
          <a:prstGeom prst="rect">
            <a:avLst/>
          </a:prstGeom>
          <a:noFill/>
          <a:ln/>
        </p:spPr>
        <p:txBody>
          <a:bodyPr wrap="square" lIns="0" tIns="0" rIns="0" bIns="0" rtlCol="0" anchor="ctr"/>
          <a:lstStyle/>
          <a:p>
            <a:pPr algn="l" indent="0" marL="0">
              <a:buNone/>
            </a:pPr>
            <a:r>
              <a:rPr lang="en-US" sz="2600" b="1" dirty="0">
                <a:solidFill>
                  <a:schemeClr val="tx2"/>
                </a:solidFill>
                <a:latin typeface="+mj-lt" pitchFamily="34" charset="0"/>
                <a:ea typeface="+mj-lt" pitchFamily="34" charset="-122"/>
                <a:cs typeface="+mj-lt" pitchFamily="34" charset="-120"/>
              </a:rPr>
              <a:t>deployed</a:t>
            </a:r>
            <a:endParaRPr lang="en-US" sz="2600" dirty="0"/>
          </a:p>
        </p:txBody>
      </p:sp>
      <p:sp>
        <p:nvSpPr>
          <p:cNvPr id="40" name="Text 36"/>
          <p:cNvSpPr txBox="1"/>
          <p:nvPr/>
        </p:nvSpPr>
        <p:spPr>
          <a:xfrm>
            <a:off x="9765792" y="5736497"/>
            <a:ext cx="1737360" cy="490567"/>
          </a:xfrm>
          <a:prstGeom prst="rect">
            <a:avLst/>
          </a:prstGeom>
          <a:noFill/>
          <a:ln/>
        </p:spPr>
        <p:txBody>
          <a:bodyPr wrap="square" lIns="0" tIns="0" rIns="0" bIns="0" rtlCol="0" anchor="t"/>
          <a:lstStyle/>
          <a:p>
            <a:pPr indent="0" marL="0">
              <a:buNone/>
            </a:pPr>
            <a:r>
              <a:rPr lang="en-US" sz="1300" dirty="0">
                <a:solidFill>
                  <a:schemeClr val="accent5"/>
                </a:solidFill>
              </a:rPr>
              <a:t>Helm release, revision 1</a:t>
            </a:r>
            <a:endParaRPr lang="en-US" sz="13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Ingress: placetrack.local</a:t>
            </a:r>
            <a:endParaRPr lang="en-US" sz="3400" dirty="0"/>
          </a:p>
        </p:txBody>
      </p:sp>
      <p:sp>
        <p:nvSpPr>
          <p:cNvPr id="3" name="Frame 14-app-ingress"/>
          <p:cNvSpPr/>
          <p:nvPr/>
        </p:nvSpPr>
        <p:spPr>
          <a:xfrm>
            <a:off x="493776" y="1362456"/>
            <a:ext cx="7150608" cy="4510278"/>
          </a:xfrm>
          <a:prstGeom prst="roundRect">
            <a:avLst>
              <a:gd name="adj" fmla="val 1825"/>
            </a:avLst>
          </a:prstGeom>
          <a:solidFill>
            <a:srgbClr val="FFFFF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4" name="Screenshot 14-app-ingress" descr="PlaceTrack in the browser at placetrack.local:8080 through the ingress">    </p:cNvPr>
          <p:cNvPicPr>
            <a:picLocks noChangeAspect="1"/>
          </p:cNvPicPr>
          <p:nvPr/>
        </p:nvPicPr>
        <p:blipFill>
          <a:blip r:embed="rId1"/>
          <a:stretch>
            <a:fillRect/>
          </a:stretch>
        </p:blipFill>
        <p:spPr>
          <a:xfrm>
            <a:off x="548640" y="1417320"/>
            <a:ext cx="7040880" cy="4400550"/>
          </a:xfrm>
          <a:prstGeom prst="rect">
            <a:avLst/>
          </a:prstGeom>
        </p:spPr>
      </p:pic>
      <p:sp>
        <p:nvSpPr>
          <p:cNvPr id="5" name="Text 2"/>
          <p:cNvSpPr txBox="1"/>
          <p:nvPr/>
        </p:nvSpPr>
        <p:spPr>
          <a:xfrm>
            <a:off x="548640" y="6046470"/>
            <a:ext cx="7040880" cy="274320"/>
          </a:xfrm>
          <a:prstGeom prst="rect">
            <a:avLst/>
          </a:prstGeom>
          <a:noFill/>
          <a:ln/>
        </p:spPr>
        <p:txBody>
          <a:bodyPr wrap="square" lIns="0" tIns="0" rIns="0" bIns="0" rtlCol="0" anchor="t"/>
          <a:lstStyle/>
          <a:p>
            <a:pPr indent="0" marL="0">
              <a:buNone/>
            </a:pPr>
            <a:r>
              <a:rPr lang="en-US" sz="1400" dirty="0">
                <a:solidFill>
                  <a:schemeClr val="accent5"/>
                </a:solidFill>
              </a:rPr>
              <a:t>Served from the cluster, from the images in GHCR</a:t>
            </a:r>
            <a:endParaRPr lang="en-US" sz="1400" dirty="0"/>
          </a:p>
        </p:txBody>
      </p:sp>
      <p:sp>
        <p:nvSpPr>
          <p:cNvPr id="6" name="Box Browser"/>
          <p:cNvSpPr/>
          <p:nvPr/>
        </p:nvSpPr>
        <p:spPr>
          <a:xfrm>
            <a:off x="8138160" y="1417320"/>
            <a:ext cx="3502152" cy="566928"/>
          </a:xfrm>
          <a:prstGeom prst="roundRect">
            <a:avLst>
              <a:gd name="adj" fmla="val 16129"/>
            </a:avLst>
          </a:prstGeom>
          <a:solidFill>
            <a:schemeClr val="bg2"/>
          </a:solidFill>
          <a:ln/>
        </p:spPr>
        <p:txBody>
          <a:bodyPr wrap="square" lIns="762" tIns="762" rIns="762" bIns="762" rtlCol="0" anchor="ctr"/>
          <a:lstStyle/>
          <a:p>
            <a:pPr algn="ctr" indent="0" marL="0">
              <a:buNone/>
            </a:pPr>
            <a:r>
              <a:rPr lang="en-US" sz="1500" b="1" dirty="0">
                <a:solidFill>
                  <a:schemeClr val="tx1"/>
                </a:solidFill>
              </a:rPr>
              <a:t>Browser</a:t>
            </a:r>
            <a:endParaRPr lang="en-US" sz="1500" dirty="0"/>
          </a:p>
          <a:p>
            <a:pPr algn="ctr" indent="0" marL="0">
              <a:buNone/>
            </a:pPr>
            <a:r>
              <a:rPr lang="en-US" sz="1300" dirty="0">
                <a:solidFill>
                  <a:schemeClr val="tx1"/>
                </a:solidFill>
              </a:rPr>
              <a:t>placetrack.local:8080</a:t>
            </a:r>
            <a:endParaRPr lang="en-US" sz="1500" dirty="0"/>
          </a:p>
        </p:txBody>
      </p:sp>
      <p:sp>
        <p:nvSpPr>
          <p:cNvPr id="7" name="Arrow"/>
          <p:cNvSpPr/>
          <p:nvPr/>
        </p:nvSpPr>
        <p:spPr>
          <a:xfrm>
            <a:off x="9889236" y="1984248"/>
            <a:ext cx="0" cy="411480"/>
          </a:xfrm>
          <a:prstGeom prst="line">
            <a:avLst/>
          </a:prstGeom>
          <a:noFill/>
          <a:ln w="25400">
            <a:solidFill>
              <a:schemeClr val="accent5"/>
            </a:solidFill>
            <a:prstDash val="solid"/>
            <a:tailEnd type="triangle"/>
          </a:ln>
        </p:spPr>
      </p:sp>
      <p:sp>
        <p:nvSpPr>
          <p:cNvPr id="8" name="Box Ingress (nginx)"/>
          <p:cNvSpPr/>
          <p:nvPr/>
        </p:nvSpPr>
        <p:spPr>
          <a:xfrm>
            <a:off x="8138160" y="2395728"/>
            <a:ext cx="3502152" cy="731520"/>
          </a:xfrm>
          <a:prstGeom prst="roundRect">
            <a:avLst>
              <a:gd name="adj" fmla="val 12500"/>
            </a:avLst>
          </a:prstGeom>
          <a:solidFill>
            <a:schemeClr val="tx2"/>
          </a:solidFill>
          <a:ln/>
        </p:spPr>
        <p:txBody>
          <a:bodyPr wrap="square" lIns="762" tIns="762" rIns="762" bIns="762" rtlCol="0" anchor="ctr"/>
          <a:lstStyle/>
          <a:p>
            <a:pPr algn="ctr" indent="0" marL="0">
              <a:buNone/>
            </a:pPr>
            <a:r>
              <a:rPr lang="en-US" sz="1600" b="1" dirty="0">
                <a:solidFill>
                  <a:schemeClr val="bg1"/>
                </a:solidFill>
              </a:rPr>
              <a:t>Ingress (nginx)</a:t>
            </a:r>
            <a:endParaRPr lang="en-US" sz="1600" dirty="0"/>
          </a:p>
          <a:p>
            <a:pPr algn="ctr" indent="0" marL="0">
              <a:buNone/>
            </a:pPr>
            <a:r>
              <a:rPr lang="en-US" sz="1300" dirty="0">
                <a:solidFill>
                  <a:schemeClr val="bg1"/>
                </a:solidFill>
              </a:rPr>
              <a:t>host placetrack.local</a:t>
            </a:r>
            <a:endParaRPr lang="en-US" sz="1600" dirty="0"/>
          </a:p>
        </p:txBody>
      </p:sp>
      <p:sp>
        <p:nvSpPr>
          <p:cNvPr id="9" name="Arrow"/>
          <p:cNvSpPr/>
          <p:nvPr/>
        </p:nvSpPr>
        <p:spPr>
          <a:xfrm>
            <a:off x="8961120" y="3127248"/>
            <a:ext cx="0" cy="548640"/>
          </a:xfrm>
          <a:prstGeom prst="line">
            <a:avLst/>
          </a:prstGeom>
          <a:noFill/>
          <a:ln w="25400">
            <a:solidFill>
              <a:schemeClr val="accent5"/>
            </a:solidFill>
            <a:prstDash val="solid"/>
            <a:tailEnd type="triangle"/>
          </a:ln>
        </p:spPr>
      </p:sp>
      <p:sp>
        <p:nvSpPr>
          <p:cNvPr id="10" name="Arrow"/>
          <p:cNvSpPr/>
          <p:nvPr/>
        </p:nvSpPr>
        <p:spPr>
          <a:xfrm>
            <a:off x="10817352" y="3127248"/>
            <a:ext cx="0" cy="548640"/>
          </a:xfrm>
          <a:prstGeom prst="line">
            <a:avLst/>
          </a:prstGeom>
          <a:noFill/>
          <a:ln w="25400">
            <a:solidFill>
              <a:schemeClr val="accent5"/>
            </a:solidFill>
            <a:prstDash val="solid"/>
            <a:tailEnd type="triangle"/>
          </a:ln>
        </p:spPr>
      </p:sp>
      <p:sp>
        <p:nvSpPr>
          <p:cNvPr id="11" name="Text 8"/>
          <p:cNvSpPr txBox="1"/>
          <p:nvPr/>
        </p:nvSpPr>
        <p:spPr>
          <a:xfrm>
            <a:off x="9070848" y="3273552"/>
            <a:ext cx="548640" cy="2743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a:t>
            </a:r>
            <a:endParaRPr lang="en-US" sz="1400" dirty="0"/>
          </a:p>
        </p:txBody>
      </p:sp>
      <p:sp>
        <p:nvSpPr>
          <p:cNvPr id="12" name="Text 9"/>
          <p:cNvSpPr txBox="1"/>
          <p:nvPr/>
        </p:nvSpPr>
        <p:spPr>
          <a:xfrm>
            <a:off x="10927080" y="3273552"/>
            <a:ext cx="731520" cy="2743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/api</a:t>
            </a:r>
            <a:endParaRPr lang="en-US" sz="1400" dirty="0"/>
          </a:p>
        </p:txBody>
      </p:sp>
      <p:sp>
        <p:nvSpPr>
          <p:cNvPr id="13" name="Box frontend"/>
          <p:cNvSpPr/>
          <p:nvPr/>
        </p:nvSpPr>
        <p:spPr>
          <a:xfrm>
            <a:off x="8138160" y="3675888"/>
            <a:ext cx="1645920" cy="868680"/>
          </a:xfrm>
          <a:prstGeom prst="roundRect">
            <a:avLst>
              <a:gd name="adj" fmla="val 10526"/>
            </a:avLst>
          </a:prstGeom>
          <a:solidFill>
            <a:schemeClr val="bg2"/>
          </a:solidFill>
          <a:ln/>
        </p:spPr>
        <p:txBody>
          <a:bodyPr wrap="square" lIns="762" tIns="762" rIns="762" bIns="762" rtlCol="0" anchor="ctr"/>
          <a:lstStyle/>
          <a:p>
            <a:pPr algn="ctr" indent="0" marL="0">
              <a:buNone/>
            </a:pPr>
            <a:r>
              <a:rPr lang="en-US" sz="1500" b="1" dirty="0">
                <a:solidFill>
                  <a:schemeClr val="tx1"/>
                </a:solidFill>
              </a:rPr>
              <a:t>frontend</a:t>
            </a:r>
            <a:endParaRPr lang="en-US" sz="1500" dirty="0"/>
          </a:p>
          <a:p>
            <a:pPr algn="ctr" indent="0" marL="0">
              <a:buNone/>
            </a:pPr>
            <a:r>
              <a:rPr lang="en-US" sz="1300" dirty="0">
                <a:solidFill>
                  <a:schemeClr val="tx1"/>
                </a:solidFill>
              </a:rPr>
              <a:t>ClusterIP :80</a:t>
            </a:r>
            <a:endParaRPr lang="en-US" sz="1500" dirty="0"/>
          </a:p>
        </p:txBody>
      </p:sp>
      <p:sp>
        <p:nvSpPr>
          <p:cNvPr id="14" name="Box backend"/>
          <p:cNvSpPr/>
          <p:nvPr/>
        </p:nvSpPr>
        <p:spPr>
          <a:xfrm>
            <a:off x="9994392" y="3675888"/>
            <a:ext cx="1645920" cy="868680"/>
          </a:xfrm>
          <a:prstGeom prst="roundRect">
            <a:avLst>
              <a:gd name="adj" fmla="val 10526"/>
            </a:avLst>
          </a:prstGeom>
          <a:solidFill>
            <a:schemeClr val="bg2"/>
          </a:solidFill>
          <a:ln/>
        </p:spPr>
        <p:txBody>
          <a:bodyPr wrap="square" lIns="762" tIns="762" rIns="762" bIns="762" rtlCol="0" anchor="ctr"/>
          <a:lstStyle/>
          <a:p>
            <a:pPr algn="ctr" indent="0" marL="0">
              <a:buNone/>
            </a:pPr>
            <a:r>
              <a:rPr lang="en-US" sz="1500" b="1" dirty="0">
                <a:solidFill>
                  <a:schemeClr val="tx1"/>
                </a:solidFill>
              </a:rPr>
              <a:t>backend</a:t>
            </a:r>
            <a:endParaRPr lang="en-US" sz="1500" dirty="0"/>
          </a:p>
          <a:p>
            <a:pPr algn="ctr" indent="0" marL="0">
              <a:buNone/>
            </a:pPr>
            <a:r>
              <a:rPr lang="en-US" sz="1300" dirty="0">
                <a:solidFill>
                  <a:schemeClr val="tx1"/>
                </a:solidFill>
              </a:rPr>
              <a:t>ClusterIP :8000</a:t>
            </a:r>
            <a:endParaRPr lang="en-US" sz="1500" dirty="0"/>
          </a:p>
        </p:txBody>
      </p:sp>
      <p:sp>
        <p:nvSpPr>
          <p:cNvPr id="15" name="minikube note"/>
          <p:cNvSpPr/>
          <p:nvPr/>
        </p:nvSpPr>
        <p:spPr>
          <a:xfrm>
            <a:off x="8138160" y="4846320"/>
            <a:ext cx="3502152" cy="1143000"/>
          </a:xfrm>
          <a:prstGeom prst="roundRect">
            <a:avLst>
              <a:gd name="adj" fmla="val 8000"/>
            </a:avLst>
          </a:prstGeom>
          <a:solidFill>
            <a:schemeClr val="bg2"/>
          </a:solidFill>
          <a:ln/>
        </p:spPr>
      </p:sp>
      <p:sp>
        <p:nvSpPr>
          <p:cNvPr id="16" name="Text 13"/>
          <p:cNvSpPr txBox="1"/>
          <p:nvPr/>
        </p:nvSpPr>
        <p:spPr>
          <a:xfrm>
            <a:off x="8339328" y="4965192"/>
            <a:ext cx="3099816" cy="109728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On minikube</a:t>
            </a:r>
            <a:endParaRPr lang="en-US" sz="1400" dirty="0"/>
          </a:p>
          <a:p>
            <a:pPr indent="0" marL="0">
              <a:buNone/>
            </a:pPr>
            <a:r>
              <a:rPr lang="en-US" sz="1400" dirty="0">
                <a:solidFill>
                  <a:schemeClr val="tx1"/>
                </a:solidFill>
              </a:rPr>
              <a:t>port-forward ingress-nginx to 8080, and 127.0.0.1 placetrack.local in /etc/hosts</a:t>
            </a:r>
            <a:endParaRPr lang="en-US" sz="14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Autoscaling: the HPA adds a pod</a:t>
            </a:r>
            <a:endParaRPr lang="en-US" sz="3400" dirty="0"/>
          </a:p>
        </p:txBody>
      </p:sp>
      <p:sp>
        <p:nvSpPr>
          <p:cNvPr id="3" name="Card"/>
          <p:cNvSpPr/>
          <p:nvPr/>
        </p:nvSpPr>
        <p:spPr>
          <a:xfrm>
            <a:off x="548640" y="1371600"/>
            <a:ext cx="2606040" cy="1554480"/>
          </a:xfrm>
          <a:prstGeom prst="roundRect">
            <a:avLst>
              <a:gd name="adj" fmla="val 5882"/>
            </a:avLst>
          </a:prstGeom>
          <a:solidFill>
            <a:schemeClr val="bg2"/>
          </a:solidFill>
          <a:ln/>
        </p:spPr>
      </p:sp>
      <p:sp>
        <p:nvSpPr>
          <p:cNvPr id="4" name="Text 2"/>
          <p:cNvSpPr txBox="1"/>
          <p:nvPr/>
        </p:nvSpPr>
        <p:spPr>
          <a:xfrm>
            <a:off x="777240" y="1463040"/>
            <a:ext cx="2148840" cy="868680"/>
          </a:xfrm>
          <a:prstGeom prst="rect">
            <a:avLst/>
          </a:prstGeom>
          <a:noFill/>
          <a:ln/>
        </p:spPr>
        <p:txBody>
          <a:bodyPr wrap="square" lIns="0" tIns="0" rIns="0" bIns="0" rtlCol="0" anchor="ctr"/>
          <a:lstStyle/>
          <a:p>
            <a:pPr indent="0" marL="0">
              <a:buNone/>
            </a:pPr>
            <a:r>
              <a:rPr lang="en-US" sz="5400" b="1" dirty="0">
                <a:solidFill>
                  <a:schemeClr val="tx2"/>
                </a:solidFill>
                <a:latin typeface="+mj-lt" pitchFamily="34" charset="0"/>
                <a:ea typeface="+mj-lt" pitchFamily="34" charset="-122"/>
                <a:cs typeface="+mj-lt" pitchFamily="34" charset="-120"/>
              </a:rPr>
              <a:t>2</a:t>
            </a:r>
            <a:endParaRPr lang="en-US" sz="5400" dirty="0"/>
          </a:p>
        </p:txBody>
      </p:sp>
      <p:sp>
        <p:nvSpPr>
          <p:cNvPr id="5" name="Text 3"/>
          <p:cNvSpPr txBox="1"/>
          <p:nvPr/>
        </p:nvSpPr>
        <p:spPr>
          <a:xfrm>
            <a:off x="777240" y="2359152"/>
            <a:ext cx="2148840" cy="502920"/>
          </a:xfrm>
          <a:prstGeom prst="rect">
            <a:avLst/>
          </a:prstGeom>
          <a:noFill/>
          <a:ln/>
        </p:spPr>
        <p:txBody>
          <a:bodyPr wrap="square" lIns="0" tIns="0" rIns="0" bIns="0" rtlCol="0" anchor="t"/>
          <a:lstStyle/>
          <a:p>
            <a:pPr indent="0" marL="0">
              <a:buNone/>
            </a:pPr>
            <a:r>
              <a:rPr lang="en-US" sz="1400" dirty="0">
                <a:solidFill>
                  <a:schemeClr val="accent5"/>
                </a:solidFill>
              </a:rPr>
              <a:t>minimum backend pods</a:t>
            </a:r>
            <a:endParaRPr lang="en-US" sz="1400" dirty="0"/>
          </a:p>
        </p:txBody>
      </p:sp>
      <p:sp>
        <p:nvSpPr>
          <p:cNvPr id="6" name="Card"/>
          <p:cNvSpPr/>
          <p:nvPr/>
        </p:nvSpPr>
        <p:spPr>
          <a:xfrm>
            <a:off x="3377184" y="1371600"/>
            <a:ext cx="2606040" cy="1554480"/>
          </a:xfrm>
          <a:prstGeom prst="roundRect">
            <a:avLst>
              <a:gd name="adj" fmla="val 5882"/>
            </a:avLst>
          </a:prstGeom>
          <a:solidFill>
            <a:schemeClr val="bg2"/>
          </a:solidFill>
          <a:ln/>
        </p:spPr>
      </p:sp>
      <p:sp>
        <p:nvSpPr>
          <p:cNvPr id="7" name="Text 5"/>
          <p:cNvSpPr txBox="1"/>
          <p:nvPr/>
        </p:nvSpPr>
        <p:spPr>
          <a:xfrm>
            <a:off x="3605784" y="1463040"/>
            <a:ext cx="2148840" cy="868680"/>
          </a:xfrm>
          <a:prstGeom prst="rect">
            <a:avLst/>
          </a:prstGeom>
          <a:noFill/>
          <a:ln/>
        </p:spPr>
        <p:txBody>
          <a:bodyPr wrap="square" lIns="0" tIns="0" rIns="0" bIns="0" rtlCol="0" anchor="ctr"/>
          <a:lstStyle/>
          <a:p>
            <a:pPr indent="0" marL="0">
              <a:buNone/>
            </a:pPr>
            <a:r>
              <a:rPr lang="en-US" sz="5400" b="1" dirty="0">
                <a:solidFill>
                  <a:schemeClr val="tx2"/>
                </a:solidFill>
                <a:latin typeface="+mj-lt" pitchFamily="34" charset="0"/>
                <a:ea typeface="+mj-lt" pitchFamily="34" charset="-122"/>
                <a:cs typeface="+mj-lt" pitchFamily="34" charset="-120"/>
              </a:rPr>
              <a:t>4</a:t>
            </a:r>
            <a:endParaRPr lang="en-US" sz="5400" dirty="0"/>
          </a:p>
        </p:txBody>
      </p:sp>
      <p:sp>
        <p:nvSpPr>
          <p:cNvPr id="8" name="Text 6"/>
          <p:cNvSpPr txBox="1"/>
          <p:nvPr/>
        </p:nvSpPr>
        <p:spPr>
          <a:xfrm>
            <a:off x="3605784" y="2359152"/>
            <a:ext cx="2148840" cy="502920"/>
          </a:xfrm>
          <a:prstGeom prst="rect">
            <a:avLst/>
          </a:prstGeom>
          <a:noFill/>
          <a:ln/>
        </p:spPr>
        <p:txBody>
          <a:bodyPr wrap="square" lIns="0" tIns="0" rIns="0" bIns="0" rtlCol="0" anchor="t"/>
          <a:lstStyle/>
          <a:p>
            <a:pPr indent="0" marL="0">
              <a:buNone/>
            </a:pPr>
            <a:r>
              <a:rPr lang="en-US" sz="1400" dirty="0">
                <a:solidFill>
                  <a:schemeClr val="accent5"/>
                </a:solidFill>
              </a:rPr>
              <a:t>maximum backend pods</a:t>
            </a:r>
            <a:endParaRPr lang="en-US" sz="1400" dirty="0"/>
          </a:p>
        </p:txBody>
      </p:sp>
      <p:sp>
        <p:nvSpPr>
          <p:cNvPr id="9" name="Card"/>
          <p:cNvSpPr/>
          <p:nvPr/>
        </p:nvSpPr>
        <p:spPr>
          <a:xfrm>
            <a:off x="6205728" y="1371600"/>
            <a:ext cx="2606040" cy="1554480"/>
          </a:xfrm>
          <a:prstGeom prst="roundRect">
            <a:avLst>
              <a:gd name="adj" fmla="val 5882"/>
            </a:avLst>
          </a:prstGeom>
          <a:solidFill>
            <a:schemeClr val="bg2"/>
          </a:solidFill>
          <a:ln/>
        </p:spPr>
      </p:sp>
      <p:sp>
        <p:nvSpPr>
          <p:cNvPr id="10" name="Text 8"/>
          <p:cNvSpPr txBox="1"/>
          <p:nvPr/>
        </p:nvSpPr>
        <p:spPr>
          <a:xfrm>
            <a:off x="6434328" y="1463040"/>
            <a:ext cx="2148840" cy="868680"/>
          </a:xfrm>
          <a:prstGeom prst="rect">
            <a:avLst/>
          </a:prstGeom>
          <a:noFill/>
          <a:ln/>
        </p:spPr>
        <p:txBody>
          <a:bodyPr wrap="square" lIns="0" tIns="0" rIns="0" bIns="0" rtlCol="0" anchor="ctr"/>
          <a:lstStyle/>
          <a:p>
            <a:pPr indent="0" marL="0">
              <a:buNone/>
            </a:pPr>
            <a:r>
              <a:rPr lang="en-US" sz="5400" b="1" dirty="0">
                <a:solidFill>
                  <a:schemeClr val="tx2"/>
                </a:solidFill>
                <a:latin typeface="+mj-lt" pitchFamily="34" charset="0"/>
                <a:ea typeface="+mj-lt" pitchFamily="34" charset="-122"/>
                <a:cs typeface="+mj-lt" pitchFamily="34" charset="-120"/>
              </a:rPr>
              <a:t>60%</a:t>
            </a:r>
            <a:endParaRPr lang="en-US" sz="5400" dirty="0"/>
          </a:p>
        </p:txBody>
      </p:sp>
      <p:sp>
        <p:nvSpPr>
          <p:cNvPr id="11" name="Text 9"/>
          <p:cNvSpPr txBox="1"/>
          <p:nvPr/>
        </p:nvSpPr>
        <p:spPr>
          <a:xfrm>
            <a:off x="6434328" y="2359152"/>
            <a:ext cx="2148840" cy="502920"/>
          </a:xfrm>
          <a:prstGeom prst="rect">
            <a:avLst/>
          </a:prstGeom>
          <a:noFill/>
          <a:ln/>
        </p:spPr>
        <p:txBody>
          <a:bodyPr wrap="square" lIns="0" tIns="0" rIns="0" bIns="0" rtlCol="0" anchor="t"/>
          <a:lstStyle/>
          <a:p>
            <a:pPr indent="0" marL="0">
              <a:buNone/>
            </a:pPr>
            <a:r>
              <a:rPr lang="en-US" sz="1400" dirty="0">
                <a:solidFill>
                  <a:schemeClr val="accent5"/>
                </a:solidFill>
              </a:rPr>
              <a:t>CPU target</a:t>
            </a:r>
            <a:endParaRPr lang="en-US" sz="1400" dirty="0"/>
          </a:p>
        </p:txBody>
      </p:sp>
      <p:sp>
        <p:nvSpPr>
          <p:cNvPr id="12" name="Card"/>
          <p:cNvSpPr/>
          <p:nvPr/>
        </p:nvSpPr>
        <p:spPr>
          <a:xfrm>
            <a:off x="9034272" y="1371600"/>
            <a:ext cx="2606040" cy="1554480"/>
          </a:xfrm>
          <a:prstGeom prst="roundRect">
            <a:avLst>
              <a:gd name="adj" fmla="val 5882"/>
            </a:avLst>
          </a:prstGeom>
          <a:solidFill>
            <a:schemeClr val="accent2"/>
          </a:solidFill>
          <a:ln/>
        </p:spPr>
      </p:sp>
      <p:sp>
        <p:nvSpPr>
          <p:cNvPr id="13" name="Text 11"/>
          <p:cNvSpPr txBox="1"/>
          <p:nvPr/>
        </p:nvSpPr>
        <p:spPr>
          <a:xfrm>
            <a:off x="9262872" y="1463040"/>
            <a:ext cx="2148840" cy="868680"/>
          </a:xfrm>
          <a:prstGeom prst="rect">
            <a:avLst/>
          </a:prstGeom>
          <a:noFill/>
          <a:ln/>
        </p:spPr>
        <p:txBody>
          <a:bodyPr wrap="square" lIns="0" tIns="0" rIns="0" bIns="0" rtlCol="0" anchor="ctr"/>
          <a:lstStyle/>
          <a:p>
            <a:pPr indent="0" marL="0">
              <a:buNone/>
            </a:pPr>
            <a:r>
              <a:rPr lang="en-US" sz="5400" b="1" dirty="0">
                <a:solidFill>
                  <a:schemeClr val="tx1"/>
                </a:solidFill>
                <a:latin typeface="+mj-lt" pitchFamily="34" charset="0"/>
                <a:ea typeface="+mj-lt" pitchFamily="34" charset="-122"/>
                <a:cs typeface="+mj-lt" pitchFamily="34" charset="-120"/>
              </a:rPr>
              <a:t>3</a:t>
            </a:r>
            <a:endParaRPr lang="en-US" sz="5400" dirty="0"/>
          </a:p>
        </p:txBody>
      </p:sp>
      <p:sp>
        <p:nvSpPr>
          <p:cNvPr id="14" name="Text 12"/>
          <p:cNvSpPr txBox="1"/>
          <p:nvPr/>
        </p:nvSpPr>
        <p:spPr>
          <a:xfrm>
            <a:off x="9262872" y="2359152"/>
            <a:ext cx="2148840" cy="502920"/>
          </a:xfrm>
          <a:prstGeom prst="rect">
            <a:avLst/>
          </a:prstGeom>
          <a:noFill/>
          <a:ln/>
        </p:spPr>
        <p:txBody>
          <a:bodyPr wrap="square" lIns="0" tIns="0" rIns="0" bIns="0" rtlCol="0" anchor="t"/>
          <a:lstStyle/>
          <a:p>
            <a:pPr indent="0" marL="0">
              <a:buNone/>
            </a:pPr>
            <a:r>
              <a:rPr lang="en-US" sz="1400" dirty="0">
                <a:solidFill>
                  <a:schemeClr val="tx1"/>
                </a:solidFill>
              </a:rPr>
              <a:t>backend pods after the load test</a:t>
            </a:r>
            <a:endParaRPr lang="en-US" sz="1400" dirty="0"/>
          </a:p>
        </p:txBody>
      </p:sp>
      <p:sp>
        <p:nvSpPr>
          <p:cNvPr id="15" name="Frame hpa"/>
          <p:cNvSpPr/>
          <p:nvPr/>
        </p:nvSpPr>
        <p:spPr>
          <a:xfrm>
            <a:off x="493776" y="3236976"/>
            <a:ext cx="11201400" cy="2154129"/>
          </a:xfrm>
          <a:prstGeom prst="roundRect">
            <a:avLst>
              <a:gd name="adj" fmla="val 3820"/>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16" name="Screenshot hpa" descr="kubectl get hpa,pods and the SuccessfulRescale events: new size 3 because CPU is above target">    </p:cNvPr>
          <p:cNvPicPr>
            <a:picLocks noChangeAspect="1"/>
          </p:cNvPicPr>
          <p:nvPr/>
        </p:nvPicPr>
        <p:blipFill>
          <a:blip r:embed="rId1"/>
          <a:stretch>
            <a:fillRect/>
          </a:stretch>
        </p:blipFill>
        <p:spPr>
          <a:xfrm>
            <a:off x="548640" y="3291840"/>
            <a:ext cx="11091672" cy="2044401"/>
          </a:xfrm>
          <a:prstGeom prst="rect">
            <a:avLst/>
          </a:prstGeom>
        </p:spPr>
      </p:pic>
      <p:sp>
        <p:nvSpPr>
          <p:cNvPr id="17" name="Text 14"/>
          <p:cNvSpPr txBox="1"/>
          <p:nvPr/>
        </p:nvSpPr>
        <p:spPr>
          <a:xfrm>
            <a:off x="548640" y="5564841"/>
            <a:ext cx="11091672" cy="320040"/>
          </a:xfrm>
          <a:prstGeom prst="rect">
            <a:avLst/>
          </a:prstGeom>
          <a:noFill/>
          <a:ln/>
        </p:spPr>
        <p:txBody>
          <a:bodyPr wrap="square" lIns="0" tIns="0" rIns="0" bIns="0" rtlCol="0" anchor="t"/>
          <a:lstStyle/>
          <a:p>
            <a:pPr indent="0" marL="0">
              <a:buNone/>
            </a:pPr>
            <a:r>
              <a:rPr lang="en-US" sz="1500" b="1" dirty="0">
                <a:solidFill>
                  <a:schemeClr val="tx1"/>
                </a:solidFill>
              </a:rPr>
              <a:t>Event: New size: 3, because cpu resource utilization (percentage of request) is above target</a:t>
            </a:r>
            <a:endParaRPr lang="en-US" sz="15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Monitoring: Prometheus and Grafana</a:t>
            </a:r>
            <a:endParaRPr lang="en-US" sz="3400" dirty="0"/>
          </a:p>
        </p:txBody>
      </p:sp>
      <p:sp>
        <p:nvSpPr>
          <p:cNvPr id="3" name="Frame metrics"/>
          <p:cNvSpPr/>
          <p:nvPr/>
        </p:nvSpPr>
        <p:spPr>
          <a:xfrm>
            <a:off x="493776" y="1362456"/>
            <a:ext cx="5230368" cy="2100626"/>
          </a:xfrm>
          <a:prstGeom prst="roundRect">
            <a:avLst>
              <a:gd name="adj" fmla="val 3918"/>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4" name="Screenshot metrics" descr="curl /metrics output with http_requests_total per handler">    </p:cNvPr>
          <p:cNvPicPr>
            <a:picLocks noChangeAspect="1"/>
          </p:cNvPicPr>
          <p:nvPr/>
        </p:nvPicPr>
        <p:blipFill>
          <a:blip r:embed="rId1"/>
          <a:stretch>
            <a:fillRect/>
          </a:stretch>
        </p:blipFill>
        <p:spPr>
          <a:xfrm>
            <a:off x="548640" y="1417320"/>
            <a:ext cx="5120640" cy="1990898"/>
          </a:xfrm>
          <a:prstGeom prst="rect">
            <a:avLst/>
          </a:prstGeom>
        </p:spPr>
      </p:pic>
      <p:sp>
        <p:nvSpPr>
          <p:cNvPr id="5" name="Text 2"/>
          <p:cNvSpPr txBox="1"/>
          <p:nvPr/>
        </p:nvSpPr>
        <p:spPr>
          <a:xfrm>
            <a:off x="548640" y="3591098"/>
            <a:ext cx="5120640" cy="274320"/>
          </a:xfrm>
          <a:prstGeom prst="rect">
            <a:avLst/>
          </a:prstGeom>
          <a:noFill/>
          <a:ln/>
        </p:spPr>
        <p:txBody>
          <a:bodyPr wrap="square" lIns="0" tIns="0" rIns="0" bIns="0" rtlCol="0" anchor="t"/>
          <a:lstStyle/>
          <a:p>
            <a:pPr indent="0" marL="0">
              <a:buNone/>
            </a:pPr>
            <a:r>
              <a:rPr lang="en-US" sz="1400" b="1" dirty="0">
                <a:solidFill>
                  <a:schemeClr val="tx1"/>
                </a:solidFill>
              </a:rPr>
              <a:t>1. The backend exposes /metrics</a:t>
            </a:r>
            <a:endParaRPr lang="en-US" sz="1400" dirty="0"/>
          </a:p>
        </p:txBody>
      </p:sp>
      <p:sp>
        <p:nvSpPr>
          <p:cNvPr id="6" name="Frame prom-targets"/>
          <p:cNvSpPr/>
          <p:nvPr/>
        </p:nvSpPr>
        <p:spPr>
          <a:xfrm>
            <a:off x="493776" y="4084874"/>
            <a:ext cx="5230368" cy="1441450"/>
          </a:xfrm>
          <a:prstGeom prst="roundRect">
            <a:avLst>
              <a:gd name="adj" fmla="val 5709"/>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7" name="Screenshot prom-targets" descr="Prometheus targets page: both backend pods UP, 2 of 2 up">    </p:cNvPr>
          <p:cNvPicPr>
            <a:picLocks noChangeAspect="1"/>
          </p:cNvPicPr>
          <p:nvPr/>
        </p:nvPicPr>
        <p:blipFill>
          <a:blip r:embed="rId2"/>
          <a:stretch>
            <a:fillRect/>
          </a:stretch>
        </p:blipFill>
        <p:spPr>
          <a:xfrm>
            <a:off x="548640" y="4139738"/>
            <a:ext cx="5120640" cy="1331722"/>
          </a:xfrm>
          <a:prstGeom prst="rect">
            <a:avLst/>
          </a:prstGeom>
        </p:spPr>
      </p:pic>
      <p:sp>
        <p:nvSpPr>
          <p:cNvPr id="8" name="Text 4"/>
          <p:cNvSpPr txBox="1"/>
          <p:nvPr/>
        </p:nvSpPr>
        <p:spPr>
          <a:xfrm>
            <a:off x="548640" y="5654340"/>
            <a:ext cx="5120640" cy="274320"/>
          </a:xfrm>
          <a:prstGeom prst="rect">
            <a:avLst/>
          </a:prstGeom>
          <a:noFill/>
          <a:ln/>
        </p:spPr>
        <p:txBody>
          <a:bodyPr wrap="square" lIns="0" tIns="0" rIns="0" bIns="0" rtlCol="0" anchor="t"/>
          <a:lstStyle/>
          <a:p>
            <a:pPr indent="0" marL="0">
              <a:buNone/>
            </a:pPr>
            <a:r>
              <a:rPr lang="en-US" sz="1400" b="1" dirty="0">
                <a:solidFill>
                  <a:schemeClr val="tx1"/>
                </a:solidFill>
              </a:rPr>
              <a:t>2. Prometheus scrapes both pods: 2 / 2 up</a:t>
            </a:r>
            <a:endParaRPr lang="en-US" sz="1400" dirty="0"/>
          </a:p>
        </p:txBody>
      </p:sp>
      <p:sp>
        <p:nvSpPr>
          <p:cNvPr id="9" name="Frame 17-grafana"/>
          <p:cNvSpPr/>
          <p:nvPr/>
        </p:nvSpPr>
        <p:spPr>
          <a:xfrm>
            <a:off x="5934456" y="1362456"/>
            <a:ext cx="5760720" cy="3641598"/>
          </a:xfrm>
          <a:prstGeom prst="roundRect">
            <a:avLst>
              <a:gd name="adj" fmla="val 2260"/>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10" name="Screenshot 17-grafana" descr="Grafana dashboard: requests per second, p95 latency, error responses, backend pods up">    </p:cNvPr>
          <p:cNvPicPr>
            <a:picLocks noChangeAspect="1"/>
          </p:cNvPicPr>
          <p:nvPr/>
        </p:nvPicPr>
        <p:blipFill>
          <a:blip r:embed="rId3"/>
          <a:stretch>
            <a:fillRect/>
          </a:stretch>
        </p:blipFill>
        <p:spPr>
          <a:xfrm>
            <a:off x="5989320" y="1417320"/>
            <a:ext cx="5650992" cy="3531870"/>
          </a:xfrm>
          <a:prstGeom prst="rect">
            <a:avLst/>
          </a:prstGeom>
        </p:spPr>
      </p:pic>
      <p:sp>
        <p:nvSpPr>
          <p:cNvPr id="11" name="Text 6"/>
          <p:cNvSpPr txBox="1"/>
          <p:nvPr/>
        </p:nvSpPr>
        <p:spPr>
          <a:xfrm>
            <a:off x="5989320" y="5132070"/>
            <a:ext cx="5650992" cy="274320"/>
          </a:xfrm>
          <a:prstGeom prst="rect">
            <a:avLst/>
          </a:prstGeom>
          <a:noFill/>
          <a:ln/>
        </p:spPr>
        <p:txBody>
          <a:bodyPr wrap="square" lIns="0" tIns="0" rIns="0" bIns="0" rtlCol="0" anchor="t"/>
          <a:lstStyle/>
          <a:p>
            <a:pPr indent="0" marL="0">
              <a:buNone/>
            </a:pPr>
            <a:r>
              <a:rPr lang="en-US" sz="1400" b="1" dirty="0">
                <a:solidFill>
                  <a:schemeClr val="tx1"/>
                </a:solidFill>
              </a:rPr>
              <a:t>3. A small Grafana dashboard</a:t>
            </a:r>
            <a:endParaRPr lang="en-US" sz="1400" dirty="0"/>
          </a:p>
        </p:txBody>
      </p:sp>
      <p:sp>
        <p:nvSpPr>
          <p:cNvPr id="12" name="Card"/>
          <p:cNvSpPr/>
          <p:nvPr/>
        </p:nvSpPr>
        <p:spPr>
          <a:xfrm>
            <a:off x="5989320" y="5589270"/>
            <a:ext cx="2734056" cy="628650"/>
          </a:xfrm>
          <a:prstGeom prst="roundRect">
            <a:avLst>
              <a:gd name="adj" fmla="val 14545"/>
            </a:avLst>
          </a:prstGeom>
          <a:solidFill>
            <a:schemeClr val="bg2"/>
          </a:solidFill>
          <a:ln/>
        </p:spPr>
      </p:sp>
      <p:sp>
        <p:nvSpPr>
          <p:cNvPr id="13" name="Text 8"/>
          <p:cNvSpPr txBox="1"/>
          <p:nvPr/>
        </p:nvSpPr>
        <p:spPr>
          <a:xfrm>
            <a:off x="6172200" y="5634990"/>
            <a:ext cx="731520" cy="537210"/>
          </a:xfrm>
          <a:prstGeom prst="rect">
            <a:avLst/>
          </a:prstGeom>
          <a:noFill/>
          <a:ln/>
        </p:spPr>
        <p:txBody>
          <a:bodyPr wrap="square" lIns="0" tIns="0" rIns="0" bIns="0" rtlCol="0" anchor="ctr"/>
          <a:lstStyle/>
          <a:p>
            <a:pPr indent="0" marL="0">
              <a:buNone/>
            </a:pPr>
            <a:r>
              <a:rPr lang="en-US" sz="4000" b="1" dirty="0">
                <a:solidFill>
                  <a:schemeClr val="tx2"/>
                </a:solidFill>
                <a:latin typeface="+mj-lt" pitchFamily="34" charset="0"/>
                <a:ea typeface="+mj-lt" pitchFamily="34" charset="-122"/>
                <a:cs typeface="+mj-lt" pitchFamily="34" charset="-120"/>
              </a:rPr>
              <a:t>0</a:t>
            </a:r>
            <a:endParaRPr lang="en-US" sz="4000" dirty="0"/>
          </a:p>
        </p:txBody>
      </p:sp>
      <p:sp>
        <p:nvSpPr>
          <p:cNvPr id="14" name="Text 9"/>
          <p:cNvSpPr txBox="1"/>
          <p:nvPr/>
        </p:nvSpPr>
        <p:spPr>
          <a:xfrm>
            <a:off x="6903720" y="5634990"/>
            <a:ext cx="1682496" cy="537210"/>
          </a:xfrm>
          <a:prstGeom prst="rect">
            <a:avLst/>
          </a:prstGeom>
          <a:noFill/>
          <a:ln/>
        </p:spPr>
        <p:txBody>
          <a:bodyPr wrap="square" lIns="0" tIns="0" rIns="0" bIns="0" rtlCol="0" anchor="ctr"/>
          <a:lstStyle/>
          <a:p>
            <a:pPr indent="0" marL="0">
              <a:buNone/>
            </a:pPr>
            <a:r>
              <a:rPr lang="en-US" sz="1300" dirty="0">
                <a:solidFill>
                  <a:schemeClr val="accent5"/>
                </a:solidFill>
              </a:rPr>
              <a:t>error responses per second</a:t>
            </a:r>
            <a:endParaRPr lang="en-US" sz="1300" dirty="0"/>
          </a:p>
        </p:txBody>
      </p:sp>
      <p:sp>
        <p:nvSpPr>
          <p:cNvPr id="15" name="Card"/>
          <p:cNvSpPr/>
          <p:nvPr/>
        </p:nvSpPr>
        <p:spPr>
          <a:xfrm>
            <a:off x="8906256" y="5589270"/>
            <a:ext cx="2734056" cy="628650"/>
          </a:xfrm>
          <a:prstGeom prst="roundRect">
            <a:avLst>
              <a:gd name="adj" fmla="val 14545"/>
            </a:avLst>
          </a:prstGeom>
          <a:solidFill>
            <a:schemeClr val="accent2"/>
          </a:solidFill>
          <a:ln/>
        </p:spPr>
      </p:sp>
      <p:sp>
        <p:nvSpPr>
          <p:cNvPr id="16" name="Text 11"/>
          <p:cNvSpPr txBox="1"/>
          <p:nvPr/>
        </p:nvSpPr>
        <p:spPr>
          <a:xfrm>
            <a:off x="9089136" y="5634990"/>
            <a:ext cx="731520" cy="53721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3</a:t>
            </a:r>
            <a:endParaRPr lang="en-US" sz="4000" dirty="0"/>
          </a:p>
        </p:txBody>
      </p:sp>
      <p:sp>
        <p:nvSpPr>
          <p:cNvPr id="17" name="Text 12"/>
          <p:cNvSpPr txBox="1"/>
          <p:nvPr/>
        </p:nvSpPr>
        <p:spPr>
          <a:xfrm>
            <a:off x="9820656" y="5634990"/>
            <a:ext cx="1682496" cy="537210"/>
          </a:xfrm>
          <a:prstGeom prst="rect">
            <a:avLst/>
          </a:prstGeom>
          <a:noFill/>
          <a:ln/>
        </p:spPr>
        <p:txBody>
          <a:bodyPr wrap="square" lIns="0" tIns="0" rIns="0" bIns="0" rtlCol="0" anchor="ctr"/>
          <a:lstStyle/>
          <a:p>
            <a:pPr indent="0" marL="0">
              <a:buNone/>
            </a:pPr>
            <a:r>
              <a:rPr lang="en-US" sz="1300" dirty="0">
                <a:solidFill>
                  <a:schemeClr val="tx1"/>
                </a:solidFill>
              </a:rPr>
              <a:t>backend pods up, after the HPA scaled</a:t>
            </a:r>
            <a:endParaRPr lang="en-US" sz="130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Troubleshooting: two broken manifests</a:t>
            </a:r>
            <a:endParaRPr lang="en-US" sz="3400" dirty="0"/>
          </a:p>
        </p:txBody>
      </p:sp>
      <p:sp>
        <p:nvSpPr>
          <p:cNvPr id="3" name="1. Bad image tag card"/>
          <p:cNvSpPr/>
          <p:nvPr/>
        </p:nvSpPr>
        <p:spPr>
          <a:xfrm>
            <a:off x="548640" y="1371600"/>
            <a:ext cx="5440680" cy="4892040"/>
          </a:xfrm>
          <a:prstGeom prst="roundRect">
            <a:avLst>
              <a:gd name="adj" fmla="val 1869"/>
            </a:avLst>
          </a:prstGeom>
          <a:solidFill>
            <a:schemeClr val="bg2"/>
          </a:solidFill>
          <a:ln/>
        </p:spPr>
      </p:sp>
      <p:sp>
        <p:nvSpPr>
          <p:cNvPr id="4" name="Text 2"/>
          <p:cNvSpPr txBox="1"/>
          <p:nvPr/>
        </p:nvSpPr>
        <p:spPr>
          <a:xfrm>
            <a:off x="822960" y="1481328"/>
            <a:ext cx="4892040" cy="36576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1. Bad image tag</a:t>
            </a:r>
            <a:endParaRPr lang="en-US" sz="2000" dirty="0"/>
          </a:p>
        </p:txBody>
      </p:sp>
      <p:sp>
        <p:nvSpPr>
          <p:cNvPr id="5" name="Text 3"/>
          <p:cNvSpPr txBox="1"/>
          <p:nvPr/>
        </p:nvSpPr>
        <p:spPr>
          <a:xfrm>
            <a:off x="822960" y="1965960"/>
            <a:ext cx="1051560" cy="548640"/>
          </a:xfrm>
          <a:prstGeom prst="rect">
            <a:avLst/>
          </a:prstGeom>
          <a:noFill/>
          <a:ln/>
        </p:spPr>
        <p:txBody>
          <a:bodyPr wrap="square" lIns="0" tIns="0" rIns="0" bIns="0" rtlCol="0" anchor="t"/>
          <a:lstStyle/>
          <a:p>
            <a:pPr indent="0" marL="0">
              <a:buNone/>
            </a:pPr>
            <a:r>
              <a:rPr lang="en-US" sz="1500" b="1" dirty="0">
                <a:solidFill>
                  <a:schemeClr val="accent3"/>
                </a:solidFill>
              </a:rPr>
              <a:t>Symptom</a:t>
            </a:r>
            <a:endParaRPr lang="en-US" sz="1500" dirty="0"/>
          </a:p>
        </p:txBody>
      </p:sp>
      <p:sp>
        <p:nvSpPr>
          <p:cNvPr id="6" name="Text 4"/>
          <p:cNvSpPr txBox="1"/>
          <p:nvPr/>
        </p:nvSpPr>
        <p:spPr>
          <a:xfrm>
            <a:off x="1920240" y="1965960"/>
            <a:ext cx="3794760" cy="548640"/>
          </a:xfrm>
          <a:prstGeom prst="rect">
            <a:avLst/>
          </a:prstGeom>
          <a:noFill/>
          <a:ln/>
        </p:spPr>
        <p:txBody>
          <a:bodyPr wrap="square" lIns="0" tIns="0" rIns="0" bIns="0" rtlCol="0" anchor="t"/>
          <a:lstStyle/>
          <a:p>
            <a:pPr indent="0" marL="0">
              <a:buNone/>
            </a:pPr>
            <a:r>
              <a:rPr lang="en-US" sz="1500" dirty="0">
                <a:solidFill>
                  <a:schemeClr val="tx1"/>
                </a:solidFill>
              </a:rPr>
              <a:t>Pod 0/1, status ErrImagePull</a:t>
            </a:r>
            <a:endParaRPr lang="en-US" sz="1500" dirty="0"/>
          </a:p>
        </p:txBody>
      </p:sp>
      <p:sp>
        <p:nvSpPr>
          <p:cNvPr id="7" name="Text 5"/>
          <p:cNvSpPr txBox="1"/>
          <p:nvPr/>
        </p:nvSpPr>
        <p:spPr>
          <a:xfrm>
            <a:off x="822960" y="2606040"/>
            <a:ext cx="1051560" cy="548640"/>
          </a:xfrm>
          <a:prstGeom prst="rect">
            <a:avLst/>
          </a:prstGeom>
          <a:noFill/>
          <a:ln/>
        </p:spPr>
        <p:txBody>
          <a:bodyPr wrap="square" lIns="0" tIns="0" rIns="0" bIns="0" rtlCol="0" anchor="t"/>
          <a:lstStyle/>
          <a:p>
            <a:pPr indent="0" marL="0">
              <a:buNone/>
            </a:pPr>
            <a:r>
              <a:rPr lang="en-US" sz="1500" b="1" dirty="0">
                <a:solidFill>
                  <a:schemeClr val="tx2"/>
                </a:solidFill>
              </a:rPr>
              <a:t>Cause</a:t>
            </a:r>
            <a:endParaRPr lang="en-US" sz="1500" dirty="0"/>
          </a:p>
        </p:txBody>
      </p:sp>
      <p:sp>
        <p:nvSpPr>
          <p:cNvPr id="8" name="Text 6"/>
          <p:cNvSpPr txBox="1"/>
          <p:nvPr/>
        </p:nvSpPr>
        <p:spPr>
          <a:xfrm>
            <a:off x="1920240" y="2606040"/>
            <a:ext cx="3794760" cy="548640"/>
          </a:xfrm>
          <a:prstGeom prst="rect">
            <a:avLst/>
          </a:prstGeom>
          <a:noFill/>
          <a:ln/>
        </p:spPr>
        <p:txBody>
          <a:bodyPr wrap="square" lIns="0" tIns="0" rIns="0" bIns="0" rtlCol="0" anchor="t"/>
          <a:lstStyle/>
          <a:p>
            <a:pPr indent="0" marL="0">
              <a:buNone/>
            </a:pPr>
            <a:r>
              <a:rPr lang="en-US" sz="1500" dirty="0">
                <a:solidFill>
                  <a:schemeClr val="tx1"/>
                </a:solidFill>
              </a:rPr>
              <a:t>The manifest uses tag does-not-exist, which is not in GHCR</a:t>
            </a:r>
            <a:endParaRPr lang="en-US" sz="1500" dirty="0"/>
          </a:p>
        </p:txBody>
      </p:sp>
      <p:sp>
        <p:nvSpPr>
          <p:cNvPr id="9" name="Text 7"/>
          <p:cNvSpPr txBox="1"/>
          <p:nvPr/>
        </p:nvSpPr>
        <p:spPr>
          <a:xfrm>
            <a:off x="822960" y="3246120"/>
            <a:ext cx="1051560" cy="548640"/>
          </a:xfrm>
          <a:prstGeom prst="rect">
            <a:avLst/>
          </a:prstGeom>
          <a:noFill/>
          <a:ln/>
        </p:spPr>
        <p:txBody>
          <a:bodyPr wrap="square" lIns="0" tIns="0" rIns="0" bIns="0" rtlCol="0" anchor="t"/>
          <a:lstStyle/>
          <a:p>
            <a:pPr indent="0" marL="0">
              <a:buNone/>
            </a:pPr>
            <a:r>
              <a:rPr lang="en-US" sz="1500" b="1" dirty="0">
                <a:solidFill>
                  <a:schemeClr val="accent4"/>
                </a:solidFill>
              </a:rPr>
              <a:t>Fix</a:t>
            </a:r>
            <a:endParaRPr lang="en-US" sz="1500" dirty="0"/>
          </a:p>
        </p:txBody>
      </p:sp>
      <p:sp>
        <p:nvSpPr>
          <p:cNvPr id="10" name="Text 8"/>
          <p:cNvSpPr txBox="1"/>
          <p:nvPr/>
        </p:nvSpPr>
        <p:spPr>
          <a:xfrm>
            <a:off x="1920240" y="3246120"/>
            <a:ext cx="3794760" cy="548640"/>
          </a:xfrm>
          <a:prstGeom prst="rect">
            <a:avLst/>
          </a:prstGeom>
          <a:noFill/>
          <a:ln/>
        </p:spPr>
        <p:txBody>
          <a:bodyPr wrap="square" lIns="0" tIns="0" rIns="0" bIns="0" rtlCol="0" anchor="t"/>
          <a:lstStyle/>
          <a:p>
            <a:pPr indent="0" marL="0">
              <a:buNone/>
            </a:pPr>
            <a:r>
              <a:rPr lang="en-US" sz="1500" dirty="0">
                <a:solidFill>
                  <a:schemeClr val="tx1"/>
                </a:solidFill>
              </a:rPr>
              <a:t>kubectl set image to the commit SHA tag the pipeline pushed</a:t>
            </a:r>
            <a:endParaRPr lang="en-US" sz="1500" dirty="0"/>
          </a:p>
        </p:txBody>
      </p:sp>
      <p:sp>
        <p:nvSpPr>
          <p:cNvPr id="11" name="Text 9"/>
          <p:cNvSpPr txBox="1"/>
          <p:nvPr/>
        </p:nvSpPr>
        <p:spPr>
          <a:xfrm>
            <a:off x="822960" y="3886200"/>
            <a:ext cx="1051560" cy="548640"/>
          </a:xfrm>
          <a:prstGeom prst="rect">
            <a:avLst/>
          </a:prstGeom>
          <a:noFill/>
          <a:ln/>
        </p:spPr>
        <p:txBody>
          <a:bodyPr wrap="square" lIns="0" tIns="0" rIns="0" bIns="0" rtlCol="0" anchor="t"/>
          <a:lstStyle/>
          <a:p>
            <a:pPr indent="0" marL="0">
              <a:buNone/>
            </a:pPr>
            <a:r>
              <a:rPr lang="en-US" sz="1500" b="1" dirty="0">
                <a:solidFill>
                  <a:schemeClr val="accent5"/>
                </a:solidFill>
              </a:rPr>
              <a:t>Verify</a:t>
            </a:r>
            <a:endParaRPr lang="en-US" sz="1500" dirty="0"/>
          </a:p>
        </p:txBody>
      </p:sp>
      <p:sp>
        <p:nvSpPr>
          <p:cNvPr id="12" name="Text 10"/>
          <p:cNvSpPr txBox="1"/>
          <p:nvPr/>
        </p:nvSpPr>
        <p:spPr>
          <a:xfrm>
            <a:off x="1920240" y="3886200"/>
            <a:ext cx="3794760" cy="548640"/>
          </a:xfrm>
          <a:prstGeom prst="rect">
            <a:avLst/>
          </a:prstGeom>
          <a:noFill/>
          <a:ln/>
        </p:spPr>
        <p:txBody>
          <a:bodyPr wrap="square" lIns="0" tIns="0" rIns="0" bIns="0" rtlCol="0" anchor="t"/>
          <a:lstStyle/>
          <a:p>
            <a:pPr indent="0" marL="0">
              <a:buNone/>
            </a:pPr>
            <a:r>
              <a:rPr lang="en-US" sz="1500" dirty="0">
                <a:solidFill>
                  <a:schemeClr val="tx1"/>
                </a:solidFill>
              </a:rPr>
              <a:t>New pod 1/1 Running, old pod Terminating</a:t>
            </a:r>
            <a:endParaRPr lang="en-US" sz="1500" dirty="0"/>
          </a:p>
        </p:txBody>
      </p:sp>
      <p:sp>
        <p:nvSpPr>
          <p:cNvPr id="13" name="Fix command"/>
          <p:cNvSpPr/>
          <p:nvPr/>
        </p:nvSpPr>
        <p:spPr>
          <a:xfrm>
            <a:off x="822960" y="4434840"/>
            <a:ext cx="4892040" cy="566928"/>
          </a:xfrm>
          <a:prstGeom prst="roundRect">
            <a:avLst>
              <a:gd name="adj" fmla="val 11290"/>
            </a:avLst>
          </a:prstGeom>
          <a:solidFill>
            <a:srgbClr val="16211F"/>
          </a:solidFill>
          <a:ln/>
        </p:spPr>
      </p:sp>
      <p:sp>
        <p:nvSpPr>
          <p:cNvPr id="14" name="Text 12"/>
          <p:cNvSpPr txBox="1"/>
          <p:nvPr/>
        </p:nvSpPr>
        <p:spPr>
          <a:xfrm>
            <a:off x="960120" y="4434840"/>
            <a:ext cx="4617720" cy="566928"/>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kubectl -n placetrack set image deploy/tb-image app=ghcr.io/raghavendra1729-cell/placetrack-backend:&lt;commit SHA&gt;</a:t>
            </a:r>
            <a:endParaRPr lang="en-US" sz="1100" dirty="0"/>
          </a:p>
        </p:txBody>
      </p:sp>
      <p:sp>
        <p:nvSpPr>
          <p:cNvPr id="15" name="Frame ts-img-before"/>
          <p:cNvSpPr/>
          <p:nvPr/>
        </p:nvSpPr>
        <p:spPr>
          <a:xfrm>
            <a:off x="768096" y="5093208"/>
            <a:ext cx="5001768" cy="374298"/>
          </a:xfrm>
          <a:prstGeom prst="roundRect">
            <a:avLst>
              <a:gd name="adj" fmla="val 21987"/>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16" name="Screenshot ts-img-before" descr="kubectl get pods showing ErrImagePull">    </p:cNvPr>
          <p:cNvPicPr>
            <a:picLocks noChangeAspect="1"/>
          </p:cNvPicPr>
          <p:nvPr/>
        </p:nvPicPr>
        <p:blipFill>
          <a:blip r:embed="rId1"/>
          <a:stretch>
            <a:fillRect/>
          </a:stretch>
        </p:blipFill>
        <p:spPr>
          <a:xfrm>
            <a:off x="822960" y="5148072"/>
            <a:ext cx="4892040" cy="264570"/>
          </a:xfrm>
          <a:prstGeom prst="rect">
            <a:avLst/>
          </a:prstGeom>
        </p:spPr>
      </p:pic>
      <p:sp>
        <p:nvSpPr>
          <p:cNvPr id="17" name="2. Service selector mismatch card"/>
          <p:cNvSpPr/>
          <p:nvPr/>
        </p:nvSpPr>
        <p:spPr>
          <a:xfrm>
            <a:off x="6199632" y="1371600"/>
            <a:ext cx="5440680" cy="4892040"/>
          </a:xfrm>
          <a:prstGeom prst="roundRect">
            <a:avLst>
              <a:gd name="adj" fmla="val 1869"/>
            </a:avLst>
          </a:prstGeom>
          <a:solidFill>
            <a:schemeClr val="bg2"/>
          </a:solidFill>
          <a:ln/>
        </p:spPr>
      </p:sp>
      <p:sp>
        <p:nvSpPr>
          <p:cNvPr id="18" name="Text 15"/>
          <p:cNvSpPr txBox="1"/>
          <p:nvPr/>
        </p:nvSpPr>
        <p:spPr>
          <a:xfrm>
            <a:off x="6473952" y="1481328"/>
            <a:ext cx="4892040" cy="36576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2. Service selector mismatch</a:t>
            </a:r>
            <a:endParaRPr lang="en-US" sz="2000" dirty="0"/>
          </a:p>
        </p:txBody>
      </p:sp>
      <p:sp>
        <p:nvSpPr>
          <p:cNvPr id="19" name="Text 16"/>
          <p:cNvSpPr txBox="1"/>
          <p:nvPr/>
        </p:nvSpPr>
        <p:spPr>
          <a:xfrm>
            <a:off x="6473952" y="1965960"/>
            <a:ext cx="1051560" cy="548640"/>
          </a:xfrm>
          <a:prstGeom prst="rect">
            <a:avLst/>
          </a:prstGeom>
          <a:noFill/>
          <a:ln/>
        </p:spPr>
        <p:txBody>
          <a:bodyPr wrap="square" lIns="0" tIns="0" rIns="0" bIns="0" rtlCol="0" anchor="t"/>
          <a:lstStyle/>
          <a:p>
            <a:pPr indent="0" marL="0">
              <a:buNone/>
            </a:pPr>
            <a:r>
              <a:rPr lang="en-US" sz="1500" b="1" dirty="0">
                <a:solidFill>
                  <a:schemeClr val="accent3"/>
                </a:solidFill>
              </a:rPr>
              <a:t>Symptom</a:t>
            </a:r>
            <a:endParaRPr lang="en-US" sz="1500" dirty="0"/>
          </a:p>
        </p:txBody>
      </p:sp>
      <p:sp>
        <p:nvSpPr>
          <p:cNvPr id="20" name="Text 17"/>
          <p:cNvSpPr txBox="1"/>
          <p:nvPr/>
        </p:nvSpPr>
        <p:spPr>
          <a:xfrm>
            <a:off x="7571232" y="1965960"/>
            <a:ext cx="3794760" cy="548640"/>
          </a:xfrm>
          <a:prstGeom prst="rect">
            <a:avLst/>
          </a:prstGeom>
          <a:noFill/>
          <a:ln/>
        </p:spPr>
        <p:txBody>
          <a:bodyPr wrap="square" lIns="0" tIns="0" rIns="0" bIns="0" rtlCol="0" anchor="t"/>
          <a:lstStyle/>
          <a:p>
            <a:pPr indent="0" marL="0">
              <a:buNone/>
            </a:pPr>
            <a:r>
              <a:rPr lang="en-US" sz="1500" dirty="0">
                <a:solidFill>
                  <a:schemeClr val="tx1"/>
                </a:solidFill>
              </a:rPr>
              <a:t>Pod Running, but the Service has no endpoints (&lt;none&gt;)</a:t>
            </a:r>
            <a:endParaRPr lang="en-US" sz="1500" dirty="0"/>
          </a:p>
        </p:txBody>
      </p:sp>
      <p:sp>
        <p:nvSpPr>
          <p:cNvPr id="21" name="Text 18"/>
          <p:cNvSpPr txBox="1"/>
          <p:nvPr/>
        </p:nvSpPr>
        <p:spPr>
          <a:xfrm>
            <a:off x="6473952" y="2606040"/>
            <a:ext cx="1051560" cy="548640"/>
          </a:xfrm>
          <a:prstGeom prst="rect">
            <a:avLst/>
          </a:prstGeom>
          <a:noFill/>
          <a:ln/>
        </p:spPr>
        <p:txBody>
          <a:bodyPr wrap="square" lIns="0" tIns="0" rIns="0" bIns="0" rtlCol="0" anchor="t"/>
          <a:lstStyle/>
          <a:p>
            <a:pPr indent="0" marL="0">
              <a:buNone/>
            </a:pPr>
            <a:r>
              <a:rPr lang="en-US" sz="1500" b="1" dirty="0">
                <a:solidFill>
                  <a:schemeClr val="tx2"/>
                </a:solidFill>
              </a:rPr>
              <a:t>Cause</a:t>
            </a:r>
            <a:endParaRPr lang="en-US" sz="1500" dirty="0"/>
          </a:p>
        </p:txBody>
      </p:sp>
      <p:sp>
        <p:nvSpPr>
          <p:cNvPr id="22" name="Text 19"/>
          <p:cNvSpPr txBox="1"/>
          <p:nvPr/>
        </p:nvSpPr>
        <p:spPr>
          <a:xfrm>
            <a:off x="7571232" y="2606040"/>
            <a:ext cx="3794760" cy="548640"/>
          </a:xfrm>
          <a:prstGeom prst="rect">
            <a:avLst/>
          </a:prstGeom>
          <a:noFill/>
          <a:ln/>
        </p:spPr>
        <p:txBody>
          <a:bodyPr wrap="square" lIns="0" tIns="0" rIns="0" bIns="0" rtlCol="0" anchor="t"/>
          <a:lstStyle/>
          <a:p>
            <a:pPr indent="0" marL="0">
              <a:buNone/>
            </a:pPr>
            <a:r>
              <a:rPr lang="en-US" sz="1500" dirty="0">
                <a:solidFill>
                  <a:schemeClr val="tx1"/>
                </a:solidFill>
              </a:rPr>
              <a:t>Service selects app=tb-service, the pod is labelled app=tb-svc</a:t>
            </a:r>
            <a:endParaRPr lang="en-US" sz="1500" dirty="0"/>
          </a:p>
        </p:txBody>
      </p:sp>
      <p:sp>
        <p:nvSpPr>
          <p:cNvPr id="23" name="Text 20"/>
          <p:cNvSpPr txBox="1"/>
          <p:nvPr/>
        </p:nvSpPr>
        <p:spPr>
          <a:xfrm>
            <a:off x="6473952" y="3246120"/>
            <a:ext cx="1051560" cy="548640"/>
          </a:xfrm>
          <a:prstGeom prst="rect">
            <a:avLst/>
          </a:prstGeom>
          <a:noFill/>
          <a:ln/>
        </p:spPr>
        <p:txBody>
          <a:bodyPr wrap="square" lIns="0" tIns="0" rIns="0" bIns="0" rtlCol="0" anchor="t"/>
          <a:lstStyle/>
          <a:p>
            <a:pPr indent="0" marL="0">
              <a:buNone/>
            </a:pPr>
            <a:r>
              <a:rPr lang="en-US" sz="1500" b="1" dirty="0">
                <a:solidFill>
                  <a:schemeClr val="accent4"/>
                </a:solidFill>
              </a:rPr>
              <a:t>Fix</a:t>
            </a:r>
            <a:endParaRPr lang="en-US" sz="1500" dirty="0"/>
          </a:p>
        </p:txBody>
      </p:sp>
      <p:sp>
        <p:nvSpPr>
          <p:cNvPr id="24" name="Text 21"/>
          <p:cNvSpPr txBox="1"/>
          <p:nvPr/>
        </p:nvSpPr>
        <p:spPr>
          <a:xfrm>
            <a:off x="7571232" y="3246120"/>
            <a:ext cx="3794760" cy="548640"/>
          </a:xfrm>
          <a:prstGeom prst="rect">
            <a:avLst/>
          </a:prstGeom>
          <a:noFill/>
          <a:ln/>
        </p:spPr>
        <p:txBody>
          <a:bodyPr wrap="square" lIns="0" tIns="0" rIns="0" bIns="0" rtlCol="0" anchor="t"/>
          <a:lstStyle/>
          <a:p>
            <a:pPr indent="0" marL="0">
              <a:buNone/>
            </a:pPr>
            <a:r>
              <a:rPr lang="en-US" sz="1500" dirty="0">
                <a:solidFill>
                  <a:schemeClr val="tx1"/>
                </a:solidFill>
              </a:rPr>
              <a:t>kubectl patch svc to select app=tb-svc</a:t>
            </a:r>
            <a:endParaRPr lang="en-US" sz="1500" dirty="0"/>
          </a:p>
        </p:txBody>
      </p:sp>
      <p:sp>
        <p:nvSpPr>
          <p:cNvPr id="25" name="Text 22"/>
          <p:cNvSpPr txBox="1"/>
          <p:nvPr/>
        </p:nvSpPr>
        <p:spPr>
          <a:xfrm>
            <a:off x="6473952" y="3886200"/>
            <a:ext cx="1051560" cy="548640"/>
          </a:xfrm>
          <a:prstGeom prst="rect">
            <a:avLst/>
          </a:prstGeom>
          <a:noFill/>
          <a:ln/>
        </p:spPr>
        <p:txBody>
          <a:bodyPr wrap="square" lIns="0" tIns="0" rIns="0" bIns="0" rtlCol="0" anchor="t"/>
          <a:lstStyle/>
          <a:p>
            <a:pPr indent="0" marL="0">
              <a:buNone/>
            </a:pPr>
            <a:r>
              <a:rPr lang="en-US" sz="1500" b="1" dirty="0">
                <a:solidFill>
                  <a:schemeClr val="accent5"/>
                </a:solidFill>
              </a:rPr>
              <a:t>Verify</a:t>
            </a:r>
            <a:endParaRPr lang="en-US" sz="1500" dirty="0"/>
          </a:p>
        </p:txBody>
      </p:sp>
      <p:sp>
        <p:nvSpPr>
          <p:cNvPr id="26" name="Text 23"/>
          <p:cNvSpPr txBox="1"/>
          <p:nvPr/>
        </p:nvSpPr>
        <p:spPr>
          <a:xfrm>
            <a:off x="7571232" y="3886200"/>
            <a:ext cx="3794760" cy="548640"/>
          </a:xfrm>
          <a:prstGeom prst="rect">
            <a:avLst/>
          </a:prstGeom>
          <a:noFill/>
          <a:ln/>
        </p:spPr>
        <p:txBody>
          <a:bodyPr wrap="square" lIns="0" tIns="0" rIns="0" bIns="0" rtlCol="0" anchor="t"/>
          <a:lstStyle/>
          <a:p>
            <a:pPr indent="0" marL="0">
              <a:buNone/>
            </a:pPr>
            <a:r>
              <a:rPr lang="en-US" sz="1500" dirty="0">
                <a:solidFill>
                  <a:schemeClr val="tx1"/>
                </a:solidFill>
              </a:rPr>
              <a:t>Endpoint 10.244.0.23:80 appears</a:t>
            </a:r>
            <a:endParaRPr lang="en-US" sz="1500" dirty="0"/>
          </a:p>
        </p:txBody>
      </p:sp>
      <p:sp>
        <p:nvSpPr>
          <p:cNvPr id="27" name="Fix command"/>
          <p:cNvSpPr/>
          <p:nvPr/>
        </p:nvSpPr>
        <p:spPr>
          <a:xfrm>
            <a:off x="6473952" y="4434840"/>
            <a:ext cx="4892040" cy="566928"/>
          </a:xfrm>
          <a:prstGeom prst="roundRect">
            <a:avLst>
              <a:gd name="adj" fmla="val 11290"/>
            </a:avLst>
          </a:prstGeom>
          <a:solidFill>
            <a:srgbClr val="16211F"/>
          </a:solidFill>
          <a:ln/>
        </p:spPr>
      </p:sp>
      <p:sp>
        <p:nvSpPr>
          <p:cNvPr id="28" name="Text 25"/>
          <p:cNvSpPr txBox="1"/>
          <p:nvPr/>
        </p:nvSpPr>
        <p:spPr>
          <a:xfrm>
            <a:off x="6611112" y="4434840"/>
            <a:ext cx="4617720" cy="566928"/>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kubectl -n placetrack patch svc tb-svc -p '{"spec":{"selector":{"app":"tb-svc"}}}'</a:t>
            </a:r>
            <a:endParaRPr lang="en-US" sz="1100" dirty="0"/>
          </a:p>
        </p:txBody>
      </p:sp>
      <p:sp>
        <p:nvSpPr>
          <p:cNvPr id="29" name="Frame ts-svc-before"/>
          <p:cNvSpPr/>
          <p:nvPr/>
        </p:nvSpPr>
        <p:spPr>
          <a:xfrm>
            <a:off x="6419088" y="5093208"/>
            <a:ext cx="5001768" cy="564328"/>
          </a:xfrm>
          <a:prstGeom prst="roundRect">
            <a:avLst>
              <a:gd name="adj" fmla="val 14583"/>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30" name="Screenshot ts-svc-before" descr="Service selector app tb-service and pod label app tb-svc">    </p:cNvPr>
          <p:cNvPicPr>
            <a:picLocks noChangeAspect="1"/>
          </p:cNvPicPr>
          <p:nvPr/>
        </p:nvPicPr>
        <p:blipFill>
          <a:blip r:embed="rId2"/>
          <a:stretch>
            <a:fillRect/>
          </a:stretch>
        </p:blipFill>
        <p:spPr>
          <a:xfrm>
            <a:off x="6473952" y="5148072"/>
            <a:ext cx="4892040" cy="454600"/>
          </a:xfrm>
          <a:prstGeom prst="rect">
            <a:avLst/>
          </a:prstGeom>
        </p:spPr>
      </p:pic>
      <p:sp>
        <p:nvSpPr>
          <p:cNvPr id="31" name="Frame ts-svc-after"/>
          <p:cNvSpPr/>
          <p:nvPr/>
        </p:nvSpPr>
        <p:spPr>
          <a:xfrm>
            <a:off x="6419088" y="5675824"/>
            <a:ext cx="5001768" cy="501091"/>
          </a:xfrm>
          <a:prstGeom prst="roundRect">
            <a:avLst>
              <a:gd name="adj" fmla="val 16423"/>
            </a:avLst>
          </a:prstGeom>
          <a:solidFill>
            <a:srgbClr val="16211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32" name="Screenshot ts-svc-after" descr="Endpoints after the patch: 10.244.0.23:80">    </p:cNvPr>
          <p:cNvPicPr>
            <a:picLocks noChangeAspect="1"/>
          </p:cNvPicPr>
          <p:nvPr/>
        </p:nvPicPr>
        <p:blipFill>
          <a:blip r:embed="rId3"/>
          <a:stretch>
            <a:fillRect/>
          </a:stretch>
        </p:blipFill>
        <p:spPr>
          <a:xfrm>
            <a:off x="6473952" y="5730688"/>
            <a:ext cx="4892040" cy="391363"/>
          </a:xfrm>
          <a:prstGeom prst="rect">
            <a:avLst/>
          </a:prstGeom>
        </p:spPr>
      </p:pic>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Live demo: change, push, deploy</a:t>
            </a:r>
            <a:endParaRPr lang="en-US" sz="3400" dirty="0"/>
          </a:p>
        </p:txBody>
      </p:sp>
      <p:sp>
        <p:nvSpPr>
          <p:cNvPr id="3" name="Step number 1"/>
          <p:cNvSpPr/>
          <p:nvPr/>
        </p:nvSpPr>
        <p:spPr>
          <a:xfrm>
            <a:off x="548640" y="1463040"/>
            <a:ext cx="640080" cy="640080"/>
          </a:xfrm>
          <a:prstGeom prst="ellipse">
            <a:avLst/>
          </a:prstGeom>
          <a:solidFill>
            <a:schemeClr val="tx2"/>
          </a:solid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1</a:t>
            </a:r>
            <a:endParaRPr lang="en-US" sz="2200" dirty="0"/>
          </a:p>
        </p:txBody>
      </p:sp>
      <p:sp>
        <p:nvSpPr>
          <p:cNvPr id="4" name="Text 2"/>
          <p:cNvSpPr txBox="1"/>
          <p:nvPr/>
        </p:nvSpPr>
        <p:spPr>
          <a:xfrm>
            <a:off x="1463040" y="1417320"/>
            <a:ext cx="5120640" cy="365760"/>
          </a:xfrm>
          <a:prstGeom prst="rect">
            <a:avLst/>
          </a:prstGeom>
          <a:noFill/>
          <a:ln/>
        </p:spPr>
        <p:txBody>
          <a:bodyPr wrap="square" lIns="0" tIns="0" rIns="0" bIns="0" rtlCol="0" anchor="t"/>
          <a:lstStyle/>
          <a:p>
            <a:pPr indent="0" marL="0">
              <a:buNone/>
            </a:pPr>
            <a:r>
              <a:rPr lang="en-US" sz="2000" b="1" dirty="0">
                <a:solidFill>
                  <a:schemeClr val="tx1"/>
                </a:solidFill>
              </a:rPr>
              <a:t>Edit the subtitle</a:t>
            </a:r>
            <a:endParaRPr lang="en-US" sz="2000" dirty="0"/>
          </a:p>
        </p:txBody>
      </p:sp>
      <p:sp>
        <p:nvSpPr>
          <p:cNvPr id="5" name="Text 3"/>
          <p:cNvSpPr txBox="1"/>
          <p:nvPr/>
        </p:nvSpPr>
        <p:spPr>
          <a:xfrm>
            <a:off x="1463040" y="1801368"/>
            <a:ext cx="5120640" cy="365760"/>
          </a:xfrm>
          <a:prstGeom prst="rect">
            <a:avLst/>
          </a:prstGeom>
          <a:noFill/>
          <a:ln/>
        </p:spPr>
        <p:txBody>
          <a:bodyPr wrap="square" lIns="0" tIns="0" rIns="0" bIns="0" rtlCol="0" anchor="t"/>
          <a:lstStyle/>
          <a:p>
            <a:pPr indent="0" marL="0">
              <a:buNone/>
            </a:pPr>
            <a:r>
              <a:rPr lang="en-US" sz="1500" dirty="0">
                <a:solidFill>
                  <a:schemeClr val="accent5"/>
                </a:solidFill>
              </a:rPr>
              <a:t>in frontend/src/App.jsx, the line under PlaceTrack</a:t>
            </a:r>
            <a:endParaRPr lang="en-US" sz="1500" dirty="0"/>
          </a:p>
        </p:txBody>
      </p:sp>
      <p:sp>
        <p:nvSpPr>
          <p:cNvPr id="6" name="Step number 2"/>
          <p:cNvSpPr/>
          <p:nvPr/>
        </p:nvSpPr>
        <p:spPr>
          <a:xfrm>
            <a:off x="548640" y="2423160"/>
            <a:ext cx="640080" cy="640080"/>
          </a:xfrm>
          <a:prstGeom prst="ellipse">
            <a:avLst/>
          </a:prstGeom>
          <a:solidFill>
            <a:schemeClr val="tx2"/>
          </a:solid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2</a:t>
            </a:r>
            <a:endParaRPr lang="en-US" sz="2200" dirty="0"/>
          </a:p>
        </p:txBody>
      </p:sp>
      <p:sp>
        <p:nvSpPr>
          <p:cNvPr id="7" name="Text 5"/>
          <p:cNvSpPr txBox="1"/>
          <p:nvPr/>
        </p:nvSpPr>
        <p:spPr>
          <a:xfrm>
            <a:off x="1463040" y="2377440"/>
            <a:ext cx="5120640" cy="365760"/>
          </a:xfrm>
          <a:prstGeom prst="rect">
            <a:avLst/>
          </a:prstGeom>
          <a:noFill/>
          <a:ln/>
        </p:spPr>
        <p:txBody>
          <a:bodyPr wrap="square" lIns="0" tIns="0" rIns="0" bIns="0" rtlCol="0" anchor="t"/>
          <a:lstStyle/>
          <a:p>
            <a:pPr indent="0" marL="0">
              <a:buNone/>
            </a:pPr>
            <a:r>
              <a:rPr lang="en-US" sz="2000" b="1" dirty="0">
                <a:solidFill>
                  <a:schemeClr val="tx1"/>
                </a:solidFill>
              </a:rPr>
              <a:t>Commit and push</a:t>
            </a:r>
            <a:endParaRPr lang="en-US" sz="2000" dirty="0"/>
          </a:p>
        </p:txBody>
      </p:sp>
      <p:sp>
        <p:nvSpPr>
          <p:cNvPr id="8" name="Text 6"/>
          <p:cNvSpPr txBox="1"/>
          <p:nvPr/>
        </p:nvSpPr>
        <p:spPr>
          <a:xfrm>
            <a:off x="1463040" y="2761488"/>
            <a:ext cx="5120640" cy="365760"/>
          </a:xfrm>
          <a:prstGeom prst="rect">
            <a:avLst/>
          </a:prstGeom>
          <a:noFill/>
          <a:ln/>
        </p:spPr>
        <p:txBody>
          <a:bodyPr wrap="square" lIns="0" tIns="0" rIns="0" bIns="0" rtlCol="0" anchor="t"/>
          <a:lstStyle/>
          <a:p>
            <a:pPr indent="0" marL="0">
              <a:buNone/>
            </a:pPr>
            <a:r>
              <a:rPr lang="en-US" sz="1500" dirty="0">
                <a:solidFill>
                  <a:schemeClr val="accent5"/>
                </a:solidFill>
              </a:rPr>
              <a:t>git commit, then git push to main</a:t>
            </a:r>
            <a:endParaRPr lang="en-US" sz="1500" dirty="0"/>
          </a:p>
        </p:txBody>
      </p:sp>
      <p:sp>
        <p:nvSpPr>
          <p:cNvPr id="9" name="Step number 3"/>
          <p:cNvSpPr/>
          <p:nvPr/>
        </p:nvSpPr>
        <p:spPr>
          <a:xfrm>
            <a:off x="548640" y="3383280"/>
            <a:ext cx="640080" cy="640080"/>
          </a:xfrm>
          <a:prstGeom prst="ellipse">
            <a:avLst/>
          </a:prstGeom>
          <a:solidFill>
            <a:schemeClr val="tx2"/>
          </a:solid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3</a:t>
            </a:r>
            <a:endParaRPr lang="en-US" sz="2200" dirty="0"/>
          </a:p>
        </p:txBody>
      </p:sp>
      <p:sp>
        <p:nvSpPr>
          <p:cNvPr id="10" name="Text 8"/>
          <p:cNvSpPr txBox="1"/>
          <p:nvPr/>
        </p:nvSpPr>
        <p:spPr>
          <a:xfrm>
            <a:off x="1463040" y="3337560"/>
            <a:ext cx="5120640" cy="365760"/>
          </a:xfrm>
          <a:prstGeom prst="rect">
            <a:avLst/>
          </a:prstGeom>
          <a:noFill/>
          <a:ln/>
        </p:spPr>
        <p:txBody>
          <a:bodyPr wrap="square" lIns="0" tIns="0" rIns="0" bIns="0" rtlCol="0" anchor="t"/>
          <a:lstStyle/>
          <a:p>
            <a:pPr indent="0" marL="0">
              <a:buNone/>
            </a:pPr>
            <a:r>
              <a:rPr lang="en-US" sz="2000" b="1" dirty="0">
                <a:solidFill>
                  <a:schemeClr val="tx1"/>
                </a:solidFill>
              </a:rPr>
              <a:t>The pipeline runs</a:t>
            </a:r>
            <a:endParaRPr lang="en-US" sz="2000" dirty="0"/>
          </a:p>
        </p:txBody>
      </p:sp>
      <p:sp>
        <p:nvSpPr>
          <p:cNvPr id="11" name="Text 9"/>
          <p:cNvSpPr txBox="1"/>
          <p:nvPr/>
        </p:nvSpPr>
        <p:spPr>
          <a:xfrm>
            <a:off x="1463040" y="3721608"/>
            <a:ext cx="5120640" cy="365760"/>
          </a:xfrm>
          <a:prstGeom prst="rect">
            <a:avLst/>
          </a:prstGeom>
          <a:noFill/>
          <a:ln/>
        </p:spPr>
        <p:txBody>
          <a:bodyPr wrap="square" lIns="0" tIns="0" rIns="0" bIns="0" rtlCol="0" anchor="t"/>
          <a:lstStyle/>
          <a:p>
            <a:pPr indent="0" marL="0">
              <a:buNone/>
            </a:pPr>
            <a:r>
              <a:rPr lang="en-US" sz="1500" dirty="0">
                <a:solidFill>
                  <a:schemeClr val="accent5"/>
                </a:solidFill>
              </a:rPr>
              <a:t>test, frontend build, images, Trivy, push to GHCR</a:t>
            </a:r>
            <a:endParaRPr lang="en-US" sz="1500" dirty="0"/>
          </a:p>
        </p:txBody>
      </p:sp>
      <p:sp>
        <p:nvSpPr>
          <p:cNvPr id="12" name="Step number 4"/>
          <p:cNvSpPr/>
          <p:nvPr/>
        </p:nvSpPr>
        <p:spPr>
          <a:xfrm>
            <a:off x="548640" y="4343400"/>
            <a:ext cx="640080" cy="640080"/>
          </a:xfrm>
          <a:prstGeom prst="ellipse">
            <a:avLst/>
          </a:prstGeom>
          <a:solidFill>
            <a:schemeClr val="tx2"/>
          </a:solid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4</a:t>
            </a:r>
            <a:endParaRPr lang="en-US" sz="2200" dirty="0"/>
          </a:p>
        </p:txBody>
      </p:sp>
      <p:sp>
        <p:nvSpPr>
          <p:cNvPr id="13" name="Text 11"/>
          <p:cNvSpPr txBox="1"/>
          <p:nvPr/>
        </p:nvSpPr>
        <p:spPr>
          <a:xfrm>
            <a:off x="1463040" y="4297680"/>
            <a:ext cx="5120640" cy="365760"/>
          </a:xfrm>
          <a:prstGeom prst="rect">
            <a:avLst/>
          </a:prstGeom>
          <a:noFill/>
          <a:ln/>
        </p:spPr>
        <p:txBody>
          <a:bodyPr wrap="square" lIns="0" tIns="0" rIns="0" bIns="0" rtlCol="0" anchor="t"/>
          <a:lstStyle/>
          <a:p>
            <a:pPr indent="0" marL="0">
              <a:buNone/>
            </a:pPr>
            <a:r>
              <a:rPr lang="en-US" sz="2000" b="1" dirty="0">
                <a:solidFill>
                  <a:schemeClr val="tx1"/>
                </a:solidFill>
              </a:rPr>
              <a:t>The deploy job runs</a:t>
            </a:r>
            <a:endParaRPr lang="en-US" sz="2000" dirty="0"/>
          </a:p>
        </p:txBody>
      </p:sp>
      <p:sp>
        <p:nvSpPr>
          <p:cNvPr id="14" name="Text 12"/>
          <p:cNvSpPr txBox="1"/>
          <p:nvPr/>
        </p:nvSpPr>
        <p:spPr>
          <a:xfrm>
            <a:off x="1463040" y="4681728"/>
            <a:ext cx="5120640" cy="365760"/>
          </a:xfrm>
          <a:prstGeom prst="rect">
            <a:avLst/>
          </a:prstGeom>
          <a:noFill/>
          <a:ln/>
        </p:spPr>
        <p:txBody>
          <a:bodyPr wrap="square" lIns="0" tIns="0" rIns="0" bIns="0" rtlCol="0" anchor="t"/>
          <a:lstStyle/>
          <a:p>
            <a:pPr indent="0" marL="0">
              <a:buNone/>
            </a:pPr>
            <a:r>
              <a:rPr lang="en-US" sz="1500" dirty="0">
                <a:solidFill>
                  <a:schemeClr val="accent5"/>
                </a:solidFill>
              </a:rPr>
              <a:t>scripts/deploy.sh &lt;SHA&gt;, a helm upgrade on my laptop</a:t>
            </a:r>
            <a:endParaRPr lang="en-US" sz="1500" dirty="0"/>
          </a:p>
        </p:txBody>
      </p:sp>
      <p:sp>
        <p:nvSpPr>
          <p:cNvPr id="15" name="Step number 5"/>
          <p:cNvSpPr/>
          <p:nvPr/>
        </p:nvSpPr>
        <p:spPr>
          <a:xfrm>
            <a:off x="548640" y="5303520"/>
            <a:ext cx="640080" cy="640080"/>
          </a:xfrm>
          <a:prstGeom prst="ellipse">
            <a:avLst/>
          </a:prstGeom>
          <a:solidFill>
            <a:schemeClr val="tx2"/>
          </a:solid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5</a:t>
            </a:r>
            <a:endParaRPr lang="en-US" sz="2200" dirty="0"/>
          </a:p>
        </p:txBody>
      </p:sp>
      <p:sp>
        <p:nvSpPr>
          <p:cNvPr id="16" name="Text 14"/>
          <p:cNvSpPr txBox="1"/>
          <p:nvPr/>
        </p:nvSpPr>
        <p:spPr>
          <a:xfrm>
            <a:off x="1463040" y="5257800"/>
            <a:ext cx="5120640" cy="365760"/>
          </a:xfrm>
          <a:prstGeom prst="rect">
            <a:avLst/>
          </a:prstGeom>
          <a:noFill/>
          <a:ln/>
        </p:spPr>
        <p:txBody>
          <a:bodyPr wrap="square" lIns="0" tIns="0" rIns="0" bIns="0" rtlCol="0" anchor="t"/>
          <a:lstStyle/>
          <a:p>
            <a:pPr indent="0" marL="0">
              <a:buNone/>
            </a:pPr>
            <a:r>
              <a:rPr lang="en-US" sz="2000" b="1" dirty="0">
                <a:solidFill>
                  <a:schemeClr val="tx1"/>
                </a:solidFill>
              </a:rPr>
              <a:t>Refresh the browser</a:t>
            </a:r>
            <a:endParaRPr lang="en-US" sz="2000" dirty="0"/>
          </a:p>
        </p:txBody>
      </p:sp>
      <p:sp>
        <p:nvSpPr>
          <p:cNvPr id="17" name="Text 15"/>
          <p:cNvSpPr txBox="1"/>
          <p:nvPr/>
        </p:nvSpPr>
        <p:spPr>
          <a:xfrm>
            <a:off x="1463040" y="5641848"/>
            <a:ext cx="5120640" cy="365760"/>
          </a:xfrm>
          <a:prstGeom prst="rect">
            <a:avLst/>
          </a:prstGeom>
          <a:noFill/>
          <a:ln/>
        </p:spPr>
        <p:txBody>
          <a:bodyPr wrap="square" lIns="0" tIns="0" rIns="0" bIns="0" rtlCol="0" anchor="t"/>
          <a:lstStyle/>
          <a:p>
            <a:pPr indent="0" marL="0">
              <a:buNone/>
            </a:pPr>
            <a:r>
              <a:rPr lang="en-US" sz="1500" dirty="0">
                <a:solidFill>
                  <a:schemeClr val="accent5"/>
                </a:solidFill>
              </a:rPr>
              <a:t>placetrack.local:8080 shows the new subtitle</a:t>
            </a:r>
            <a:endParaRPr lang="en-US" sz="1500" dirty="0"/>
          </a:p>
        </p:txBody>
      </p:sp>
      <p:sp>
        <p:nvSpPr>
          <p:cNvPr id="18" name="Text 16"/>
          <p:cNvSpPr txBox="1"/>
          <p:nvPr/>
        </p:nvSpPr>
        <p:spPr>
          <a:xfrm>
            <a:off x="7086600" y="1371600"/>
            <a:ext cx="365760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START FROM HERE</a:t>
            </a:r>
            <a:endParaRPr lang="en-US" sz="1200" dirty="0"/>
          </a:p>
        </p:txBody>
      </p:sp>
      <p:sp>
        <p:nvSpPr>
          <p:cNvPr id="19" name="Frame app-top"/>
          <p:cNvSpPr/>
          <p:nvPr/>
        </p:nvSpPr>
        <p:spPr>
          <a:xfrm>
            <a:off x="7031736" y="1636776"/>
            <a:ext cx="4663440" cy="1112177"/>
          </a:xfrm>
          <a:prstGeom prst="roundRect">
            <a:avLst>
              <a:gd name="adj" fmla="val 7400"/>
            </a:avLst>
          </a:prstGeom>
          <a:solidFill>
            <a:srgbClr val="FFFFFF"/>
          </a:solidFill>
          <a:ln w="9525">
            <a:solidFill>
              <a:srgbClr val="C9D6D0"/>
            </a:solidFill>
            <a:prstDash val="solid"/>
          </a:ln>
          <a:effectLst>
            <a:outerShdw sx="100000" sy="100000" kx="0" ky="0" algn="bl" rotWithShape="0" blurRad="114300" dist="25400" dir="5400000">
              <a:srgbClr val="000000">
                <a:alpha val="20000"/>
              </a:srgbClr>
            </a:outerShdw>
          </a:effectLst>
        </p:spPr>
      </p:sp>
      <p:pic>
        <p:nvPicPr>
          <p:cNvPr id="20" name="Screenshot app-top" descr="The app at placetrack.local:8080 with the subtitle under the heading">    </p:cNvPr>
          <p:cNvPicPr>
            <a:picLocks noChangeAspect="1"/>
          </p:cNvPicPr>
          <p:nvPr/>
        </p:nvPicPr>
        <p:blipFill>
          <a:blip r:embed="rId1"/>
          <a:stretch>
            <a:fillRect/>
          </a:stretch>
        </p:blipFill>
        <p:spPr>
          <a:xfrm>
            <a:off x="7086600" y="1691640"/>
            <a:ext cx="4553712" cy="1002449"/>
          </a:xfrm>
          <a:prstGeom prst="rect">
            <a:avLst/>
          </a:prstGeom>
        </p:spPr>
      </p:pic>
      <p:sp>
        <p:nvSpPr>
          <p:cNvPr id="21" name="Text 18"/>
          <p:cNvSpPr txBox="1"/>
          <p:nvPr/>
        </p:nvSpPr>
        <p:spPr>
          <a:xfrm>
            <a:off x="7086600" y="3105569"/>
            <a:ext cx="365760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WATCH THE PIPELINE</a:t>
            </a:r>
            <a:endParaRPr lang="en-US" sz="1200" dirty="0"/>
          </a:p>
        </p:txBody>
      </p:sp>
      <p:sp>
        <p:nvSpPr>
          <p:cNvPr id="22" name="Text 19"/>
          <p:cNvSpPr txBox="1"/>
          <p:nvPr/>
        </p:nvSpPr>
        <p:spPr>
          <a:xfrm>
            <a:off x="7086600" y="3425609"/>
            <a:ext cx="4553712" cy="320040"/>
          </a:xfrm>
          <a:prstGeom prst="rect">
            <a:avLst/>
          </a:prstGeom>
          <a:noFill/>
          <a:ln/>
        </p:spPr>
        <p:txBody>
          <a:bodyPr wrap="square" lIns="0" tIns="0" rIns="0" bIns="0" rtlCol="0" anchor="t"/>
          <a:lstStyle/>
          <a:p>
            <a:pPr indent="0" marL="0">
              <a:buNone/>
            </a:pPr>
            <a:r>
              <a:rPr lang="en-US" sz="1600" dirty="0">
                <a:solidFill>
                  <a:schemeClr val="tx1"/>
                </a:solidFill>
              </a:rPr>
              <a:t>GitHub, Actions tab, workflow CI/CD</a:t>
            </a:r>
            <a:endParaRPr lang="en-US" sz="1600" dirty="0"/>
          </a:p>
        </p:txBody>
      </p:sp>
      <p:sp>
        <p:nvSpPr>
          <p:cNvPr id="23" name="Text 20"/>
          <p:cNvSpPr txBox="1"/>
          <p:nvPr/>
        </p:nvSpPr>
        <p:spPr>
          <a:xfrm>
            <a:off x="7086600" y="4111409"/>
            <a:ext cx="365760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WATCH THE ROLLOUT</a:t>
            </a:r>
            <a:endParaRPr lang="en-US" sz="1200" dirty="0"/>
          </a:p>
        </p:txBody>
      </p:sp>
      <p:sp>
        <p:nvSpPr>
          <p:cNvPr id="24" name="Rollout commands"/>
          <p:cNvSpPr/>
          <p:nvPr/>
        </p:nvSpPr>
        <p:spPr>
          <a:xfrm>
            <a:off x="7086600" y="4431449"/>
            <a:ext cx="4553712" cy="1097280"/>
          </a:xfrm>
          <a:prstGeom prst="roundRect">
            <a:avLst>
              <a:gd name="adj" fmla="val 8333"/>
            </a:avLst>
          </a:prstGeom>
          <a:solidFill>
            <a:srgbClr val="16211F"/>
          </a:solidFill>
          <a:ln/>
        </p:spPr>
      </p:sp>
      <p:sp>
        <p:nvSpPr>
          <p:cNvPr id="25" name="Text 22"/>
          <p:cNvSpPr txBox="1"/>
          <p:nvPr/>
        </p:nvSpPr>
        <p:spPr>
          <a:xfrm>
            <a:off x="7269480" y="4504601"/>
            <a:ext cx="4187952" cy="950976"/>
          </a:xfrm>
          <a:prstGeom prst="rect">
            <a:avLst/>
          </a:prstGeom>
          <a:noFill/>
          <a:ln/>
        </p:spPr>
        <p:txBody>
          <a:bodyPr wrap="square" lIns="0" tIns="0" rIns="0" bIns="0" rtlCol="0" anchor="ctr"/>
          <a:lstStyle/>
          <a:p>
            <a:pPr indent="0" marL="0">
              <a:spcAft>
                <a:spcPts val="600"/>
              </a:spcAft>
              <a:buNone/>
            </a:pPr>
            <a:r>
              <a:rPr lang="en-US" sz="1250" dirty="0">
                <a:solidFill>
                  <a:schemeClr val="bg1"/>
                </a:solidFill>
                <a:latin typeface="Courier New" pitchFamily="34" charset="0"/>
                <a:ea typeface="Courier New" pitchFamily="34" charset="-122"/>
                <a:cs typeface="Courier New" pitchFamily="34" charset="-120"/>
              </a:rPr>
              <a:t>kubectl -n placetrack get pods -w</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kubectl -n placetrack rollout status deploy/placetrack-backend</a:t>
            </a:r>
            <a:endParaRPr lang="en-US" sz="1250" dirty="0"/>
          </a:p>
        </p:txBody>
      </p:sp>
      <p:sp>
        <p:nvSpPr>
          <p:cNvPr id="25" name="Slide Number Placeholder 0"/>
          <p:cNvSpPr>
            <a:spLocks noGrp="1"/>
          </p:cNvSpPr>
          <p:nvPr>
            <p:ph type="sldNum" sz="quarter" idx="4294967295"/>
          </p:nvPr>
        </p:nvSpPr>
        <p:spPr>
          <a:xfrm>
            <a:off x="11000232" y="6428232"/>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E6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What I learned</a:t>
            </a:r>
            <a:endParaRPr lang="en-US" sz="3400" dirty="0"/>
          </a:p>
        </p:txBody>
      </p:sp>
      <p:sp>
        <p:nvSpPr>
          <p:cNvPr id="3" name="Learned card 1"/>
          <p:cNvSpPr/>
          <p:nvPr/>
        </p:nvSpPr>
        <p:spPr>
          <a:xfrm>
            <a:off x="548640" y="1371600"/>
            <a:ext cx="5440680" cy="1737360"/>
          </a:xfrm>
          <a:prstGeom prst="roundRect">
            <a:avLst>
              <a:gd name="adj" fmla="val 5263"/>
            </a:avLst>
          </a:prstGeom>
          <a:solidFill>
            <a:schemeClr val="tx2"/>
          </a:solidFill>
          <a:ln/>
        </p:spPr>
      </p:sp>
      <p:sp>
        <p:nvSpPr>
          <p:cNvPr id="4" name="Text 2"/>
          <p:cNvSpPr txBox="1"/>
          <p:nvPr/>
        </p:nvSpPr>
        <p:spPr>
          <a:xfrm>
            <a:off x="822960" y="1554480"/>
            <a:ext cx="4892040" cy="365760"/>
          </a:xfrm>
          <a:prstGeom prst="rect">
            <a:avLst/>
          </a:prstGeom>
          <a:noFill/>
          <a:ln/>
        </p:spPr>
        <p:txBody>
          <a:bodyPr wrap="square" lIns="0" tIns="0" rIns="0" bIns="0" rtlCol="0" anchor="t"/>
          <a:lstStyle/>
          <a:p>
            <a:pPr indent="0" marL="0">
              <a:buNone/>
            </a:pPr>
            <a:r>
              <a:rPr lang="en-US" sz="2000" b="1" dirty="0">
                <a:solidFill>
                  <a:schemeClr val="accent2"/>
                </a:solidFill>
                <a:latin typeface="+mj-lt" pitchFamily="34" charset="0"/>
                <a:ea typeface="+mj-lt" pitchFamily="34" charset="-122"/>
                <a:cs typeface="+mj-lt" pitchFamily="34" charset="-120"/>
              </a:rPr>
              <a:t>Passing is not safe</a:t>
            </a:r>
            <a:endParaRPr lang="en-US" sz="2000" dirty="0"/>
          </a:p>
        </p:txBody>
      </p:sp>
      <p:sp>
        <p:nvSpPr>
          <p:cNvPr id="5" name="Text 3"/>
          <p:cNvSpPr txBox="1"/>
          <p:nvPr/>
        </p:nvSpPr>
        <p:spPr>
          <a:xfrm>
            <a:off x="822960" y="2029968"/>
            <a:ext cx="4892040" cy="960120"/>
          </a:xfrm>
          <a:prstGeom prst="rect">
            <a:avLst/>
          </a:prstGeom>
          <a:noFill/>
          <a:ln/>
        </p:spPr>
        <p:txBody>
          <a:bodyPr wrap="square" lIns="0" tIns="0" rIns="0" bIns="0" rtlCol="0" anchor="t"/>
          <a:lstStyle/>
          <a:p>
            <a:pPr indent="0" marL="0">
              <a:buNone/>
            </a:pPr>
            <a:r>
              <a:rPr lang="en-US" sz="1700" dirty="0">
                <a:solidFill>
                  <a:schemeClr val="bg1"/>
                </a:solidFill>
              </a:rPr>
              <a:t>Trivy failed my first images even though every test passed.</a:t>
            </a:r>
            <a:endParaRPr lang="en-US" sz="1700" dirty="0"/>
          </a:p>
        </p:txBody>
      </p:sp>
      <p:sp>
        <p:nvSpPr>
          <p:cNvPr id="6" name="Learned card 2"/>
          <p:cNvSpPr/>
          <p:nvPr/>
        </p:nvSpPr>
        <p:spPr>
          <a:xfrm>
            <a:off x="6199632" y="1371600"/>
            <a:ext cx="5440680" cy="1737360"/>
          </a:xfrm>
          <a:prstGeom prst="roundRect">
            <a:avLst>
              <a:gd name="adj" fmla="val 5263"/>
            </a:avLst>
          </a:prstGeom>
          <a:solidFill>
            <a:schemeClr val="tx2"/>
          </a:solidFill>
          <a:ln/>
        </p:spPr>
      </p:sp>
      <p:sp>
        <p:nvSpPr>
          <p:cNvPr id="7" name="Text 5"/>
          <p:cNvSpPr txBox="1"/>
          <p:nvPr/>
        </p:nvSpPr>
        <p:spPr>
          <a:xfrm>
            <a:off x="6473952" y="1554480"/>
            <a:ext cx="4892040" cy="365760"/>
          </a:xfrm>
          <a:prstGeom prst="rect">
            <a:avLst/>
          </a:prstGeom>
          <a:noFill/>
          <a:ln/>
        </p:spPr>
        <p:txBody>
          <a:bodyPr wrap="square" lIns="0" tIns="0" rIns="0" bIns="0" rtlCol="0" anchor="t"/>
          <a:lstStyle/>
          <a:p>
            <a:pPr indent="0" marL="0">
              <a:buNone/>
            </a:pPr>
            <a:r>
              <a:rPr lang="en-US" sz="2000" b="1" dirty="0">
                <a:solidFill>
                  <a:schemeClr val="accent2"/>
                </a:solidFill>
                <a:latin typeface="+mj-lt" pitchFamily="34" charset="0"/>
                <a:ea typeface="+mj-lt" pitchFamily="34" charset="-122"/>
                <a:cs typeface="+mj-lt" pitchFamily="34" charset="-120"/>
              </a:rPr>
              <a:t>nginx and DNS</a:t>
            </a:r>
            <a:endParaRPr lang="en-US" sz="2000" dirty="0"/>
          </a:p>
        </p:txBody>
      </p:sp>
      <p:sp>
        <p:nvSpPr>
          <p:cNvPr id="8" name="Text 6"/>
          <p:cNvSpPr txBox="1"/>
          <p:nvPr/>
        </p:nvSpPr>
        <p:spPr>
          <a:xfrm>
            <a:off x="6473952" y="2029968"/>
            <a:ext cx="4892040" cy="960120"/>
          </a:xfrm>
          <a:prstGeom prst="rect">
            <a:avLst/>
          </a:prstGeom>
          <a:noFill/>
          <a:ln/>
        </p:spPr>
        <p:txBody>
          <a:bodyPr wrap="square" lIns="0" tIns="0" rIns="0" bIns="0" rtlCol="0" anchor="t"/>
          <a:lstStyle/>
          <a:p>
            <a:pPr indent="0" marL="0">
              <a:buNone/>
            </a:pPr>
            <a:r>
              <a:rPr lang="en-US" sz="1700" dirty="0">
                <a:solidFill>
                  <a:schemeClr val="bg1"/>
                </a:solidFill>
              </a:rPr>
              <a:t>nginx looks up the backend name once and ignores the Kubernetes search domains. I got a 502 until I used the full service name.</a:t>
            </a:r>
            <a:endParaRPr lang="en-US" sz="1700" dirty="0"/>
          </a:p>
        </p:txBody>
      </p:sp>
      <p:sp>
        <p:nvSpPr>
          <p:cNvPr id="9" name="Learned card 3"/>
          <p:cNvSpPr/>
          <p:nvPr/>
        </p:nvSpPr>
        <p:spPr>
          <a:xfrm>
            <a:off x="548640" y="3319272"/>
            <a:ext cx="5440680" cy="1737360"/>
          </a:xfrm>
          <a:prstGeom prst="roundRect">
            <a:avLst>
              <a:gd name="adj" fmla="val 5263"/>
            </a:avLst>
          </a:prstGeom>
          <a:solidFill>
            <a:schemeClr val="tx2"/>
          </a:solidFill>
          <a:ln/>
        </p:spPr>
      </p:sp>
      <p:sp>
        <p:nvSpPr>
          <p:cNvPr id="10" name="Text 8"/>
          <p:cNvSpPr txBox="1"/>
          <p:nvPr/>
        </p:nvSpPr>
        <p:spPr>
          <a:xfrm>
            <a:off x="822960" y="3502152"/>
            <a:ext cx="4892040" cy="365760"/>
          </a:xfrm>
          <a:prstGeom prst="rect">
            <a:avLst/>
          </a:prstGeom>
          <a:noFill/>
          <a:ln/>
        </p:spPr>
        <p:txBody>
          <a:bodyPr wrap="square" lIns="0" tIns="0" rIns="0" bIns="0" rtlCol="0" anchor="t"/>
          <a:lstStyle/>
          <a:p>
            <a:pPr indent="0" marL="0">
              <a:buNone/>
            </a:pPr>
            <a:r>
              <a:rPr lang="en-US" sz="2000" b="1" dirty="0">
                <a:solidFill>
                  <a:schemeClr val="accent2"/>
                </a:solidFill>
                <a:latin typeface="+mj-lt" pitchFamily="34" charset="0"/>
                <a:ea typeface="+mj-lt" pitchFamily="34" charset="-122"/>
                <a:cs typeface="+mj-lt" pitchFamily="34" charset="-120"/>
              </a:rPr>
              <a:t>Running is not Ready</a:t>
            </a:r>
            <a:endParaRPr lang="en-US" sz="2000" dirty="0"/>
          </a:p>
        </p:txBody>
      </p:sp>
      <p:sp>
        <p:nvSpPr>
          <p:cNvPr id="11" name="Text 9"/>
          <p:cNvSpPr txBox="1"/>
          <p:nvPr/>
        </p:nvSpPr>
        <p:spPr>
          <a:xfrm>
            <a:off x="822960" y="3977640"/>
            <a:ext cx="4892040" cy="960120"/>
          </a:xfrm>
          <a:prstGeom prst="rect">
            <a:avLst/>
          </a:prstGeom>
          <a:noFill/>
          <a:ln/>
        </p:spPr>
        <p:txBody>
          <a:bodyPr wrap="square" lIns="0" tIns="0" rIns="0" bIns="0" rtlCol="0" anchor="t"/>
          <a:lstStyle/>
          <a:p>
            <a:pPr indent="0" marL="0">
              <a:buNone/>
            </a:pPr>
            <a:r>
              <a:rPr lang="en-US" sz="1700" dirty="0">
                <a:solidFill>
                  <a:schemeClr val="bg1"/>
                </a:solidFill>
              </a:rPr>
              <a:t>My backend pods stayed at 0/1 until they could reach Postgres, because /ready checks the database.</a:t>
            </a:r>
            <a:endParaRPr lang="en-US" sz="1700" dirty="0"/>
          </a:p>
        </p:txBody>
      </p:sp>
      <p:sp>
        <p:nvSpPr>
          <p:cNvPr id="12" name="Learned card 4"/>
          <p:cNvSpPr/>
          <p:nvPr/>
        </p:nvSpPr>
        <p:spPr>
          <a:xfrm>
            <a:off x="6199632" y="3319272"/>
            <a:ext cx="5440680" cy="1737360"/>
          </a:xfrm>
          <a:prstGeom prst="roundRect">
            <a:avLst>
              <a:gd name="adj" fmla="val 5263"/>
            </a:avLst>
          </a:prstGeom>
          <a:solidFill>
            <a:schemeClr val="tx2"/>
          </a:solidFill>
          <a:ln/>
        </p:spPr>
      </p:sp>
      <p:sp>
        <p:nvSpPr>
          <p:cNvPr id="13" name="Text 11"/>
          <p:cNvSpPr txBox="1"/>
          <p:nvPr/>
        </p:nvSpPr>
        <p:spPr>
          <a:xfrm>
            <a:off x="6473952" y="3502152"/>
            <a:ext cx="4892040" cy="365760"/>
          </a:xfrm>
          <a:prstGeom prst="rect">
            <a:avLst/>
          </a:prstGeom>
          <a:noFill/>
          <a:ln/>
        </p:spPr>
        <p:txBody>
          <a:bodyPr wrap="square" lIns="0" tIns="0" rIns="0" bIns="0" rtlCol="0" anchor="t"/>
          <a:lstStyle/>
          <a:p>
            <a:pPr indent="0" marL="0">
              <a:buNone/>
            </a:pPr>
            <a:r>
              <a:rPr lang="en-US" sz="2000" b="1" dirty="0">
                <a:solidFill>
                  <a:schemeClr val="accent2"/>
                </a:solidFill>
                <a:latin typeface="+mj-lt" pitchFamily="34" charset="0"/>
                <a:ea typeface="+mj-lt" pitchFamily="34" charset="-122"/>
                <a:cs typeface="+mj-lt" pitchFamily="34" charset="-120"/>
              </a:rPr>
              <a:t>Secrets and volumes</a:t>
            </a:r>
            <a:endParaRPr lang="en-US" sz="2000" dirty="0"/>
          </a:p>
        </p:txBody>
      </p:sp>
      <p:sp>
        <p:nvSpPr>
          <p:cNvPr id="14" name="Text 12"/>
          <p:cNvSpPr txBox="1"/>
          <p:nvPr/>
        </p:nvSpPr>
        <p:spPr>
          <a:xfrm>
            <a:off x="6473952" y="3977640"/>
            <a:ext cx="4892040" cy="960120"/>
          </a:xfrm>
          <a:prstGeom prst="rect">
            <a:avLst/>
          </a:prstGeom>
          <a:noFill/>
          <a:ln/>
        </p:spPr>
        <p:txBody>
          <a:bodyPr wrap="square" lIns="0" tIns="0" rIns="0" bIns="0" rtlCol="0" anchor="t"/>
          <a:lstStyle/>
          <a:p>
            <a:pPr indent="0" marL="0">
              <a:buNone/>
            </a:pPr>
            <a:r>
              <a:rPr lang="en-US" sz="1700" dirty="0">
                <a:solidFill>
                  <a:schemeClr val="bg1"/>
                </a:solidFill>
              </a:rPr>
              <a:t>The database Secret has to survive helm uninstall, because the volume keeps the old password. Cluster passwords are generated at install, never committed.</a:t>
            </a:r>
            <a:endParaRPr lang="en-US" sz="1700" dirty="0"/>
          </a:p>
        </p:txBody>
      </p:sp>
      <p:sp>
        <p:nvSpPr>
          <p:cNvPr id="15" name="Text 13"/>
          <p:cNvSpPr txBox="1"/>
          <p:nvPr/>
        </p:nvSpPr>
        <p:spPr>
          <a:xfrm>
            <a:off x="548640" y="5440680"/>
            <a:ext cx="4206240" cy="731520"/>
          </a:xfrm>
          <a:prstGeom prst="rect">
            <a:avLst/>
          </a:prstGeom>
          <a:noFill/>
          <a:ln/>
        </p:spPr>
        <p:txBody>
          <a:bodyPr wrap="square" lIns="0" tIns="0" rIns="0" bIns="0" rtlCol="0" anchor="ctr"/>
          <a:lstStyle/>
          <a:p>
            <a:pPr indent="0" marL="0">
              <a:buNone/>
            </a:pPr>
            <a:r>
              <a:rPr lang="en-US" sz="4000" b="1" dirty="0">
                <a:solidFill>
                  <a:schemeClr val="bg1"/>
                </a:solidFill>
                <a:latin typeface="+mj-lt" pitchFamily="34" charset="0"/>
                <a:ea typeface="+mj-lt" pitchFamily="34" charset="-122"/>
                <a:cs typeface="+mj-lt" pitchFamily="34" charset="-120"/>
              </a:rPr>
              <a:t>Thank you</a:t>
            </a:r>
            <a:endParaRPr lang="en-US" sz="4000" dirty="0"/>
          </a:p>
        </p:txBody>
      </p:sp>
      <p:sp>
        <p:nvSpPr>
          <p:cNvPr id="16" name="Text 14"/>
          <p:cNvSpPr txBox="1"/>
          <p:nvPr/>
        </p:nvSpPr>
        <p:spPr>
          <a:xfrm>
            <a:off x="4937760" y="5486400"/>
            <a:ext cx="6702552" cy="731520"/>
          </a:xfrm>
          <a:prstGeom prst="rect">
            <a:avLst/>
          </a:prstGeom>
          <a:noFill/>
          <a:ln/>
        </p:spPr>
        <p:txBody>
          <a:bodyPr wrap="square" lIns="0" tIns="0" rIns="0" bIns="0" rtlCol="0" anchor="ctr"/>
          <a:lstStyle/>
          <a:p>
            <a:pPr algn="r" indent="0" marL="0">
              <a:spcAft>
                <a:spcPts val="300"/>
              </a:spcAft>
              <a:buNone/>
            </a:pPr>
            <a:r>
              <a:rPr lang="en-US" sz="1600" b="1" dirty="0">
                <a:solidFill>
                  <a:schemeClr val="bg2"/>
                </a:solidFill>
              </a:rPr>
              <a:t>Raghavendra | 24BCS10250</a:t>
            </a:r>
            <a:endParaRPr lang="en-US" sz="1600" dirty="0"/>
          </a:p>
          <a:p>
            <a:pPr algn="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github.com/Raghavendra1729-cell/placetrack-devops-capstone</a:t>
            </a:r>
            <a:endParaRPr lang="en-US" sz="1600" dirty="0"/>
          </a:p>
        </p:txBody>
      </p:sp>
    </p:spTree>
  </p:cSld>
  <p:clrMapOvr>
    <a:masterClrMapping/>
  </p:clrMapOvr>
</p:sld>
</file>

<file path=ppt/theme/theme1.xml><?xml version="1.0" encoding="utf-8"?>
<a:theme xmlns:a="http://schemas.openxmlformats.org/drawingml/2006/main" name="PlaceTrack">
  <a:themeElements>
    <a:clrScheme name="PlaceTrack">
      <a:dk1>
        <a:srgbClr val="16211F"/>
      </a:dk1>
      <a:lt1>
        <a:srgbClr val="FFFFFF"/>
      </a:lt1>
      <a:dk2>
        <a:srgbClr val="1F4D45"/>
      </a:dk2>
      <a:lt2>
        <a:srgbClr val="EDF3EF"/>
      </a:lt2>
      <a:accent1>
        <a:srgbClr val="2A6B5F"/>
      </a:accent1>
      <a:accent2>
        <a:srgbClr val="E8A33D"/>
      </a:accent2>
      <a:accent3>
        <a:srgbClr val="B5472F"/>
      </a:accent3>
      <a:accent4>
        <a:srgbClr val="3C8D63"/>
      </a:accent4>
      <a:accent5>
        <a:srgbClr val="556E68"/>
      </a:accent5>
      <a:accent6>
        <a:srgbClr val="C9D6D0"/>
      </a:accent6>
      <a:hlink>
        <a:srgbClr val="2A6B5F"/>
      </a:hlink>
      <a:folHlink>
        <a:srgbClr val="556E68"/>
      </a:folHlink>
    </a:clrScheme>
    <a:fontScheme name="PlaceTra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PlaceTrack DevOps Capstone</dc:title>
  <dc:subject>DevOps Final Capstone</dc:subject>
  <dc:creator>Raghavendra</dc:creator>
  <cp:lastModifiedBy>Raghavendra</cp:lastModifiedBy>
  <cp:revision>1</cp:revision>
  <dcterms:created xsi:type="dcterms:W3CDTF">2026-10-16T14:57:16Z</dcterms:created>
  <dcterms:modified xsi:type="dcterms:W3CDTF">2026-10-16T14:57:16Z</dcterms:modified>
</cp:coreProperties>
</file>